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7" r:id="rId5"/>
    <p:sldId id="266" r:id="rId6"/>
    <p:sldId id="268" r:id="rId7"/>
    <p:sldId id="271"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902"/>
    <a:srgbClr val="C0392B"/>
    <a:srgbClr val="E7E7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9"/>
    <p:restoredTop sz="56022"/>
  </p:normalViewPr>
  <p:slideViewPr>
    <p:cSldViewPr snapToGrid="0" snapToObjects="1">
      <p:cViewPr varScale="1">
        <p:scale>
          <a:sx n="76" d="100"/>
          <a:sy n="76" d="100"/>
        </p:scale>
        <p:origin x="216"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5668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私たち</a:t>
            </a:r>
            <a:r>
              <a:rPr lang="ja-JP" altLang="en-US"/>
              <a:t>の</a:t>
            </a:r>
            <a:r>
              <a:rPr dirty="0"/>
              <a:t>中間報告として、SO-101というロボットアームを動かせる状態にするまでの工程について発表します。</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まず、こ</a:t>
            </a:r>
            <a:r>
              <a:rPr lang="ja-JP" altLang="en-US"/>
              <a:t>れ</a:t>
            </a:r>
            <a:r>
              <a:rPr dirty="0" err="1"/>
              <a:t>までの流れです</a:t>
            </a:r>
            <a:r>
              <a:rPr dirty="0"/>
              <a:t>。</a:t>
            </a:r>
          </a:p>
          <a:p>
            <a:endParaRPr dirty="0"/>
          </a:p>
          <a:p>
            <a:r>
              <a:rPr dirty="0"/>
              <a:t>第5回から</a:t>
            </a:r>
            <a:r>
              <a:rPr lang="ja-JP" altLang="en-US"/>
              <a:t>ロボットアーム開発に</a:t>
            </a:r>
            <a:r>
              <a:rPr dirty="0" err="1"/>
              <a:t>着手し</a:t>
            </a:r>
            <a:r>
              <a:rPr lang="ja-JP" altLang="en-US"/>
              <a:t>部品の</a:t>
            </a:r>
            <a:r>
              <a:rPr lang="en-US" altLang="ja-JP" dirty="0"/>
              <a:t>3</a:t>
            </a:r>
            <a:r>
              <a:rPr lang="en-US" dirty="0"/>
              <a:t>D</a:t>
            </a:r>
            <a:r>
              <a:rPr lang="ja-JP" altLang="en-US"/>
              <a:t>プリントと、モーターの設定を並行して行いました．</a:t>
            </a:r>
            <a:endParaRPr lang="en-US" altLang="ja-JP" dirty="0"/>
          </a:p>
          <a:p>
            <a:endParaRPr lang="en-US" dirty="0"/>
          </a:p>
          <a:p>
            <a:r>
              <a:rPr dirty="0"/>
              <a:t>第6回の10月6日にアームを組み上げ、同じ日にキャリブレーションまで実施しました。</a:t>
            </a:r>
          </a:p>
          <a:p>
            <a:endParaRPr dirty="0"/>
          </a:p>
          <a:p>
            <a:r>
              <a:rPr dirty="0"/>
              <a:t>第7回・第8回で学習のフェーズに入り、カメラ1つの構成と2つの構成でそれぞれ学習を行っています。</a:t>
            </a:r>
          </a:p>
          <a:p>
            <a:endParaRPr dirty="0"/>
          </a:p>
          <a:p>
            <a:r>
              <a:rPr dirty="0"/>
              <a:t>そして第9回の10月13日に、条件を変えて作ったモデルを比較しました。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まず</a:t>
            </a:r>
            <a:r>
              <a:rPr dirty="0"/>
              <a:t>3Dプリントについてです。</a:t>
            </a:r>
          </a:p>
          <a:p>
            <a:endParaRPr dirty="0"/>
          </a:p>
          <a:p>
            <a:r>
              <a:rPr dirty="0" err="1"/>
              <a:t>流れ</a:t>
            </a:r>
            <a:r>
              <a:rPr lang="ja-JP" altLang="en-US"/>
              <a:t>は</a:t>
            </a:r>
            <a:r>
              <a:rPr dirty="0"/>
              <a:t>4ステップで、パーツのモデルであるSTLを入手し、スライサーで配置して印刷し、組み立て前にバリを取ります。</a:t>
            </a:r>
          </a:p>
          <a:p>
            <a:endParaRPr dirty="0"/>
          </a:p>
          <a:p>
            <a:r>
              <a:rPr lang="ja-JP" altLang="en-US"/>
              <a:t>まずお伝えしたいのが、印刷に</a:t>
            </a:r>
            <a:r>
              <a:rPr dirty="0" err="1"/>
              <a:t>かかった時間です</a:t>
            </a:r>
            <a:r>
              <a:rPr dirty="0"/>
              <a:t>。</a:t>
            </a:r>
          </a:p>
          <a:p>
            <a:r>
              <a:rPr dirty="0" err="1"/>
              <a:t>これが想像以上にかかりました</a:t>
            </a:r>
            <a:r>
              <a:rPr dirty="0"/>
              <a:t>。</a:t>
            </a:r>
          </a:p>
          <a:p>
            <a:endParaRPr dirty="0"/>
          </a:p>
          <a:p>
            <a:r>
              <a:rPr dirty="0" err="1"/>
              <a:t>Bambuのライブラリ</a:t>
            </a:r>
            <a:r>
              <a:rPr lang="ja-JP" altLang="en-US"/>
              <a:t>のモデル</a:t>
            </a:r>
            <a:r>
              <a:rPr dirty="0"/>
              <a:t>は、共通部品のプレートが1枚およそ9時間でこれを2枚、フォロワーとリーダーそれぞれのプレートが3時間半ほどで、合わせておよそ25時間。</a:t>
            </a:r>
          </a:p>
          <a:p>
            <a:r>
              <a:rPr dirty="0"/>
              <a:t>公式のモデルは1プレートおよそ16時間で2枚、合わせておよそ32時間でした。</a:t>
            </a:r>
          </a:p>
          <a:p>
            <a:endParaRPr dirty="0"/>
          </a:p>
          <a:p>
            <a:r>
              <a:rPr dirty="0" err="1"/>
              <a:t>プリンタが動いているあいだは組み立てに進めないので、印刷はとにかく早く走らせ始めることが大事だと感じました</a:t>
            </a:r>
            <a:r>
              <a:rPr dirty="0"/>
              <a:t>。</a:t>
            </a:r>
          </a:p>
          <a:p>
            <a:endParaRPr dirty="0"/>
          </a:p>
          <a:p>
            <a:r>
              <a:rPr dirty="0" err="1"/>
              <a:t>次に、気をつけた点です</a:t>
            </a:r>
            <a:r>
              <a:rPr dirty="0"/>
              <a:t>。</a:t>
            </a:r>
          </a:p>
          <a:p>
            <a:r>
              <a:rPr dirty="0"/>
              <a:t>1つは、複数色の部品は一色ずつ印刷すること。</a:t>
            </a:r>
          </a:p>
          <a:p>
            <a:r>
              <a:rPr dirty="0"/>
              <a:t>もう1つは、組み立て前にバリをしっかり取ることです。</a:t>
            </a:r>
            <a:endParaRPr lang="en-US" dirty="0"/>
          </a:p>
          <a:p>
            <a:endParaRPr dirty="0"/>
          </a:p>
          <a:p>
            <a:endParaRPr dirty="0"/>
          </a:p>
          <a:p>
            <a:r>
              <a:rPr lang="ja-JP" altLang="en-US"/>
              <a:t>また，</a:t>
            </a:r>
            <a:r>
              <a:rPr dirty="0"/>
              <a:t>当初はBambuのライブラリにあるリミックス版を使っていましたが、印刷面が粗くなったり、フィラメントが絡まるスパゲッティ印刷エラーが起きたりしました。</a:t>
            </a:r>
          </a:p>
          <a:p>
            <a:r>
              <a:rPr dirty="0" err="1"/>
              <a:t>公式のモデルに切り替えたところ、安定して印刷できるように</a:t>
            </a:r>
            <a:r>
              <a:rPr lang="ja-JP" altLang="en-US"/>
              <a:t>なりました</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ここからは組み立てです。手順は大きく4つあります。</a:t>
            </a:r>
          </a:p>
          <a:p>
            <a:endParaRPr dirty="0"/>
          </a:p>
          <a:p>
            <a:r>
              <a:rPr dirty="0" err="1"/>
              <a:t>まず、モーターの準備です</a:t>
            </a:r>
            <a:r>
              <a:rPr dirty="0"/>
              <a:t>。</a:t>
            </a:r>
          </a:p>
          <a:p>
            <a:endParaRPr dirty="0"/>
          </a:p>
          <a:p>
            <a:r>
              <a:rPr dirty="0"/>
              <a:t>フォロワーアームは同じモーターを6個使いますが、リーダーアームは違います。</a:t>
            </a:r>
          </a:p>
          <a:p>
            <a:r>
              <a:rPr dirty="0"/>
              <a:t>自分の重さを支えながら、人が手で軽く動かせる必要があるため、関節ごとにギア比の異なる3種類を使い分け</a:t>
            </a:r>
            <a:r>
              <a:rPr lang="ja-JP" altLang="en-US"/>
              <a:t>ます。</a:t>
            </a:r>
          </a:p>
          <a:p>
            <a:endParaRPr lang="ja-JP" altLang="en-US"/>
          </a:p>
          <a:p>
            <a:r>
              <a:rPr dirty="0"/>
              <a:t>見た目では区別がつかなくなるので、組み立てを始める前に、フォロワーをF1からF6、リーダーをL1からL6とラベル付けしておきます。</a:t>
            </a:r>
          </a:p>
          <a:p>
            <a:endParaRPr dirty="0"/>
          </a:p>
          <a:p>
            <a:endParaRPr dirty="0"/>
          </a:p>
          <a:p>
            <a:r>
              <a:rPr dirty="0"/>
              <a:t>2つ目が、電源とUSBの接続です。</a:t>
            </a:r>
          </a:p>
          <a:p>
            <a:endParaRPr dirty="0"/>
          </a:p>
          <a:p>
            <a:r>
              <a:rPr dirty="0"/>
              <a:t>モーターバスに電源をつなぎます。電圧はフォロワーが5V、リーダーは常に</a:t>
            </a:r>
            <a:r>
              <a:rPr lang="en-US" altLang="ja-JP" dirty="0"/>
              <a:t>10</a:t>
            </a:r>
            <a:r>
              <a:rPr dirty="0"/>
              <a:t>Vです。</a:t>
            </a:r>
          </a:p>
          <a:p>
            <a:r>
              <a:rPr dirty="0" err="1"/>
              <a:t>ここで大事なのが、USBからは電力が供給されないという点で、電源とUSBの両方をつなぐ必要があります</a:t>
            </a:r>
            <a:r>
              <a:rPr dirty="0"/>
              <a:t>。</a:t>
            </a:r>
          </a:p>
          <a:p>
            <a:endParaRPr dirty="0"/>
          </a:p>
          <a:p>
            <a:r>
              <a:rPr dirty="0"/>
              <a:t>3つ目が、モーターのID設定です。</a:t>
            </a:r>
          </a:p>
          <a:p>
            <a:r>
              <a:rPr dirty="0"/>
              <a:t>モーター1台ごとにIDを割り当てるのですが、まとめてではなく、1台ずつ</a:t>
            </a:r>
            <a:r>
              <a:rPr lang="ja-JP" altLang="en-US"/>
              <a:t>順番に</a:t>
            </a:r>
            <a:r>
              <a:rPr dirty="0" err="1"/>
              <a:t>接続して設定する必要があります</a:t>
            </a:r>
            <a:r>
              <a:rPr dirty="0"/>
              <a:t>。</a:t>
            </a:r>
          </a:p>
          <a:p>
            <a:endParaRPr dirty="0"/>
          </a:p>
          <a:p>
            <a:r>
              <a:rPr dirty="0"/>
              <a:t>4つ目が、アームの組み立てです。</a:t>
            </a:r>
          </a:p>
          <a:p>
            <a:r>
              <a:rPr dirty="0" err="1"/>
              <a:t>ここで気をつけた点を、次のスライドでお話しします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3897-ADA4-67F3-0A1E-9164CED3D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2E26-56A2-531C-342B-0C36911602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DC5611-689D-3960-3D67-FF0BC485754B}"/>
              </a:ext>
            </a:extLst>
          </p:cNvPr>
          <p:cNvSpPr>
            <a:spLocks noGrp="1"/>
          </p:cNvSpPr>
          <p:nvPr>
            <p:ph type="body" sz="quarter" idx="3"/>
          </p:nvPr>
        </p:nvSpPr>
        <p:spPr/>
        <p:txBody>
          <a:bodyPr/>
          <a:lstStyle/>
          <a:p>
            <a:r>
              <a:rPr dirty="0"/>
              <a:t>実際に組み立ててみて分かったことが3つあります。</a:t>
            </a:r>
          </a:p>
          <a:p>
            <a:endParaRPr dirty="0"/>
          </a:p>
          <a:p>
            <a:r>
              <a:rPr dirty="0"/>
              <a:t>1つ目は、かかった時間です。</a:t>
            </a:r>
          </a:p>
          <a:p>
            <a:r>
              <a:rPr dirty="0"/>
              <a:t>アーム1台でおよそ1時間半かかりました。リーダーとフォロワーの2台なので、組み立てだけで3時間ほどです。</a:t>
            </a:r>
          </a:p>
          <a:p>
            <a:endParaRPr dirty="0"/>
          </a:p>
          <a:p>
            <a:r>
              <a:rPr dirty="0"/>
              <a:t>2つ目は、ケーブルです。</a:t>
            </a:r>
          </a:p>
          <a:p>
            <a:r>
              <a:rPr dirty="0" err="1"/>
              <a:t>ケーブルは、部品を組む前にモーターへ挿しておく必要があります。あとから挿そうとすると、手が入らず非常に挿しづらくなります</a:t>
            </a:r>
            <a:r>
              <a:rPr dirty="0"/>
              <a:t>。</a:t>
            </a:r>
          </a:p>
          <a:p>
            <a:endParaRPr dirty="0"/>
          </a:p>
          <a:p>
            <a:r>
              <a:rPr dirty="0"/>
              <a:t>3つ目が、3Dプリント部品のバリ取りです。</a:t>
            </a:r>
          </a:p>
          <a:p>
            <a:r>
              <a:rPr dirty="0" err="1"/>
              <a:t>ネジ穴にバリが残っていると、ネジや部品がうまく入りません</a:t>
            </a:r>
            <a:r>
              <a:rPr dirty="0"/>
              <a:t>。</a:t>
            </a:r>
          </a:p>
          <a:p>
            <a:r>
              <a:rPr dirty="0" err="1"/>
              <a:t>私たちは組み上げてから気づいたので、一度分解してやり直すことになりました</a:t>
            </a:r>
            <a:r>
              <a:rPr dirty="0"/>
              <a:t>。</a:t>
            </a:r>
          </a:p>
          <a:p>
            <a:endParaRPr dirty="0"/>
          </a:p>
          <a:p>
            <a:r>
              <a:rPr dirty="0" err="1"/>
              <a:t>共通して言えるのは、組み上げてから気づくと分解が必要になるということです</a:t>
            </a:r>
            <a:r>
              <a:rPr dirty="0"/>
              <a:t>。</a:t>
            </a:r>
          </a:p>
          <a:p>
            <a:r>
              <a:rPr dirty="0" err="1"/>
              <a:t>一手戻るだけでかなり時間を取られるので、組む前に確認しておくことが大事だと感じました</a:t>
            </a:r>
            <a:r>
              <a:rPr dirty="0"/>
              <a:t>。</a:t>
            </a:r>
          </a:p>
          <a:p>
            <a:endParaRPr dirty="0"/>
          </a:p>
          <a:p>
            <a:endParaRPr dirty="0"/>
          </a:p>
          <a:p>
            <a:r>
              <a:rPr dirty="0" err="1"/>
              <a:t>右の動画は、組み上げたあとテレオペレーションで動作確認をしているところです</a:t>
            </a:r>
            <a:r>
              <a:rPr dirty="0"/>
              <a:t>。</a:t>
            </a:r>
          </a:p>
        </p:txBody>
      </p:sp>
      <p:sp>
        <p:nvSpPr>
          <p:cNvPr id="4" name="Slide Number Placeholder 3">
            <a:extLst>
              <a:ext uri="{FF2B5EF4-FFF2-40B4-BE49-F238E27FC236}">
                <a16:creationId xmlns:a16="http://schemas.microsoft.com/office/drawing/2014/main" id="{3D24F237-1E59-5EA8-5F06-81D9CE35EB76}"/>
              </a:ext>
            </a:extLst>
          </p:cNvPr>
          <p:cNvSpPr>
            <a:spLocks noGrp="1"/>
          </p:cNvSpPr>
          <p:nvPr>
            <p:ph type="sldNum" sz="quarter" idx="5"/>
          </p:nvPr>
        </p:nvSpPr>
        <p:spPr/>
      </p:sp>
    </p:spTree>
    <p:extLst>
      <p:ext uri="{BB962C8B-B14F-4D97-AF65-F5344CB8AC3E}">
        <p14:creationId xmlns:p14="http://schemas.microsoft.com/office/powerpoint/2010/main" val="4024393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03897-ADA4-67F3-0A1E-9164CED3D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22E26-56A2-531C-342B-0C36911602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DC5611-689D-3960-3D67-FF0BC485754B}"/>
              </a:ext>
            </a:extLst>
          </p:cNvPr>
          <p:cNvSpPr>
            <a:spLocks noGrp="1"/>
          </p:cNvSpPr>
          <p:nvPr>
            <p:ph type="body" sz="quarter" idx="3"/>
          </p:nvPr>
        </p:nvSpPr>
        <p:spPr/>
        <p:txBody>
          <a:bodyPr/>
          <a:lstStyle/>
          <a:p>
            <a:r>
              <a:rPr lang="ja-JP" altLang="en-US"/>
              <a:t>次に</a:t>
            </a:r>
            <a:r>
              <a:rPr dirty="0" err="1"/>
              <a:t>モーターの設定でつまずいた点です</a:t>
            </a:r>
            <a:r>
              <a:rPr dirty="0"/>
              <a:t>。</a:t>
            </a:r>
          </a:p>
          <a:p>
            <a:endParaRPr dirty="0"/>
          </a:p>
          <a:p>
            <a:r>
              <a:rPr dirty="0" err="1"/>
              <a:t>電源とUSBをつないでIDを設定しようとしたところ、モーター制御基板がPCから認識されませんでした</a:t>
            </a:r>
            <a:r>
              <a:rPr dirty="0"/>
              <a:t>。</a:t>
            </a:r>
          </a:p>
          <a:p>
            <a:endParaRPr dirty="0"/>
          </a:p>
          <a:p>
            <a:r>
              <a:rPr dirty="0" err="1"/>
              <a:t>原因は、変換アダプタを挿す位置でした</a:t>
            </a:r>
            <a:r>
              <a:rPr dirty="0"/>
              <a:t>。</a:t>
            </a:r>
          </a:p>
          <a:p>
            <a:r>
              <a:rPr dirty="0"/>
              <a:t>左の図のように、USBハブと基板のあいだにアダプタを入れていたのですが、これを右の図のようにPC側に移したところ、認識されるようになりました。</a:t>
            </a:r>
          </a:p>
          <a:p>
            <a:endParaRPr dirty="0"/>
          </a:p>
          <a:p>
            <a:r>
              <a:rPr dirty="0" err="1"/>
              <a:t>同じ配線でも、アダプタがどちら側にあるかで結果が変わるという点は、事前には気づきにくいところだと思います</a:t>
            </a:r>
            <a:r>
              <a:rPr dirty="0"/>
              <a:t>。</a:t>
            </a:r>
          </a:p>
          <a:p>
            <a:r>
              <a:rPr dirty="0" err="1"/>
              <a:t>これはチームの高森さんが気づいてくださいました</a:t>
            </a:r>
            <a:r>
              <a:rPr dirty="0"/>
              <a:t>。</a:t>
            </a:r>
          </a:p>
          <a:p>
            <a:endParaRPr dirty="0"/>
          </a:p>
          <a:p>
            <a:r>
              <a:rPr dirty="0" err="1"/>
              <a:t>なお、先ほどもお伝えしたとおりUSBからは電力が供給されないので、電源とUSBの両方を正しくつなぐ必要があります</a:t>
            </a:r>
            <a:r>
              <a:rPr dirty="0"/>
              <a:t>。</a:t>
            </a:r>
          </a:p>
        </p:txBody>
      </p:sp>
      <p:sp>
        <p:nvSpPr>
          <p:cNvPr id="4" name="Slide Number Placeholder 3">
            <a:extLst>
              <a:ext uri="{FF2B5EF4-FFF2-40B4-BE49-F238E27FC236}">
                <a16:creationId xmlns:a16="http://schemas.microsoft.com/office/drawing/2014/main" id="{3D24F237-1E59-5EA8-5F06-81D9CE35EB76}"/>
              </a:ext>
            </a:extLst>
          </p:cNvPr>
          <p:cNvSpPr>
            <a:spLocks noGrp="1"/>
          </p:cNvSpPr>
          <p:nvPr>
            <p:ph type="sldNum" sz="quarter" idx="5"/>
          </p:nvPr>
        </p:nvSpPr>
        <p:spPr/>
      </p:sp>
    </p:spTree>
    <p:extLst>
      <p:ext uri="{BB962C8B-B14F-4D97-AF65-F5344CB8AC3E}">
        <p14:creationId xmlns:p14="http://schemas.microsoft.com/office/powerpoint/2010/main" val="402439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次にキャリブレ</a:t>
            </a:r>
            <a:r>
              <a:rPr dirty="0"/>
              <a:t>ー</a:t>
            </a:r>
            <a:r>
              <a:rPr dirty="0" err="1"/>
              <a:t>ションです</a:t>
            </a:r>
            <a:r>
              <a:rPr dirty="0"/>
              <a:t>。</a:t>
            </a:r>
          </a:p>
          <a:p>
            <a:endParaRPr dirty="0"/>
          </a:p>
          <a:p>
            <a:r>
              <a:rPr dirty="0"/>
              <a:t>これは何のために行うかというと、リーダーとフォロワーで各関節の可動域を対応づけて、リーダーを動かしたときにフォロワーが同じ姿勢で追従するようにするためです。</a:t>
            </a:r>
          </a:p>
          <a:p>
            <a:endParaRPr dirty="0"/>
          </a:p>
          <a:p>
            <a:r>
              <a:rPr dirty="0"/>
              <a:t>方法は3ステップです。</a:t>
            </a:r>
          </a:p>
          <a:p>
            <a:r>
              <a:rPr dirty="0" err="1"/>
              <a:t>まず、左の写真にある規定の初期姿勢にアームを合わせます</a:t>
            </a:r>
            <a:r>
              <a:rPr dirty="0"/>
              <a:t>。</a:t>
            </a:r>
          </a:p>
          <a:p>
            <a:r>
              <a:rPr dirty="0" err="1"/>
              <a:t>次に、各関節を端から端まで動かして、可動域の最大・最小を記録します</a:t>
            </a:r>
            <a:r>
              <a:rPr dirty="0"/>
              <a:t>。</a:t>
            </a:r>
          </a:p>
          <a:p>
            <a:r>
              <a:rPr dirty="0" err="1"/>
              <a:t>最後に</a:t>
            </a:r>
            <a:r>
              <a:rPr dirty="0"/>
              <a:t> </a:t>
            </a:r>
            <a:r>
              <a:rPr dirty="0" err="1"/>
              <a:t>lerobot</a:t>
            </a:r>
            <a:r>
              <a:rPr dirty="0"/>
              <a:t>-teleoperate </a:t>
            </a:r>
            <a:r>
              <a:rPr dirty="0" err="1"/>
              <a:t>を実行して、リーダーの動きにフォロワーが追従することを確認します</a:t>
            </a:r>
            <a:r>
              <a:rPr dirty="0"/>
              <a:t>。</a:t>
            </a:r>
          </a:p>
          <a:p>
            <a:endParaRPr dirty="0"/>
          </a:p>
          <a:p>
            <a:r>
              <a:rPr dirty="0"/>
              <a:t>ここでも2つつまずきました。</a:t>
            </a:r>
          </a:p>
          <a:p>
            <a:endParaRPr dirty="0"/>
          </a:p>
          <a:p>
            <a:r>
              <a:rPr dirty="0"/>
              <a:t>1つ目は、規定の初期姿勢に合わせずに始めてしまったことです。</a:t>
            </a:r>
          </a:p>
          <a:p>
            <a:r>
              <a:rPr dirty="0" err="1"/>
              <a:t>その結果、可動域の最大・最小が本来の値からずれてしまい、姿勢を合わせ直して最初からやり直しました</a:t>
            </a:r>
            <a:r>
              <a:rPr dirty="0"/>
              <a:t>。</a:t>
            </a:r>
          </a:p>
          <a:p>
            <a:endParaRPr dirty="0"/>
          </a:p>
          <a:p>
            <a:r>
              <a:rPr dirty="0"/>
              <a:t>2つ目は、IDを割り振るコマンドを誤って実行してしまったことです。</a:t>
            </a:r>
          </a:p>
          <a:p>
            <a:r>
              <a:rPr dirty="0"/>
              <a:t>モーターIDの1番が6番として認識される状態になり、すべてのモーターのID割り振りからやり直しになりました。</a:t>
            </a:r>
          </a:p>
          <a:p>
            <a:endParaRPr dirty="0"/>
          </a:p>
          <a:p>
            <a:r>
              <a:rPr dirty="0"/>
              <a:t>どちらも、手順を1つ飛ばしたり間違えたりすると最初からやり直しになる工程なので、一つずつ確認しながら進める必要があると感じています。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〈目安 30秒〉</a:t>
            </a:r>
          </a:p>
          <a:p>
            <a:endParaRPr lang="ja-JP" altLang="en-US" dirty="0"/>
          </a:p>
          <a:p>
            <a:r>
              <a:rPr lang="ja-JP" altLang="en-US" dirty="0"/>
              <a:t>以上が、SO-101を動かせる状態にするまでの準備工程です。</a:t>
            </a:r>
          </a:p>
          <a:p>
            <a:endParaRPr lang="ja-JP" altLang="en-US" dirty="0"/>
          </a:p>
          <a:p>
            <a:r>
              <a:rPr lang="ja-JP" altLang="en-US" dirty="0"/>
              <a:t>3Dプリントは想像以上に時間がかかること、組み立てとキャリブレーションはどちらも「あとから気づくとやり直しになる」工程であることが、実際に手を動かして分かった点です。</a:t>
            </a:r>
          </a:p>
          <a:p>
            <a:endParaRPr lang="ja-JP" altLang="en-US" dirty="0"/>
          </a:p>
          <a:p>
            <a:r>
              <a:rPr lang="ja-JP" altLang="en-US" dirty="0"/>
              <a:t>現在は学習のフェーズに入っており、カメラの構成や学習条件を変えたモデルの比較を進めています。</a:t>
            </a:r>
          </a:p>
          <a:p>
            <a:endParaRPr lang="ja-JP" altLang="en-US" dirty="0"/>
          </a:p>
          <a:p>
            <a:r>
              <a:rPr lang="ja-JP" altLang="en-US" dirty="0"/>
              <a:t>ご清聴ありがとうございました。</a:t>
            </a:r>
          </a:p>
          <a:p>
            <a:endParaRPr lang="ja-JP" altLang="en-US" dirty="0"/>
          </a:p>
          <a:p>
            <a:r>
              <a:rPr lang="ja-JP" altLang="en-US" dirty="0"/>
              <a:t>──────────────</a:t>
            </a:r>
          </a:p>
          <a:p>
            <a:r>
              <a:rPr lang="ja-JP" altLang="en-US" dirty="0"/>
              <a:t>【想定される質問】</a:t>
            </a:r>
          </a:p>
          <a:p>
            <a:endParaRPr lang="ja-JP" altLang="en-US" dirty="0"/>
          </a:p>
          <a:p>
            <a:r>
              <a:rPr lang="ja-JP" altLang="en-US" dirty="0"/>
              <a:t>Q. 印刷時間は短縮できないのか</a:t>
            </a:r>
          </a:p>
          <a:p>
            <a:r>
              <a:rPr lang="ja-JP" altLang="en-US" dirty="0"/>
              <a:t>A. 今回は標準プリセット（0.20mm Standard @BBL P2S）のまま印刷しました。積層ピッチやインフィルを調整すれば短縮の余地はありますが、強度や精度への影響があるため、今回は公式推奨の設定を優先しました。</a:t>
            </a:r>
          </a:p>
          <a:p>
            <a:endParaRPr lang="ja-JP" altLang="en-US" dirty="0"/>
          </a:p>
          <a:p>
            <a:r>
              <a:rPr lang="ja-JP" altLang="en-US" dirty="0"/>
              <a:t>Q. なぜ公式モデルに変えたら安定したのか</a:t>
            </a:r>
          </a:p>
          <a:p>
            <a:r>
              <a:rPr lang="ja-JP" altLang="en-US" dirty="0"/>
              <a:t>A. 設定はどちらも同じでした。違いは、リミックス版が3色構成、公式が単色構成だった点です。色替えのたびに材料の入れ替えが入ることが影響したのではないかと考えていますが、断定はできていません。</a:t>
            </a:r>
          </a:p>
          <a:p>
            <a:endParaRPr lang="ja-JP" altLang="en-US" dirty="0"/>
          </a:p>
          <a:p>
            <a:r>
              <a:rPr lang="ja-JP" altLang="en-US" dirty="0"/>
              <a:t>Q. キャリブレーションは何回やり直したのか</a:t>
            </a:r>
          </a:p>
          <a:p>
            <a:r>
              <a:rPr lang="ja-JP" altLang="en-US" dirty="0"/>
              <a:t>A. 初期姿勢の件とID割り振りの件で、やり直しが発生しました。</a:t>
            </a:r>
          </a:p>
          <a:p>
            <a:endParaRPr lang="ja-JP" altLang="en-US" dirty="0"/>
          </a:p>
          <a:p>
            <a:r>
              <a:rPr lang="ja-JP" altLang="en-US" dirty="0"/>
              <a:t>Q. リーダーとフォロワーでモーターが違うのはなぜか</a:t>
            </a:r>
          </a:p>
          <a:p>
            <a:r>
              <a:rPr lang="ja-JP" altLang="en-US" dirty="0"/>
              <a:t>A. リーダーは人が手で動かすため、自重を支えつつ軽く動かせる必要があり、関節ごとにギア比を変えています。フォロワーは同一のモーターを6個使います。</a:t>
            </a:r>
          </a:p>
          <a:p>
            <a:endParaRPr lang="ja-JP" altLang="en-US" dirty="0"/>
          </a:p>
          <a:p>
            <a:r>
              <a:rPr lang="ja-JP" altLang="en-US" dirty="0"/>
              <a:t>Q. 準備工程で一番大変だったのは</a:t>
            </a:r>
          </a:p>
          <a:p>
            <a:r>
              <a:rPr lang="ja-JP" altLang="en-US" dirty="0"/>
              <a:t>A. 印刷待ちの時間です。プリンタが動いているあいだは組み立てに進めないため、全体のスケジュールがここに引っ張られました。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902F1D-F893-4F40-A0A6-F56318020834}" type="datetime1">
              <a:rPr lang="ja-JP" altLang="en-US" smtClean="0"/>
              <a:t>2026/10/14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22873" y="6356350"/>
            <a:ext cx="2133600" cy="365125"/>
          </a:xfrm>
          <a:prstGeom prst="rect">
            <a:avLst/>
          </a:prstGeom>
        </p:spPr>
        <p:txBody>
          <a:bodyPr/>
          <a:lstStyle>
            <a:lvl1pPr>
              <a:defRPr sz="2400"/>
            </a:lvl1pPr>
          </a:lstStyle>
          <a:p>
            <a:fld id="{C1FF6DA9-008F-8B48-92A6-B652298478BF}" type="slidenum">
              <a:rPr lang="en-US" smtClean="0"/>
              <a:pPr/>
              <a:t>‹#›</a:t>
            </a:fld>
            <a:endParaRPr lang="en-US" sz="2400"/>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239EC9-39FE-0042-A6C4-CC7CC68273A2}" type="datetime1">
              <a:rPr lang="ja-JP" altLang="en-US" smtClean="0"/>
              <a:t>2026/10/14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Slide Number Placeholder 3">
            <a:extLst>
              <a:ext uri="{FF2B5EF4-FFF2-40B4-BE49-F238E27FC236}">
                <a16:creationId xmlns:a16="http://schemas.microsoft.com/office/drawing/2014/main" id="{53484A32-C1EE-7A53-38DF-CEF64B3D6E97}"/>
              </a:ext>
            </a:extLst>
          </p:cNvPr>
          <p:cNvSpPr>
            <a:spLocks noGrp="1"/>
          </p:cNvSpPr>
          <p:nvPr>
            <p:ph type="sldNum" sz="quarter" idx="4"/>
          </p:nvPr>
        </p:nvSpPr>
        <p:spPr>
          <a:xfrm>
            <a:off x="9822873" y="6356350"/>
            <a:ext cx="2133600" cy="365125"/>
          </a:xfrm>
          <a:prstGeom prst="rect">
            <a:avLst/>
          </a:prstGeom>
        </p:spPr>
        <p:txBody>
          <a:bodyPr/>
          <a:lstStyle>
            <a:lvl1pPr algn="r">
              <a:defRPr sz="2400"/>
            </a:lvl1pPr>
          </a:lstStyle>
          <a:p>
            <a:pPr algn="r"/>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ov"/><Relationship Id="rId1" Type="http://schemas.openxmlformats.org/officeDocument/2006/relationships/video" Target="NULL" TargetMode="Externa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2.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 y="438912"/>
            <a:ext cx="137160"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38160" y="438912"/>
            <a:ext cx="3694176" cy="91440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39328" y="741784"/>
            <a:ext cx="3291840" cy="313932"/>
          </a:xfrm>
          <a:prstGeom prst="rect">
            <a:avLst/>
          </a:prstGeom>
          <a:noFill/>
        </p:spPr>
        <p:txBody>
          <a:bodyPr wrap="square" lIns="45720" tIns="18288" rIns="45720" bIns="18288" anchor="ctr">
            <a:spAutoFit/>
          </a:bodyPr>
          <a:lstStyle/>
          <a:p>
            <a:pPr algn="ctr"/>
            <a:r>
              <a:rPr b="1" dirty="0">
                <a:solidFill>
                  <a:srgbClr val="191919"/>
                </a:solidFill>
                <a:latin typeface="Aptos"/>
              </a:rPr>
              <a:t>SO-101 / </a:t>
            </a:r>
            <a:r>
              <a:rPr b="1" dirty="0" err="1">
                <a:solidFill>
                  <a:srgbClr val="191919"/>
                </a:solidFill>
                <a:latin typeface="Aptos"/>
              </a:rPr>
              <a:t>AIロボティクス</a:t>
            </a:r>
            <a:endParaRPr b="1" dirty="0">
              <a:solidFill>
                <a:srgbClr val="191919"/>
              </a:solidFill>
              <a:latin typeface="Aptos"/>
            </a:endParaRPr>
          </a:p>
        </p:txBody>
      </p:sp>
      <p:sp>
        <p:nvSpPr>
          <p:cNvPr id="7" name="TextBox 6"/>
          <p:cNvSpPr txBox="1"/>
          <p:nvPr/>
        </p:nvSpPr>
        <p:spPr>
          <a:xfrm>
            <a:off x="822960" y="1005840"/>
            <a:ext cx="5486400" cy="274320"/>
          </a:xfrm>
          <a:prstGeom prst="rect">
            <a:avLst/>
          </a:prstGeom>
          <a:noFill/>
        </p:spPr>
        <p:txBody>
          <a:bodyPr wrap="square" lIns="45720" tIns="18288" rIns="45720" bIns="18288" anchor="ctr">
            <a:spAutoFit/>
          </a:bodyPr>
          <a:lstStyle/>
          <a:p>
            <a:pPr algn="l"/>
            <a:r>
              <a:rPr sz="900" b="1">
                <a:solidFill>
                  <a:srgbClr val="787873"/>
                </a:solidFill>
                <a:latin typeface="Aptos"/>
              </a:rPr>
              <a:t>INTERIM REPORT</a:t>
            </a:r>
          </a:p>
        </p:txBody>
      </p:sp>
      <p:sp>
        <p:nvSpPr>
          <p:cNvPr id="8" name="TextBox 7"/>
          <p:cNvSpPr txBox="1"/>
          <p:nvPr/>
        </p:nvSpPr>
        <p:spPr>
          <a:xfrm>
            <a:off x="822960" y="2272772"/>
            <a:ext cx="6583680" cy="529376"/>
          </a:xfrm>
          <a:prstGeom prst="rect">
            <a:avLst/>
          </a:prstGeom>
          <a:noFill/>
        </p:spPr>
        <p:txBody>
          <a:bodyPr wrap="square" lIns="45720" tIns="18288" rIns="45720" bIns="18288" anchor="ctr">
            <a:spAutoFit/>
          </a:bodyPr>
          <a:lstStyle/>
          <a:p>
            <a:pPr algn="l"/>
            <a:r>
              <a:rPr lang="ja-JP" altLang="en-US" sz="3200" b="1">
                <a:solidFill>
                  <a:srgbClr val="191919"/>
                </a:solidFill>
                <a:latin typeface="Aptos"/>
              </a:rPr>
              <a:t>中間発表</a:t>
            </a:r>
            <a:endParaRPr sz="3200" b="1" dirty="0">
              <a:solidFill>
                <a:srgbClr val="191919"/>
              </a:solidFill>
              <a:latin typeface="Aptos"/>
            </a:endParaRPr>
          </a:p>
        </p:txBody>
      </p:sp>
      <p:sp>
        <p:nvSpPr>
          <p:cNvPr id="9" name="TextBox 8"/>
          <p:cNvSpPr txBox="1"/>
          <p:nvPr/>
        </p:nvSpPr>
        <p:spPr>
          <a:xfrm>
            <a:off x="868680" y="3474720"/>
            <a:ext cx="6126480" cy="502920"/>
          </a:xfrm>
          <a:prstGeom prst="rect">
            <a:avLst/>
          </a:prstGeom>
          <a:noFill/>
        </p:spPr>
        <p:txBody>
          <a:bodyPr wrap="square" lIns="45720" tIns="18288" rIns="45720" bIns="18288" anchor="ctr">
            <a:spAutoFit/>
          </a:bodyPr>
          <a:lstStyle/>
          <a:p>
            <a:pPr algn="l"/>
            <a:r>
              <a:rPr sz="1300" b="0">
                <a:solidFill>
                  <a:srgbClr val="787873"/>
                </a:solidFill>
                <a:latin typeface="Aptos"/>
              </a:rPr>
              <a:t>SO-101を動かせる状態にするまでの準備工程</a:t>
            </a:r>
          </a:p>
        </p:txBody>
      </p:sp>
      <p:sp>
        <p:nvSpPr>
          <p:cNvPr id="24" name="Rectangle 23"/>
          <p:cNvSpPr/>
          <p:nvPr/>
        </p:nvSpPr>
        <p:spPr>
          <a:xfrm>
            <a:off x="841248" y="5303520"/>
            <a:ext cx="2926080" cy="50292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7552" y="5424220"/>
            <a:ext cx="2651760" cy="252377"/>
          </a:xfrm>
          <a:prstGeom prst="rect">
            <a:avLst/>
          </a:prstGeom>
          <a:noFill/>
        </p:spPr>
        <p:txBody>
          <a:bodyPr wrap="square" lIns="45720" tIns="18288" rIns="45720" bIns="18288" anchor="ctr">
            <a:spAutoFit/>
          </a:bodyPr>
          <a:lstStyle/>
          <a:p>
            <a:pPr algn="ctr"/>
            <a:r>
              <a:rPr lang="ja-JP" altLang="en-US" sz="1400" b="1">
                <a:solidFill>
                  <a:srgbClr val="191919"/>
                </a:solidFill>
                <a:latin typeface="Aptos"/>
              </a:rPr>
              <a:t>嶺田・山村チーム</a:t>
            </a:r>
            <a:endParaRPr sz="1400" b="1" dirty="0">
              <a:solidFill>
                <a:srgbClr val="191919"/>
              </a:solidFill>
              <a:latin typeface="Aptos"/>
            </a:endParaRPr>
          </a:p>
        </p:txBody>
      </p:sp>
      <p:pic>
        <p:nvPicPr>
          <p:cNvPr id="12" name="図 11">
            <a:extLst>
              <a:ext uri="{FF2B5EF4-FFF2-40B4-BE49-F238E27FC236}">
                <a16:creationId xmlns:a16="http://schemas.microsoft.com/office/drawing/2014/main" id="{24766B7C-C624-DFF3-F197-99C452C4D331}"/>
              </a:ext>
            </a:extLst>
          </p:cNvPr>
          <p:cNvPicPr>
            <a:picLocks noChangeAspect="1"/>
          </p:cNvPicPr>
          <p:nvPr/>
        </p:nvPicPr>
        <p:blipFill>
          <a:blip r:embed="rId4"/>
          <a:srcRect l="23740" t="24329" r="20142" b="19554"/>
          <a:stretch>
            <a:fillRect/>
          </a:stretch>
        </p:blipFill>
        <p:spPr>
          <a:xfrm>
            <a:off x="5792865" y="1920240"/>
            <a:ext cx="5263617" cy="39477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5" name="スライド番号プレースホルダー 34">
            <a:extLst>
              <a:ext uri="{FF2B5EF4-FFF2-40B4-BE49-F238E27FC236}">
                <a16:creationId xmlns:a16="http://schemas.microsoft.com/office/drawing/2014/main" id="{B80F4A55-84E4-CB88-3066-EA3944EBFF2B}"/>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21" name="Rectangle 2">
            <a:extLst>
              <a:ext uri="{FF2B5EF4-FFF2-40B4-BE49-F238E27FC236}">
                <a16:creationId xmlns:a16="http://schemas.microsoft.com/office/drawing/2014/main" id="{51CCF33C-F450-D90A-CE68-5282F587F7E6}"/>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3">
            <a:extLst>
              <a:ext uri="{FF2B5EF4-FFF2-40B4-BE49-F238E27FC236}">
                <a16:creationId xmlns:a16="http://schemas.microsoft.com/office/drawing/2014/main" id="{645CD2AB-B6D8-C103-E3C5-8795C2CA4F66}"/>
              </a:ext>
            </a:extLst>
          </p:cNvPr>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dirty="0">
                <a:solidFill>
                  <a:srgbClr val="FFA900"/>
                </a:solidFill>
                <a:latin typeface="Aptos"/>
              </a:rPr>
              <a:t>01 / TIMELINE</a:t>
            </a:r>
          </a:p>
        </p:txBody>
      </p:sp>
      <p:sp>
        <p:nvSpPr>
          <p:cNvPr id="23" name="TextBox 4">
            <a:extLst>
              <a:ext uri="{FF2B5EF4-FFF2-40B4-BE49-F238E27FC236}">
                <a16:creationId xmlns:a16="http://schemas.microsoft.com/office/drawing/2014/main" id="{CD686F15-9E6E-9732-D0B4-0B09AFA1B05E}"/>
              </a:ext>
            </a:extLst>
          </p:cNvPr>
          <p:cNvSpPr txBox="1"/>
          <p:nvPr/>
        </p:nvSpPr>
        <p:spPr>
          <a:xfrm>
            <a:off x="713232" y="822960"/>
            <a:ext cx="10789920" cy="548640"/>
          </a:xfrm>
          <a:prstGeom prst="rect">
            <a:avLst/>
          </a:prstGeom>
          <a:noFill/>
        </p:spPr>
        <p:txBody>
          <a:bodyPr wrap="square" lIns="45720" tIns="18288" rIns="45720" bIns="18288" anchor="ctr">
            <a:spAutoFit/>
          </a:bodyPr>
          <a:lstStyle/>
          <a:p>
            <a:pPr algn="l"/>
            <a:r>
              <a:rPr sz="2500" b="1">
                <a:solidFill>
                  <a:srgbClr val="191919"/>
                </a:solidFill>
                <a:latin typeface="Aptos"/>
              </a:rPr>
              <a:t>これまでの流れ</a:t>
            </a:r>
          </a:p>
        </p:txBody>
      </p:sp>
      <p:sp>
        <p:nvSpPr>
          <p:cNvPr id="24" name="TextBox 5">
            <a:extLst>
              <a:ext uri="{FF2B5EF4-FFF2-40B4-BE49-F238E27FC236}">
                <a16:creationId xmlns:a16="http://schemas.microsoft.com/office/drawing/2014/main" id="{48882520-632B-2145-C7C2-C75435DE9015}"/>
              </a:ext>
            </a:extLst>
          </p:cNvPr>
          <p:cNvSpPr txBox="1"/>
          <p:nvPr/>
        </p:nvSpPr>
        <p:spPr>
          <a:xfrm>
            <a:off x="3158844" y="2094943"/>
            <a:ext cx="1143000" cy="344710"/>
          </a:xfrm>
          <a:prstGeom prst="rect">
            <a:avLst/>
          </a:prstGeom>
          <a:noFill/>
        </p:spPr>
        <p:txBody>
          <a:bodyPr wrap="square" lIns="45720" tIns="18288" rIns="45720" bIns="18288" anchor="ctr">
            <a:spAutoFit/>
          </a:bodyPr>
          <a:lstStyle/>
          <a:p>
            <a:pPr algn="l"/>
            <a:r>
              <a:rPr sz="2000" b="1" dirty="0">
                <a:solidFill>
                  <a:srgbClr val="191919"/>
                </a:solidFill>
                <a:latin typeface="Aptos"/>
              </a:rPr>
              <a:t>10</a:t>
            </a:r>
            <a:r>
              <a:rPr lang="en-US" sz="2000" b="1" dirty="0">
                <a:solidFill>
                  <a:srgbClr val="191919"/>
                </a:solidFill>
                <a:latin typeface="Aptos"/>
              </a:rPr>
              <a:t>/</a:t>
            </a:r>
            <a:r>
              <a:rPr sz="2000" b="1" dirty="0">
                <a:solidFill>
                  <a:srgbClr val="191919"/>
                </a:solidFill>
                <a:latin typeface="Aptos"/>
              </a:rPr>
              <a:t>2</a:t>
            </a:r>
          </a:p>
        </p:txBody>
      </p:sp>
      <p:cxnSp>
        <p:nvCxnSpPr>
          <p:cNvPr id="25" name="Connector 6">
            <a:extLst>
              <a:ext uri="{FF2B5EF4-FFF2-40B4-BE49-F238E27FC236}">
                <a16:creationId xmlns:a16="http://schemas.microsoft.com/office/drawing/2014/main" id="{595217EC-4A20-EC0F-8D1E-40511E632288}"/>
              </a:ext>
            </a:extLst>
          </p:cNvPr>
          <p:cNvCxnSpPr/>
          <p:nvPr/>
        </p:nvCxnSpPr>
        <p:spPr>
          <a:xfrm>
            <a:off x="4393284" y="2262726"/>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26" name="TextBox 7">
            <a:extLst>
              <a:ext uri="{FF2B5EF4-FFF2-40B4-BE49-F238E27FC236}">
                <a16:creationId xmlns:a16="http://schemas.microsoft.com/office/drawing/2014/main" id="{DD7A8FF2-337D-8E7B-5E78-3F19AD8F253F}"/>
              </a:ext>
            </a:extLst>
          </p:cNvPr>
          <p:cNvSpPr txBox="1"/>
          <p:nvPr/>
        </p:nvSpPr>
        <p:spPr>
          <a:xfrm>
            <a:off x="4941924" y="2110332"/>
            <a:ext cx="5394960" cy="313932"/>
          </a:xfrm>
          <a:prstGeom prst="rect">
            <a:avLst/>
          </a:prstGeom>
          <a:noFill/>
        </p:spPr>
        <p:txBody>
          <a:bodyPr wrap="square" lIns="45720" tIns="18288" rIns="45720" bIns="18288" anchor="ctr">
            <a:spAutoFit/>
          </a:bodyPr>
          <a:lstStyle/>
          <a:p>
            <a:pPr algn="l"/>
            <a:r>
              <a:rPr b="0" dirty="0">
                <a:solidFill>
                  <a:srgbClr val="191919"/>
                </a:solidFill>
                <a:latin typeface="Aptos"/>
              </a:rPr>
              <a:t>3Dプリント・モーターの設定</a:t>
            </a:r>
          </a:p>
        </p:txBody>
      </p:sp>
      <p:sp>
        <p:nvSpPr>
          <p:cNvPr id="27" name="TextBox 8">
            <a:extLst>
              <a:ext uri="{FF2B5EF4-FFF2-40B4-BE49-F238E27FC236}">
                <a16:creationId xmlns:a16="http://schemas.microsoft.com/office/drawing/2014/main" id="{63F93308-70B9-B667-12BB-5C1466A06569}"/>
              </a:ext>
            </a:extLst>
          </p:cNvPr>
          <p:cNvSpPr txBox="1"/>
          <p:nvPr/>
        </p:nvSpPr>
        <p:spPr>
          <a:xfrm>
            <a:off x="3158844" y="2753311"/>
            <a:ext cx="1143000" cy="344710"/>
          </a:xfrm>
          <a:prstGeom prst="rect">
            <a:avLst/>
          </a:prstGeom>
          <a:noFill/>
        </p:spPr>
        <p:txBody>
          <a:bodyPr wrap="square" lIns="45720" tIns="18288" rIns="45720" bIns="18288" anchor="ctr">
            <a:spAutoFit/>
          </a:bodyPr>
          <a:lstStyle/>
          <a:p>
            <a:pPr algn="l"/>
            <a:r>
              <a:rPr sz="2000" b="1" dirty="0">
                <a:solidFill>
                  <a:srgbClr val="191919"/>
                </a:solidFill>
                <a:latin typeface="Aptos"/>
              </a:rPr>
              <a:t>10</a:t>
            </a:r>
            <a:r>
              <a:rPr lang="en-US" sz="2000" b="1" dirty="0">
                <a:solidFill>
                  <a:srgbClr val="191919"/>
                </a:solidFill>
                <a:latin typeface="Aptos"/>
              </a:rPr>
              <a:t>/</a:t>
            </a:r>
            <a:r>
              <a:rPr sz="2000" b="1" dirty="0">
                <a:solidFill>
                  <a:srgbClr val="191919"/>
                </a:solidFill>
                <a:latin typeface="Aptos"/>
              </a:rPr>
              <a:t>6</a:t>
            </a:r>
          </a:p>
        </p:txBody>
      </p:sp>
      <p:cxnSp>
        <p:nvCxnSpPr>
          <p:cNvPr id="28" name="Connector 9">
            <a:extLst>
              <a:ext uri="{FF2B5EF4-FFF2-40B4-BE49-F238E27FC236}">
                <a16:creationId xmlns:a16="http://schemas.microsoft.com/office/drawing/2014/main" id="{956E710F-97EF-7748-37EC-14F1E6D9725B}"/>
              </a:ext>
            </a:extLst>
          </p:cNvPr>
          <p:cNvCxnSpPr/>
          <p:nvPr/>
        </p:nvCxnSpPr>
        <p:spPr>
          <a:xfrm>
            <a:off x="4393284" y="2921094"/>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34" name="TextBox 10">
            <a:extLst>
              <a:ext uri="{FF2B5EF4-FFF2-40B4-BE49-F238E27FC236}">
                <a16:creationId xmlns:a16="http://schemas.microsoft.com/office/drawing/2014/main" id="{1EF4F87A-6C04-B532-D144-0292C5E32108}"/>
              </a:ext>
            </a:extLst>
          </p:cNvPr>
          <p:cNvSpPr txBox="1"/>
          <p:nvPr/>
        </p:nvSpPr>
        <p:spPr>
          <a:xfrm>
            <a:off x="4941924" y="2768700"/>
            <a:ext cx="5394960" cy="313932"/>
          </a:xfrm>
          <a:prstGeom prst="rect">
            <a:avLst/>
          </a:prstGeom>
          <a:noFill/>
        </p:spPr>
        <p:txBody>
          <a:bodyPr wrap="square" lIns="45720" tIns="18288" rIns="45720" bIns="18288" anchor="ctr">
            <a:spAutoFit/>
          </a:bodyPr>
          <a:lstStyle/>
          <a:p>
            <a:r>
              <a:rPr b="0" dirty="0" err="1">
                <a:solidFill>
                  <a:srgbClr val="191919"/>
                </a:solidFill>
                <a:latin typeface="Aptos"/>
              </a:rPr>
              <a:t>アーム組み立て</a:t>
            </a:r>
            <a:r>
              <a:rPr lang="ja-JP" altLang="en-US">
                <a:solidFill>
                  <a:srgbClr val="191919"/>
                </a:solidFill>
                <a:latin typeface="Aptos"/>
              </a:rPr>
              <a:t>・キャリブレーション実施</a:t>
            </a:r>
          </a:p>
        </p:txBody>
      </p:sp>
      <p:sp>
        <p:nvSpPr>
          <p:cNvPr id="36" name="TextBox 11">
            <a:extLst>
              <a:ext uri="{FF2B5EF4-FFF2-40B4-BE49-F238E27FC236}">
                <a16:creationId xmlns:a16="http://schemas.microsoft.com/office/drawing/2014/main" id="{9B1B0A5A-E6E6-3214-C89A-A84C5756BBE9}"/>
              </a:ext>
            </a:extLst>
          </p:cNvPr>
          <p:cNvSpPr txBox="1"/>
          <p:nvPr/>
        </p:nvSpPr>
        <p:spPr>
          <a:xfrm>
            <a:off x="3158844" y="3411679"/>
            <a:ext cx="1143000" cy="344710"/>
          </a:xfrm>
          <a:prstGeom prst="rect">
            <a:avLst/>
          </a:prstGeom>
          <a:noFill/>
        </p:spPr>
        <p:txBody>
          <a:bodyPr wrap="square" lIns="45720" tIns="18288" rIns="45720" bIns="18288" anchor="ctr">
            <a:spAutoFit/>
          </a:bodyPr>
          <a:lstStyle/>
          <a:p>
            <a:pPr algn="l"/>
            <a:r>
              <a:rPr sz="2000" b="1" dirty="0">
                <a:solidFill>
                  <a:srgbClr val="191919"/>
                </a:solidFill>
                <a:latin typeface="Aptos"/>
              </a:rPr>
              <a:t>10</a:t>
            </a:r>
            <a:r>
              <a:rPr lang="en-US" sz="2000" b="1" dirty="0">
                <a:solidFill>
                  <a:srgbClr val="191919"/>
                </a:solidFill>
                <a:latin typeface="Aptos"/>
              </a:rPr>
              <a:t>/</a:t>
            </a:r>
            <a:r>
              <a:rPr lang="en-US" altLang="ja-JP" sz="2000" b="1" dirty="0">
                <a:solidFill>
                  <a:srgbClr val="191919"/>
                </a:solidFill>
                <a:latin typeface="Aptos"/>
              </a:rPr>
              <a:t>7</a:t>
            </a:r>
            <a:endParaRPr sz="2000" b="1" dirty="0">
              <a:solidFill>
                <a:srgbClr val="191919"/>
              </a:solidFill>
              <a:latin typeface="Aptos"/>
            </a:endParaRPr>
          </a:p>
        </p:txBody>
      </p:sp>
      <p:cxnSp>
        <p:nvCxnSpPr>
          <p:cNvPr id="37" name="Connector 12">
            <a:extLst>
              <a:ext uri="{FF2B5EF4-FFF2-40B4-BE49-F238E27FC236}">
                <a16:creationId xmlns:a16="http://schemas.microsoft.com/office/drawing/2014/main" id="{53220926-9FCE-C12A-4335-0245C7E33A6C}"/>
              </a:ext>
            </a:extLst>
          </p:cNvPr>
          <p:cNvCxnSpPr/>
          <p:nvPr/>
        </p:nvCxnSpPr>
        <p:spPr>
          <a:xfrm>
            <a:off x="4393284" y="3579462"/>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38" name="TextBox 13">
            <a:extLst>
              <a:ext uri="{FF2B5EF4-FFF2-40B4-BE49-F238E27FC236}">
                <a16:creationId xmlns:a16="http://schemas.microsoft.com/office/drawing/2014/main" id="{A5F856C7-8F9D-BA8C-4898-FB44C2A6ED8A}"/>
              </a:ext>
            </a:extLst>
          </p:cNvPr>
          <p:cNvSpPr txBox="1"/>
          <p:nvPr/>
        </p:nvSpPr>
        <p:spPr>
          <a:xfrm>
            <a:off x="4941924" y="3427068"/>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カメラ１つで学習</a:t>
            </a:r>
            <a:endParaRPr b="0" dirty="0">
              <a:solidFill>
                <a:srgbClr val="191919"/>
              </a:solidFill>
              <a:latin typeface="Aptos"/>
            </a:endParaRPr>
          </a:p>
        </p:txBody>
      </p:sp>
      <p:sp>
        <p:nvSpPr>
          <p:cNvPr id="39" name="TextBox 14">
            <a:extLst>
              <a:ext uri="{FF2B5EF4-FFF2-40B4-BE49-F238E27FC236}">
                <a16:creationId xmlns:a16="http://schemas.microsoft.com/office/drawing/2014/main" id="{04755CCE-C344-87EB-6BCD-D71D1FB43EE6}"/>
              </a:ext>
            </a:extLst>
          </p:cNvPr>
          <p:cNvSpPr txBox="1"/>
          <p:nvPr/>
        </p:nvSpPr>
        <p:spPr>
          <a:xfrm>
            <a:off x="3158844" y="4070047"/>
            <a:ext cx="1143000" cy="344710"/>
          </a:xfrm>
          <a:prstGeom prst="rect">
            <a:avLst/>
          </a:prstGeom>
          <a:noFill/>
        </p:spPr>
        <p:txBody>
          <a:bodyPr wrap="square" lIns="45720" tIns="18288" rIns="45720" bIns="18288" anchor="ctr">
            <a:spAutoFit/>
          </a:bodyPr>
          <a:lstStyle/>
          <a:p>
            <a:pPr algn="l"/>
            <a:r>
              <a:rPr sz="2000" b="1" dirty="0">
                <a:solidFill>
                  <a:srgbClr val="191919"/>
                </a:solidFill>
                <a:latin typeface="Aptos"/>
              </a:rPr>
              <a:t>10</a:t>
            </a:r>
            <a:r>
              <a:rPr lang="en-US" sz="2000" b="1" dirty="0">
                <a:solidFill>
                  <a:srgbClr val="191919"/>
                </a:solidFill>
                <a:latin typeface="Aptos"/>
              </a:rPr>
              <a:t>/</a:t>
            </a:r>
            <a:r>
              <a:rPr lang="en-US" altLang="ja-JP" sz="2000" b="1" dirty="0">
                <a:solidFill>
                  <a:srgbClr val="191919"/>
                </a:solidFill>
                <a:latin typeface="Aptos"/>
              </a:rPr>
              <a:t>8</a:t>
            </a:r>
            <a:endParaRPr sz="2000" b="1" dirty="0">
              <a:solidFill>
                <a:srgbClr val="191919"/>
              </a:solidFill>
              <a:latin typeface="Aptos"/>
            </a:endParaRPr>
          </a:p>
        </p:txBody>
      </p:sp>
      <p:cxnSp>
        <p:nvCxnSpPr>
          <p:cNvPr id="40" name="Connector 15">
            <a:extLst>
              <a:ext uri="{FF2B5EF4-FFF2-40B4-BE49-F238E27FC236}">
                <a16:creationId xmlns:a16="http://schemas.microsoft.com/office/drawing/2014/main" id="{809AE52A-0499-F3DD-BB49-80D2B2CEB448}"/>
              </a:ext>
            </a:extLst>
          </p:cNvPr>
          <p:cNvCxnSpPr/>
          <p:nvPr/>
        </p:nvCxnSpPr>
        <p:spPr>
          <a:xfrm>
            <a:off x="4393284" y="4237829"/>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1" name="TextBox 16">
            <a:extLst>
              <a:ext uri="{FF2B5EF4-FFF2-40B4-BE49-F238E27FC236}">
                <a16:creationId xmlns:a16="http://schemas.microsoft.com/office/drawing/2014/main" id="{D7C59C14-7DE1-83C5-95BA-3228DB48B86A}"/>
              </a:ext>
            </a:extLst>
          </p:cNvPr>
          <p:cNvSpPr txBox="1"/>
          <p:nvPr/>
        </p:nvSpPr>
        <p:spPr>
          <a:xfrm>
            <a:off x="4941924" y="4085436"/>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カメラ２つで学習</a:t>
            </a:r>
            <a:endParaRPr b="0" dirty="0">
              <a:solidFill>
                <a:srgbClr val="191919"/>
              </a:solidFill>
              <a:latin typeface="Aptos"/>
            </a:endParaRPr>
          </a:p>
        </p:txBody>
      </p:sp>
      <p:sp>
        <p:nvSpPr>
          <p:cNvPr id="42" name="TextBox 17">
            <a:extLst>
              <a:ext uri="{FF2B5EF4-FFF2-40B4-BE49-F238E27FC236}">
                <a16:creationId xmlns:a16="http://schemas.microsoft.com/office/drawing/2014/main" id="{D0CB835B-2F7F-4DBF-316B-6CBB4BFC03CF}"/>
              </a:ext>
            </a:extLst>
          </p:cNvPr>
          <p:cNvSpPr txBox="1"/>
          <p:nvPr/>
        </p:nvSpPr>
        <p:spPr>
          <a:xfrm>
            <a:off x="3158844" y="4728415"/>
            <a:ext cx="1143000" cy="344710"/>
          </a:xfrm>
          <a:prstGeom prst="rect">
            <a:avLst/>
          </a:prstGeom>
          <a:noFill/>
        </p:spPr>
        <p:txBody>
          <a:bodyPr wrap="square" lIns="45720" tIns="18288" rIns="45720" bIns="18288" anchor="ctr">
            <a:spAutoFit/>
          </a:bodyPr>
          <a:lstStyle/>
          <a:p>
            <a:pPr algn="l"/>
            <a:r>
              <a:rPr sz="2000" b="1" dirty="0">
                <a:solidFill>
                  <a:srgbClr val="191919"/>
                </a:solidFill>
                <a:latin typeface="Aptos"/>
              </a:rPr>
              <a:t>10</a:t>
            </a:r>
            <a:r>
              <a:rPr lang="en-US" sz="2000" b="1" dirty="0">
                <a:solidFill>
                  <a:srgbClr val="191919"/>
                </a:solidFill>
                <a:latin typeface="Aptos"/>
              </a:rPr>
              <a:t>/</a:t>
            </a:r>
            <a:r>
              <a:rPr lang="en-US" altLang="ja-JP" sz="2000" b="1" dirty="0">
                <a:solidFill>
                  <a:srgbClr val="191919"/>
                </a:solidFill>
                <a:latin typeface="Aptos"/>
              </a:rPr>
              <a:t>13</a:t>
            </a:r>
            <a:endParaRPr sz="2000" b="1" dirty="0">
              <a:solidFill>
                <a:srgbClr val="191919"/>
              </a:solidFill>
              <a:latin typeface="Aptos"/>
            </a:endParaRPr>
          </a:p>
        </p:txBody>
      </p:sp>
      <p:cxnSp>
        <p:nvCxnSpPr>
          <p:cNvPr id="43" name="Connector 18">
            <a:extLst>
              <a:ext uri="{FF2B5EF4-FFF2-40B4-BE49-F238E27FC236}">
                <a16:creationId xmlns:a16="http://schemas.microsoft.com/office/drawing/2014/main" id="{46A701CF-0AFA-BF94-09D4-A561F210B31B}"/>
              </a:ext>
            </a:extLst>
          </p:cNvPr>
          <p:cNvCxnSpPr/>
          <p:nvPr/>
        </p:nvCxnSpPr>
        <p:spPr>
          <a:xfrm>
            <a:off x="4393284" y="4896198"/>
            <a:ext cx="36576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4" name="TextBox 19">
            <a:extLst>
              <a:ext uri="{FF2B5EF4-FFF2-40B4-BE49-F238E27FC236}">
                <a16:creationId xmlns:a16="http://schemas.microsoft.com/office/drawing/2014/main" id="{9C5FA5B3-D431-AA2E-262D-0C1307E67BBC}"/>
              </a:ext>
            </a:extLst>
          </p:cNvPr>
          <p:cNvSpPr txBox="1"/>
          <p:nvPr/>
        </p:nvSpPr>
        <p:spPr>
          <a:xfrm>
            <a:off x="4941924" y="4743804"/>
            <a:ext cx="5394960" cy="313932"/>
          </a:xfrm>
          <a:prstGeom prst="rect">
            <a:avLst/>
          </a:prstGeom>
          <a:noFill/>
        </p:spPr>
        <p:txBody>
          <a:bodyPr wrap="square" lIns="45720" tIns="18288" rIns="45720" bIns="18288" anchor="ctr">
            <a:spAutoFit/>
          </a:bodyPr>
          <a:lstStyle/>
          <a:p>
            <a:pPr algn="l"/>
            <a:r>
              <a:rPr lang="ja-JP" altLang="en-US" b="0">
                <a:solidFill>
                  <a:srgbClr val="191919"/>
                </a:solidFill>
                <a:latin typeface="Aptos"/>
              </a:rPr>
              <a:t>モデルの比較</a:t>
            </a:r>
            <a:endParaRPr b="0" dirty="0">
              <a:solidFill>
                <a:srgbClr val="191919"/>
              </a:solidFill>
              <a:latin typeface="Aptos"/>
            </a:endParaRPr>
          </a:p>
        </p:txBody>
      </p:sp>
      <p:sp>
        <p:nvSpPr>
          <p:cNvPr id="45" name="TextBox 5">
            <a:extLst>
              <a:ext uri="{FF2B5EF4-FFF2-40B4-BE49-F238E27FC236}">
                <a16:creationId xmlns:a16="http://schemas.microsoft.com/office/drawing/2014/main" id="{92F3BEC7-4223-6227-D8D1-BB744BB90722}"/>
              </a:ext>
            </a:extLst>
          </p:cNvPr>
          <p:cNvSpPr txBox="1"/>
          <p:nvPr/>
        </p:nvSpPr>
        <p:spPr>
          <a:xfrm>
            <a:off x="2133605" y="2064165"/>
            <a:ext cx="1143000" cy="406265"/>
          </a:xfrm>
          <a:prstGeom prst="rect">
            <a:avLst/>
          </a:prstGeom>
          <a:noFill/>
        </p:spPr>
        <p:txBody>
          <a:bodyPr wrap="square" lIns="45720" tIns="18288" rIns="45720" bIns="18288" anchor="ctr">
            <a:spAutoFit/>
          </a:bodyPr>
          <a:lstStyle/>
          <a:p>
            <a:pPr algn="l"/>
            <a:r>
              <a:rPr lang="ja-JP" altLang="en-US" sz="2400" b="1">
                <a:solidFill>
                  <a:srgbClr val="FFA902"/>
                </a:solidFill>
                <a:latin typeface="Aptos"/>
              </a:rPr>
              <a:t>第５回</a:t>
            </a:r>
            <a:endParaRPr sz="2400" b="1" dirty="0">
              <a:solidFill>
                <a:srgbClr val="FFA902"/>
              </a:solidFill>
              <a:latin typeface="Aptos"/>
            </a:endParaRPr>
          </a:p>
        </p:txBody>
      </p:sp>
      <p:sp>
        <p:nvSpPr>
          <p:cNvPr id="46" name="TextBox 8">
            <a:extLst>
              <a:ext uri="{FF2B5EF4-FFF2-40B4-BE49-F238E27FC236}">
                <a16:creationId xmlns:a16="http://schemas.microsoft.com/office/drawing/2014/main" id="{2336775E-16B1-9C72-9768-A7A83F133570}"/>
              </a:ext>
            </a:extLst>
          </p:cNvPr>
          <p:cNvSpPr txBox="1"/>
          <p:nvPr/>
        </p:nvSpPr>
        <p:spPr>
          <a:xfrm>
            <a:off x="2133605" y="2722533"/>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第６回</a:t>
            </a:r>
            <a:endParaRPr lang="ja-JP" altLang="en-US" sz="2400" b="1" dirty="0">
              <a:solidFill>
                <a:srgbClr val="FFA902"/>
              </a:solidFill>
              <a:latin typeface="Aptos"/>
            </a:endParaRPr>
          </a:p>
        </p:txBody>
      </p:sp>
      <p:sp>
        <p:nvSpPr>
          <p:cNvPr id="47" name="TextBox 11">
            <a:extLst>
              <a:ext uri="{FF2B5EF4-FFF2-40B4-BE49-F238E27FC236}">
                <a16:creationId xmlns:a16="http://schemas.microsoft.com/office/drawing/2014/main" id="{36C3AB43-1563-5DDA-1791-55A7DDEE6BD3}"/>
              </a:ext>
            </a:extLst>
          </p:cNvPr>
          <p:cNvSpPr txBox="1"/>
          <p:nvPr/>
        </p:nvSpPr>
        <p:spPr>
          <a:xfrm>
            <a:off x="2133605" y="3380901"/>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第７回</a:t>
            </a:r>
            <a:endParaRPr lang="ja-JP" altLang="en-US" sz="2400" b="1" dirty="0">
              <a:solidFill>
                <a:srgbClr val="FFA902"/>
              </a:solidFill>
              <a:latin typeface="Aptos"/>
            </a:endParaRPr>
          </a:p>
        </p:txBody>
      </p:sp>
      <p:sp>
        <p:nvSpPr>
          <p:cNvPr id="48" name="TextBox 14">
            <a:extLst>
              <a:ext uri="{FF2B5EF4-FFF2-40B4-BE49-F238E27FC236}">
                <a16:creationId xmlns:a16="http://schemas.microsoft.com/office/drawing/2014/main" id="{90C32C3B-4A53-B547-87B6-4B0EA846BA6C}"/>
              </a:ext>
            </a:extLst>
          </p:cNvPr>
          <p:cNvSpPr txBox="1"/>
          <p:nvPr/>
        </p:nvSpPr>
        <p:spPr>
          <a:xfrm>
            <a:off x="2133605" y="4039269"/>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第８回</a:t>
            </a:r>
            <a:endParaRPr lang="ja-JP" altLang="en-US" sz="2400" b="1" dirty="0">
              <a:solidFill>
                <a:srgbClr val="FFA902"/>
              </a:solidFill>
              <a:latin typeface="Aptos"/>
            </a:endParaRPr>
          </a:p>
        </p:txBody>
      </p:sp>
      <p:sp>
        <p:nvSpPr>
          <p:cNvPr id="49" name="TextBox 17">
            <a:extLst>
              <a:ext uri="{FF2B5EF4-FFF2-40B4-BE49-F238E27FC236}">
                <a16:creationId xmlns:a16="http://schemas.microsoft.com/office/drawing/2014/main" id="{0CC89389-86A3-8BF6-BA97-8DC3EF9B5FC9}"/>
              </a:ext>
            </a:extLst>
          </p:cNvPr>
          <p:cNvSpPr txBox="1"/>
          <p:nvPr/>
        </p:nvSpPr>
        <p:spPr>
          <a:xfrm>
            <a:off x="2133605" y="4697637"/>
            <a:ext cx="1143000" cy="406265"/>
          </a:xfrm>
          <a:prstGeom prst="rect">
            <a:avLst/>
          </a:prstGeom>
          <a:noFill/>
        </p:spPr>
        <p:txBody>
          <a:bodyPr wrap="square" lIns="45720" tIns="18288" rIns="45720" bIns="18288" anchor="ctr">
            <a:spAutoFit/>
          </a:bodyPr>
          <a:lstStyle/>
          <a:p>
            <a:r>
              <a:rPr lang="ja-JP" altLang="en-US" sz="2400" b="1">
                <a:solidFill>
                  <a:srgbClr val="FFA902"/>
                </a:solidFill>
                <a:latin typeface="Aptos"/>
              </a:rPr>
              <a:t>第９回</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11" name="スライド番号プレースホルダー 10">
            <a:extLst>
              <a:ext uri="{FF2B5EF4-FFF2-40B4-BE49-F238E27FC236}">
                <a16:creationId xmlns:a16="http://schemas.microsoft.com/office/drawing/2014/main" id="{D29A8809-0BAE-995D-06EA-2F866A383361}"/>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85" name="Rectangle 2">
            <a:extLst>
              <a:ext uri="{FF2B5EF4-FFF2-40B4-BE49-F238E27FC236}">
                <a16:creationId xmlns:a16="http://schemas.microsoft.com/office/drawing/2014/main" id="{1517B5F9-39DA-A053-FA8A-2312E54EA957}"/>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6" name="Rectangle 3">
            <a:extLst>
              <a:ext uri="{FF2B5EF4-FFF2-40B4-BE49-F238E27FC236}">
                <a16:creationId xmlns:a16="http://schemas.microsoft.com/office/drawing/2014/main" id="{8691E16B-4C66-1301-A389-AE7B6BC57DCC}"/>
              </a:ext>
            </a:extLst>
          </p:cNvPr>
          <p:cNvSpPr/>
          <p:nvPr/>
        </p:nvSpPr>
        <p:spPr>
          <a:xfrm>
            <a:off x="4297680" y="438912"/>
            <a:ext cx="7534656" cy="91440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4">
            <a:extLst>
              <a:ext uri="{FF2B5EF4-FFF2-40B4-BE49-F238E27FC236}">
                <a16:creationId xmlns:a16="http://schemas.microsoft.com/office/drawing/2014/main" id="{98370165-0781-B644-C754-00279895642E}"/>
              </a:ext>
            </a:extLst>
          </p:cNvPr>
          <p:cNvSpPr txBox="1"/>
          <p:nvPr/>
        </p:nvSpPr>
        <p:spPr>
          <a:xfrm>
            <a:off x="4590288" y="718962"/>
            <a:ext cx="6949440" cy="390876"/>
          </a:xfrm>
          <a:prstGeom prst="rect">
            <a:avLst/>
          </a:prstGeom>
          <a:noFill/>
        </p:spPr>
        <p:txBody>
          <a:bodyPr wrap="square" lIns="45720" tIns="18288" rIns="45720" bIns="18288" anchor="ctr">
            <a:spAutoFit/>
          </a:bodyPr>
          <a:lstStyle/>
          <a:p>
            <a:pPr algn="l"/>
            <a:r>
              <a:rPr lang="ja-JP" altLang="en-US" sz="2300" b="1">
                <a:solidFill>
                  <a:srgbClr val="191919"/>
                </a:solidFill>
                <a:latin typeface="Aptos"/>
              </a:rPr>
              <a:t>モデルの入手と印刷設定</a:t>
            </a:r>
            <a:endParaRPr sz="2300" b="1" dirty="0">
              <a:solidFill>
                <a:srgbClr val="191919"/>
              </a:solidFill>
              <a:latin typeface="Aptos"/>
            </a:endParaRPr>
          </a:p>
        </p:txBody>
      </p:sp>
      <p:sp>
        <p:nvSpPr>
          <p:cNvPr id="88" name="TextBox 5">
            <a:extLst>
              <a:ext uri="{FF2B5EF4-FFF2-40B4-BE49-F238E27FC236}">
                <a16:creationId xmlns:a16="http://schemas.microsoft.com/office/drawing/2014/main" id="{C2DA9D23-A115-0C28-9DF3-D5F5CDD41BFF}"/>
              </a:ext>
            </a:extLst>
          </p:cNvPr>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dirty="0">
                <a:solidFill>
                  <a:srgbClr val="FFA900"/>
                </a:solidFill>
                <a:latin typeface="Aptos"/>
              </a:rPr>
              <a:t>02 / 3D PRINTING</a:t>
            </a:r>
          </a:p>
        </p:txBody>
      </p:sp>
      <p:sp>
        <p:nvSpPr>
          <p:cNvPr id="89" name="TextBox 6">
            <a:extLst>
              <a:ext uri="{FF2B5EF4-FFF2-40B4-BE49-F238E27FC236}">
                <a16:creationId xmlns:a16="http://schemas.microsoft.com/office/drawing/2014/main" id="{579E30CF-4508-5731-C45A-B581F8FD4B07}"/>
              </a:ext>
            </a:extLst>
          </p:cNvPr>
          <p:cNvSpPr txBox="1"/>
          <p:nvPr/>
        </p:nvSpPr>
        <p:spPr>
          <a:xfrm>
            <a:off x="713232" y="886453"/>
            <a:ext cx="3447288" cy="421654"/>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3Dプリント</a:t>
            </a:r>
            <a:endParaRPr sz="2500" b="1" dirty="0">
              <a:solidFill>
                <a:srgbClr val="191919"/>
              </a:solidFill>
              <a:latin typeface="Aptos"/>
            </a:endParaRPr>
          </a:p>
        </p:txBody>
      </p:sp>
      <p:sp>
        <p:nvSpPr>
          <p:cNvPr id="90" name="Rectangle 6">
            <a:extLst>
              <a:ext uri="{FF2B5EF4-FFF2-40B4-BE49-F238E27FC236}">
                <a16:creationId xmlns:a16="http://schemas.microsoft.com/office/drawing/2014/main" id="{3BC8848C-EB5A-CEA3-AFB6-B065398957DB}"/>
              </a:ext>
            </a:extLst>
          </p:cNvPr>
          <p:cNvSpPr/>
          <p:nvPr/>
        </p:nvSpPr>
        <p:spPr>
          <a:xfrm>
            <a:off x="638289" y="3423799"/>
            <a:ext cx="5361433" cy="267004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7">
            <a:extLst>
              <a:ext uri="{FF2B5EF4-FFF2-40B4-BE49-F238E27FC236}">
                <a16:creationId xmlns:a16="http://schemas.microsoft.com/office/drawing/2014/main" id="{C2C4D7D5-1DBC-9504-C258-54621FFD41E7}"/>
              </a:ext>
            </a:extLst>
          </p:cNvPr>
          <p:cNvSpPr/>
          <p:nvPr/>
        </p:nvSpPr>
        <p:spPr>
          <a:xfrm>
            <a:off x="638289" y="3423129"/>
            <a:ext cx="5361433" cy="233248"/>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1">
            <a:extLst>
              <a:ext uri="{FF2B5EF4-FFF2-40B4-BE49-F238E27FC236}">
                <a16:creationId xmlns:a16="http://schemas.microsoft.com/office/drawing/2014/main" id="{9366A8FC-3593-7E9D-DA5F-DA3B429F131C}"/>
              </a:ext>
            </a:extLst>
          </p:cNvPr>
          <p:cNvSpPr txBox="1"/>
          <p:nvPr/>
        </p:nvSpPr>
        <p:spPr>
          <a:xfrm>
            <a:off x="784668" y="3730752"/>
            <a:ext cx="5074920" cy="2304288"/>
          </a:xfrm>
          <a:prstGeom prst="rect">
            <a:avLst/>
          </a:prstGeom>
          <a:noFill/>
        </p:spPr>
        <p:txBody>
          <a:bodyPr wrap="square" lIns="45720" tIns="25400" rIns="45720" bIns="0" anchor="t">
            <a:noAutofit/>
          </a:bodyPr>
          <a:lstStyle/>
          <a:p>
            <a:pPr>
              <a:spcBef>
                <a:spcPts val="400"/>
              </a:spcBef>
              <a:spcAft>
                <a:spcPts val="200"/>
              </a:spcAft>
            </a:pPr>
            <a:r>
              <a:rPr lang="ja-JP" altLang="en-US" sz="1500" b="1">
                <a:solidFill>
                  <a:srgbClr val="E89200"/>
                </a:solidFill>
                <a:latin typeface="Yu Gothic"/>
              </a:rPr>
              <a:t>●プリントにかかる時間</a:t>
            </a:r>
          </a:p>
          <a:p>
            <a:pPr>
              <a:spcBef>
                <a:spcPts val="0"/>
              </a:spcBef>
              <a:spcAft>
                <a:spcPts val="200"/>
              </a:spcAft>
            </a:pPr>
            <a:r>
              <a:rPr lang="ja-JP" altLang="en-US" sz="1300">
                <a:latin typeface="Yu Gothic" panose="020B0400000000000000" pitchFamily="34" charset="-128"/>
                <a:ea typeface="Yu Gothic" panose="020B0400000000000000" pitchFamily="34" charset="-128"/>
              </a:rPr>
              <a:t>・Bambu版：合計 約25時間（9時間×2＋3.5時間×2）</a:t>
            </a:r>
            <a:endParaRPr lang="en-US" altLang="ja-JP" sz="1400" dirty="0">
              <a:latin typeface="Yu Gothic" panose="020B0400000000000000" pitchFamily="34" charset="-128"/>
              <a:ea typeface="Yu Gothic" panose="020B0400000000000000" pitchFamily="34" charset="-128"/>
            </a:endParaRPr>
          </a:p>
          <a:p>
            <a:pPr>
              <a:spcBef>
                <a:spcPts val="0"/>
              </a:spcBef>
              <a:spcAft>
                <a:spcPts val="200"/>
              </a:spcAft>
            </a:pPr>
            <a:r>
              <a:rPr lang="ja-JP" altLang="en-US" sz="1300">
                <a:latin typeface="Yu Gothic" panose="020B0400000000000000" pitchFamily="34" charset="-128"/>
                <a:ea typeface="Yu Gothic" panose="020B0400000000000000" pitchFamily="34" charset="-128"/>
              </a:rPr>
              <a:t>・公式版：合計</a:t>
            </a:r>
            <a:r>
              <a:rPr lang="en-US" altLang="ja-JP" sz="1300" dirty="0">
                <a:latin typeface="Yu Gothic" panose="020B0400000000000000" pitchFamily="34" charset="-128"/>
                <a:ea typeface="Yu Gothic" panose="020B0400000000000000" pitchFamily="34" charset="-128"/>
              </a:rPr>
              <a:t> </a:t>
            </a:r>
            <a:r>
              <a:rPr lang="ja-JP" altLang="en-US" sz="1300">
                <a:latin typeface="Yu Gothic" panose="020B0400000000000000" pitchFamily="34" charset="-128"/>
                <a:ea typeface="Yu Gothic" panose="020B0400000000000000" pitchFamily="34" charset="-128"/>
              </a:rPr>
              <a:t>約</a:t>
            </a:r>
            <a:r>
              <a:rPr lang="en-US" altLang="ja-JP" sz="1300" dirty="0">
                <a:latin typeface="Yu Gothic" panose="020B0400000000000000" pitchFamily="34" charset="-128"/>
                <a:ea typeface="Yu Gothic" panose="020B0400000000000000" pitchFamily="34" charset="-128"/>
              </a:rPr>
              <a:t>32</a:t>
            </a:r>
            <a:r>
              <a:rPr lang="ja-JP" altLang="en-US" sz="1300">
                <a:latin typeface="Yu Gothic" panose="020B0400000000000000" pitchFamily="34" charset="-128"/>
                <a:ea typeface="Yu Gothic" panose="020B0400000000000000" pitchFamily="34" charset="-128"/>
              </a:rPr>
              <a:t>時間（</a:t>
            </a:r>
            <a:r>
              <a:rPr lang="en-US" altLang="ja-JP" sz="1300" dirty="0">
                <a:latin typeface="Yu Gothic" panose="020B0400000000000000" pitchFamily="34" charset="-128"/>
                <a:ea typeface="Yu Gothic" panose="020B0400000000000000" pitchFamily="34" charset="-128"/>
              </a:rPr>
              <a:t>16</a:t>
            </a:r>
            <a:r>
              <a:rPr lang="ja-JP" altLang="en-US" sz="1300">
                <a:latin typeface="Yu Gothic" panose="020B0400000000000000" pitchFamily="34" charset="-128"/>
                <a:ea typeface="Yu Gothic" panose="020B0400000000000000" pitchFamily="34" charset="-128"/>
              </a:rPr>
              <a:t>時間×2 ）</a:t>
            </a:r>
            <a:endParaRPr lang="en-US" altLang="ja-JP" sz="1400" dirty="0">
              <a:latin typeface="Yu Gothic" panose="020B0400000000000000" pitchFamily="34" charset="-128"/>
              <a:ea typeface="Yu Gothic" panose="020B0400000000000000" pitchFamily="34" charset="-128"/>
            </a:endParaRPr>
          </a:p>
          <a:p>
            <a:pPr>
              <a:spcBef>
                <a:spcPts val="400"/>
              </a:spcBef>
              <a:spcAft>
                <a:spcPts val="200"/>
              </a:spcAft>
            </a:pPr>
            <a:r>
              <a:rPr lang="ja-JP" altLang="en-US" sz="1500" b="1">
                <a:solidFill>
                  <a:srgbClr val="E89200"/>
                </a:solidFill>
                <a:latin typeface="Yu Gothic"/>
              </a:rPr>
              <a:t>●気をつけた点</a:t>
            </a:r>
            <a:endParaRPr sz="1600" b="1" dirty="0">
              <a:solidFill>
                <a:srgbClr val="E89200"/>
              </a:solidFill>
              <a:latin typeface="Yu Gothic"/>
            </a:endParaRPr>
          </a:p>
          <a:p>
            <a:pPr>
              <a:spcBef>
                <a:spcPts val="0"/>
              </a:spcBef>
              <a:spcAft>
                <a:spcPts val="200"/>
              </a:spcAft>
            </a:pPr>
            <a:r>
              <a:rPr sz="1300" dirty="0">
                <a:solidFill>
                  <a:srgbClr val="1A1A1A"/>
                </a:solidFill>
                <a:latin typeface="Yu Gothic"/>
              </a:rPr>
              <a:t>・</a:t>
            </a:r>
            <a:r>
              <a:rPr sz="1300" dirty="0" err="1">
                <a:solidFill>
                  <a:srgbClr val="1A1A1A"/>
                </a:solidFill>
                <a:latin typeface="Yu Gothic"/>
              </a:rPr>
              <a:t>複数色の部品は一色ずつ印刷する</a:t>
            </a:r>
            <a:endParaRPr sz="1400" dirty="0">
              <a:solidFill>
                <a:srgbClr val="1A1A1A"/>
              </a:solidFill>
              <a:latin typeface="Yu Gothic"/>
            </a:endParaRPr>
          </a:p>
          <a:p>
            <a:pPr>
              <a:spcBef>
                <a:spcPts val="0"/>
              </a:spcBef>
              <a:spcAft>
                <a:spcPts val="200"/>
              </a:spcAft>
            </a:pPr>
            <a:r>
              <a:rPr lang="ja-JP" altLang="en-US" sz="1300">
                <a:solidFill>
                  <a:srgbClr val="1A1A1A"/>
                </a:solidFill>
                <a:latin typeface="Yu Gothic" panose="020B0400000000000000" pitchFamily="34" charset="-128"/>
                <a:ea typeface="Yu Gothic" panose="020B0400000000000000" pitchFamily="34" charset="-128"/>
              </a:rPr>
              <a:t>・組み立て前にバリをしっかり取る</a:t>
            </a:r>
          </a:p>
          <a:p>
            <a:pPr>
              <a:spcBef>
                <a:spcPts val="400"/>
              </a:spcBef>
              <a:spcAft>
                <a:spcPts val="200"/>
              </a:spcAft>
            </a:pPr>
            <a:r>
              <a:rPr lang="ja-JP" altLang="en-US" sz="1500" b="1">
                <a:solidFill>
                  <a:srgbClr val="E89200"/>
                </a:solidFill>
                <a:latin typeface="Yu Gothic"/>
              </a:rPr>
              <a:t>●途中モデルを変更した理由</a:t>
            </a:r>
          </a:p>
          <a:p>
            <a:pPr>
              <a:spcBef>
                <a:spcPts val="0"/>
              </a:spcBef>
              <a:spcAft>
                <a:spcPts val="200"/>
              </a:spcAft>
            </a:pPr>
            <a:r>
              <a:rPr sz="1300" dirty="0" err="1">
                <a:solidFill>
                  <a:srgbClr val="1A1A1A"/>
                </a:solidFill>
                <a:latin typeface="Yu Gothic"/>
              </a:rPr>
              <a:t>ライブラリ版は印刷面の粗さやスパゲッティエラーが</a:t>
            </a:r>
            <a:r>
              <a:rPr lang="ja-JP" altLang="en-US" sz="1300">
                <a:solidFill>
                  <a:srgbClr val="1A1A1A"/>
                </a:solidFill>
                <a:latin typeface="Yu Gothic" panose="020B0400000000000000" pitchFamily="34" charset="-128"/>
                <a:ea typeface="Yu Gothic" panose="020B0400000000000000" pitchFamily="34" charset="-128"/>
              </a:rPr>
              <a:t>多発</a:t>
            </a:r>
            <a:endParaRPr sz="1300" dirty="0">
              <a:solidFill>
                <a:srgbClr val="1A1A1A"/>
              </a:solidFill>
              <a:latin typeface="Yu Gothic" panose="020B0400000000000000" pitchFamily="34" charset="-128"/>
              <a:ea typeface="Yu Gothic" panose="020B0400000000000000" pitchFamily="34" charset="-128"/>
            </a:endParaRPr>
          </a:p>
          <a:p>
            <a:pPr>
              <a:spcBef>
                <a:spcPts val="0"/>
              </a:spcBef>
              <a:spcAft>
                <a:spcPts val="200"/>
              </a:spcAft>
            </a:pPr>
            <a:r>
              <a:rPr sz="1300" dirty="0" err="1">
                <a:solidFill>
                  <a:srgbClr val="1A1A1A"/>
                </a:solidFill>
                <a:latin typeface="Yu Gothic"/>
              </a:rPr>
              <a:t>公式モデルへ変更したところ安定した</a:t>
            </a:r>
            <a:endParaRPr sz="1400" dirty="0">
              <a:solidFill>
                <a:srgbClr val="1A1A1A"/>
              </a:solidFill>
              <a:latin typeface="Yu Gothic"/>
            </a:endParaRPr>
          </a:p>
        </p:txBody>
      </p:sp>
      <p:pic>
        <p:nvPicPr>
          <p:cNvPr id="99" name="図 98">
            <a:extLst>
              <a:ext uri="{FF2B5EF4-FFF2-40B4-BE49-F238E27FC236}">
                <a16:creationId xmlns:a16="http://schemas.microsoft.com/office/drawing/2014/main" id="{5CB8023A-962F-6BF5-AFC5-C36AEAF71586}"/>
              </a:ext>
            </a:extLst>
          </p:cNvPr>
          <p:cNvPicPr>
            <a:picLocks noChangeAspect="1"/>
          </p:cNvPicPr>
          <p:nvPr/>
        </p:nvPicPr>
        <p:blipFill>
          <a:blip r:embed="rId3"/>
          <a:srcRect/>
          <a:stretch>
            <a:fillRect/>
          </a:stretch>
        </p:blipFill>
        <p:spPr>
          <a:xfrm>
            <a:off x="9030335" y="3588324"/>
            <a:ext cx="2524552" cy="2524552"/>
          </a:xfrm>
          <a:prstGeom prst="rect">
            <a:avLst/>
          </a:prstGeom>
        </p:spPr>
      </p:pic>
      <p:pic>
        <p:nvPicPr>
          <p:cNvPr id="100" name="図 99">
            <a:extLst>
              <a:ext uri="{FF2B5EF4-FFF2-40B4-BE49-F238E27FC236}">
                <a16:creationId xmlns:a16="http://schemas.microsoft.com/office/drawing/2014/main" id="{3C5B7770-192E-F923-FCD7-58682B4E6247}"/>
              </a:ext>
            </a:extLst>
          </p:cNvPr>
          <p:cNvPicPr>
            <a:picLocks noChangeAspect="1"/>
          </p:cNvPicPr>
          <p:nvPr/>
        </p:nvPicPr>
        <p:blipFill>
          <a:blip r:embed="rId4"/>
          <a:srcRect l="34543" t="38394" r="9363" b="12777"/>
          <a:stretch>
            <a:fillRect/>
          </a:stretch>
        </p:blipFill>
        <p:spPr>
          <a:xfrm>
            <a:off x="6294733" y="1813318"/>
            <a:ext cx="2651760" cy="1600200"/>
          </a:xfrm>
          <a:prstGeom prst="rect">
            <a:avLst/>
          </a:prstGeom>
        </p:spPr>
      </p:pic>
      <p:pic>
        <p:nvPicPr>
          <p:cNvPr id="101" name="図 100">
            <a:extLst>
              <a:ext uri="{FF2B5EF4-FFF2-40B4-BE49-F238E27FC236}">
                <a16:creationId xmlns:a16="http://schemas.microsoft.com/office/drawing/2014/main" id="{BEFD7DA0-E091-CABA-C01F-C0A4CCD02F77}"/>
              </a:ext>
            </a:extLst>
          </p:cNvPr>
          <p:cNvPicPr>
            <a:picLocks noChangeAspect="1"/>
          </p:cNvPicPr>
          <p:nvPr/>
        </p:nvPicPr>
        <p:blipFill>
          <a:blip r:embed="rId5"/>
          <a:srcRect l="47301" t="18692" r="20314" b="24426"/>
          <a:stretch>
            <a:fillRect/>
          </a:stretch>
        </p:blipFill>
        <p:spPr>
          <a:xfrm rot="5400000">
            <a:off x="9494637" y="1368427"/>
            <a:ext cx="1600200" cy="2489982"/>
          </a:xfrm>
          <a:prstGeom prst="rect">
            <a:avLst/>
          </a:prstGeom>
        </p:spPr>
      </p:pic>
      <p:pic>
        <p:nvPicPr>
          <p:cNvPr id="102" name="図 101">
            <a:extLst>
              <a:ext uri="{FF2B5EF4-FFF2-40B4-BE49-F238E27FC236}">
                <a16:creationId xmlns:a16="http://schemas.microsoft.com/office/drawing/2014/main" id="{55E398F4-3FDE-86EE-45F8-C9730F5515B1}"/>
              </a:ext>
            </a:extLst>
          </p:cNvPr>
          <p:cNvPicPr>
            <a:picLocks noChangeAspect="1"/>
          </p:cNvPicPr>
          <p:nvPr/>
        </p:nvPicPr>
        <p:blipFill>
          <a:blip r:embed="rId6"/>
          <a:stretch>
            <a:fillRect/>
          </a:stretch>
        </p:blipFill>
        <p:spPr>
          <a:xfrm>
            <a:off x="6296784" y="2835219"/>
            <a:ext cx="1325880" cy="950976"/>
          </a:xfrm>
          <a:prstGeom prst="rect">
            <a:avLst/>
          </a:prstGeom>
        </p:spPr>
      </p:pic>
      <p:sp>
        <p:nvSpPr>
          <p:cNvPr id="103" name="TextBox 93">
            <a:extLst>
              <a:ext uri="{FF2B5EF4-FFF2-40B4-BE49-F238E27FC236}">
                <a16:creationId xmlns:a16="http://schemas.microsoft.com/office/drawing/2014/main" id="{8102116F-96B9-D7E5-2AC9-8F1751F83CFB}"/>
              </a:ext>
            </a:extLst>
          </p:cNvPr>
          <p:cNvSpPr txBox="1"/>
          <p:nvPr/>
        </p:nvSpPr>
        <p:spPr>
          <a:xfrm>
            <a:off x="6529830" y="3511986"/>
            <a:ext cx="2377440" cy="138499"/>
          </a:xfrm>
          <a:prstGeom prst="rect">
            <a:avLst/>
          </a:prstGeom>
          <a:noFill/>
        </p:spPr>
        <p:txBody>
          <a:bodyPr wrap="square" lIns="0" tIns="0" rIns="0" bIns="0">
            <a:spAutoFit/>
          </a:bodyPr>
          <a:lstStyle/>
          <a:p>
            <a:pPr algn="r"/>
            <a:r>
              <a:rPr lang="en-US" altLang="ja-JP" sz="900" dirty="0">
                <a:latin typeface="Yu Gothic"/>
              </a:rPr>
              <a:t>Bambu</a:t>
            </a:r>
            <a:r>
              <a:rPr lang="ja-JP" altLang="en-US" sz="900">
                <a:latin typeface="Yu Gothic"/>
              </a:rPr>
              <a:t>ライブラリのモデル</a:t>
            </a:r>
            <a:endParaRPr sz="900" dirty="0">
              <a:latin typeface="Yu Gothic"/>
            </a:endParaRPr>
          </a:p>
        </p:txBody>
      </p:sp>
      <p:sp>
        <p:nvSpPr>
          <p:cNvPr id="104" name="TextBox 94">
            <a:extLst>
              <a:ext uri="{FF2B5EF4-FFF2-40B4-BE49-F238E27FC236}">
                <a16:creationId xmlns:a16="http://schemas.microsoft.com/office/drawing/2014/main" id="{1FD42D76-73A7-0F3B-D4FD-F1FF17745739}"/>
              </a:ext>
            </a:extLst>
          </p:cNvPr>
          <p:cNvSpPr txBox="1"/>
          <p:nvPr/>
        </p:nvSpPr>
        <p:spPr>
          <a:xfrm>
            <a:off x="9107424" y="3510183"/>
            <a:ext cx="2377440" cy="138499"/>
          </a:xfrm>
          <a:prstGeom prst="rect">
            <a:avLst/>
          </a:prstGeom>
          <a:noFill/>
        </p:spPr>
        <p:txBody>
          <a:bodyPr wrap="square" lIns="0" tIns="0" rIns="0" bIns="0">
            <a:spAutoFit/>
          </a:bodyPr>
          <a:lstStyle/>
          <a:p>
            <a:pPr algn="r"/>
            <a:r>
              <a:rPr lang="ja-JP" altLang="en-US" sz="900">
                <a:latin typeface="Yu Gothic"/>
              </a:rPr>
              <a:t>公式ライブラリのモデル</a:t>
            </a:r>
            <a:endParaRPr lang="ja-JP" altLang="en-US" sz="900" dirty="0">
              <a:latin typeface="Yu Gothic"/>
            </a:endParaRPr>
          </a:p>
        </p:txBody>
      </p:sp>
      <p:sp>
        <p:nvSpPr>
          <p:cNvPr id="105" name="TextBox 95">
            <a:extLst>
              <a:ext uri="{FF2B5EF4-FFF2-40B4-BE49-F238E27FC236}">
                <a16:creationId xmlns:a16="http://schemas.microsoft.com/office/drawing/2014/main" id="{73060B22-3A38-6947-9BB6-2BAB33B34783}"/>
              </a:ext>
            </a:extLst>
          </p:cNvPr>
          <p:cNvSpPr txBox="1"/>
          <p:nvPr/>
        </p:nvSpPr>
        <p:spPr>
          <a:xfrm>
            <a:off x="7983415" y="5914694"/>
            <a:ext cx="891567" cy="138499"/>
          </a:xfrm>
          <a:prstGeom prst="rect">
            <a:avLst/>
          </a:prstGeom>
          <a:noFill/>
        </p:spPr>
        <p:txBody>
          <a:bodyPr wrap="square" lIns="0" tIns="0" rIns="0" bIns="0">
            <a:spAutoFit/>
          </a:bodyPr>
          <a:lstStyle/>
          <a:p>
            <a:pPr algn="ctr"/>
            <a:r>
              <a:rPr lang="ja-JP" altLang="en-US" sz="900">
                <a:latin typeface="Yu Gothic"/>
              </a:rPr>
              <a:t>実際の印刷</a:t>
            </a:r>
            <a:endParaRPr sz="900" dirty="0">
              <a:latin typeface="Yu Gothic"/>
            </a:endParaRPr>
          </a:p>
        </p:txBody>
      </p:sp>
      <p:sp>
        <p:nvSpPr>
          <p:cNvPr id="106" name="TextBox 96">
            <a:extLst>
              <a:ext uri="{FF2B5EF4-FFF2-40B4-BE49-F238E27FC236}">
                <a16:creationId xmlns:a16="http://schemas.microsoft.com/office/drawing/2014/main" id="{CAB5BF82-9BDE-13D6-9C9E-5386547D34D2}"/>
              </a:ext>
            </a:extLst>
          </p:cNvPr>
          <p:cNvSpPr txBox="1"/>
          <p:nvPr/>
        </p:nvSpPr>
        <p:spPr>
          <a:xfrm>
            <a:off x="10373642" y="5937146"/>
            <a:ext cx="1166086" cy="138499"/>
          </a:xfrm>
          <a:prstGeom prst="rect">
            <a:avLst/>
          </a:prstGeom>
          <a:noFill/>
        </p:spPr>
        <p:txBody>
          <a:bodyPr wrap="square" lIns="0" tIns="0" rIns="0" bIns="0">
            <a:spAutoFit/>
          </a:bodyPr>
          <a:lstStyle/>
          <a:p>
            <a:pPr algn="ctr"/>
            <a:r>
              <a:rPr lang="en-US" altLang="ja-JP" sz="900" dirty="0"/>
              <a:t>Bambu Lab </a:t>
            </a:r>
            <a:r>
              <a:rPr lang="ja-JP" altLang="ja-JP" sz="900"/>
              <a:t>P2S</a:t>
            </a:r>
            <a:endParaRPr sz="900" dirty="0">
              <a:latin typeface="Yu Gothic"/>
            </a:endParaRPr>
          </a:p>
        </p:txBody>
      </p:sp>
      <p:sp>
        <p:nvSpPr>
          <p:cNvPr id="107" name="Rectangle 6">
            <a:extLst>
              <a:ext uri="{FF2B5EF4-FFF2-40B4-BE49-F238E27FC236}">
                <a16:creationId xmlns:a16="http://schemas.microsoft.com/office/drawing/2014/main" id="{D5705711-72C4-3EDF-D145-BFB52E3715D3}"/>
              </a:ext>
            </a:extLst>
          </p:cNvPr>
          <p:cNvSpPr/>
          <p:nvPr/>
        </p:nvSpPr>
        <p:spPr>
          <a:xfrm>
            <a:off x="548639" y="1855397"/>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08" name="TextBox 7">
            <a:extLst>
              <a:ext uri="{FF2B5EF4-FFF2-40B4-BE49-F238E27FC236}">
                <a16:creationId xmlns:a16="http://schemas.microsoft.com/office/drawing/2014/main" id="{7A63010A-0CED-F03A-4F37-1B32AE69B565}"/>
              </a:ext>
            </a:extLst>
          </p:cNvPr>
          <p:cNvSpPr txBox="1"/>
          <p:nvPr/>
        </p:nvSpPr>
        <p:spPr>
          <a:xfrm>
            <a:off x="594359" y="2023845"/>
            <a:ext cx="1112341" cy="190821"/>
          </a:xfrm>
          <a:prstGeom prst="rect">
            <a:avLst/>
          </a:prstGeom>
          <a:noFill/>
        </p:spPr>
        <p:txBody>
          <a:bodyPr wrap="square" lIns="45720" tIns="18288" rIns="45720" bIns="18288" anchor="ctr">
            <a:spAutoFit/>
          </a:bodyPr>
          <a:lstStyle/>
          <a:p>
            <a:pPr algn="ctr"/>
            <a:r>
              <a:rPr sz="1000" b="1" dirty="0">
                <a:solidFill>
                  <a:srgbClr val="FFA900"/>
                </a:solidFill>
                <a:latin typeface="Aptos"/>
              </a:rPr>
              <a:t>01</a:t>
            </a:r>
          </a:p>
        </p:txBody>
      </p:sp>
      <p:sp>
        <p:nvSpPr>
          <p:cNvPr id="109" name="TextBox 8">
            <a:extLst>
              <a:ext uri="{FF2B5EF4-FFF2-40B4-BE49-F238E27FC236}">
                <a16:creationId xmlns:a16="http://schemas.microsoft.com/office/drawing/2014/main" id="{5EE8471B-F091-22A1-C77F-1B0D57A98AD4}"/>
              </a:ext>
            </a:extLst>
          </p:cNvPr>
          <p:cNvSpPr txBox="1"/>
          <p:nvPr/>
        </p:nvSpPr>
        <p:spPr>
          <a:xfrm>
            <a:off x="594359" y="2278014"/>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モデルを入手</a:t>
            </a:r>
            <a:endParaRPr sz="1050" b="1" dirty="0">
              <a:solidFill>
                <a:srgbClr val="191919"/>
              </a:solidFill>
              <a:latin typeface="Aptos"/>
            </a:endParaRPr>
          </a:p>
        </p:txBody>
      </p:sp>
      <p:sp>
        <p:nvSpPr>
          <p:cNvPr id="110" name="TextBox 9">
            <a:extLst>
              <a:ext uri="{FF2B5EF4-FFF2-40B4-BE49-F238E27FC236}">
                <a16:creationId xmlns:a16="http://schemas.microsoft.com/office/drawing/2014/main" id="{2829DB81-2859-66AE-FC31-F2314A0D8BD9}"/>
              </a:ext>
            </a:extLst>
          </p:cNvPr>
          <p:cNvSpPr txBox="1"/>
          <p:nvPr/>
        </p:nvSpPr>
        <p:spPr>
          <a:xfrm>
            <a:off x="621791" y="2624856"/>
            <a:ext cx="1088674" cy="160044"/>
          </a:xfrm>
          <a:prstGeom prst="rect">
            <a:avLst/>
          </a:prstGeom>
          <a:noFill/>
        </p:spPr>
        <p:txBody>
          <a:bodyPr wrap="square" lIns="45720" tIns="18288" rIns="45720" bIns="18288" anchor="ctr">
            <a:spAutoFit/>
          </a:bodyPr>
          <a:lstStyle/>
          <a:p>
            <a:pPr algn="ctr"/>
            <a:r>
              <a:rPr sz="800" b="0" dirty="0">
                <a:solidFill>
                  <a:srgbClr val="787873"/>
                </a:solidFill>
                <a:latin typeface="Aptos"/>
              </a:rPr>
              <a:t>STLを入手</a:t>
            </a:r>
          </a:p>
        </p:txBody>
      </p:sp>
      <p:sp>
        <p:nvSpPr>
          <p:cNvPr id="111" name="Rectangle 6">
            <a:extLst>
              <a:ext uri="{FF2B5EF4-FFF2-40B4-BE49-F238E27FC236}">
                <a16:creationId xmlns:a16="http://schemas.microsoft.com/office/drawing/2014/main" id="{8A1F2F7A-1ED3-0157-A054-9DAC63661540}"/>
              </a:ext>
            </a:extLst>
          </p:cNvPr>
          <p:cNvSpPr/>
          <p:nvPr/>
        </p:nvSpPr>
        <p:spPr>
          <a:xfrm>
            <a:off x="1983640" y="1855397"/>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2" name="TextBox 7">
            <a:extLst>
              <a:ext uri="{FF2B5EF4-FFF2-40B4-BE49-F238E27FC236}">
                <a16:creationId xmlns:a16="http://schemas.microsoft.com/office/drawing/2014/main" id="{6EC89D14-C815-9500-C0B4-51FBD63F6856}"/>
              </a:ext>
            </a:extLst>
          </p:cNvPr>
          <p:cNvSpPr txBox="1"/>
          <p:nvPr/>
        </p:nvSpPr>
        <p:spPr>
          <a:xfrm>
            <a:off x="2029360" y="2026098"/>
            <a:ext cx="1112341" cy="190821"/>
          </a:xfrm>
          <a:prstGeom prst="rect">
            <a:avLst/>
          </a:prstGeom>
          <a:noFill/>
        </p:spPr>
        <p:txBody>
          <a:bodyPr wrap="square" lIns="45720" tIns="18288" rIns="45720" bIns="18288" anchor="ctr">
            <a:spAutoFit/>
          </a:bodyPr>
          <a:lstStyle/>
          <a:p>
            <a:pPr algn="ctr"/>
            <a:r>
              <a:rPr sz="1000" b="1" dirty="0">
                <a:solidFill>
                  <a:srgbClr val="FFA900"/>
                </a:solidFill>
                <a:latin typeface="Aptos"/>
              </a:rPr>
              <a:t>0</a:t>
            </a:r>
            <a:r>
              <a:rPr lang="en-US" altLang="ja-JP" sz="1000" b="1" dirty="0">
                <a:solidFill>
                  <a:srgbClr val="FFA900"/>
                </a:solidFill>
                <a:latin typeface="Aptos"/>
              </a:rPr>
              <a:t>2</a:t>
            </a:r>
            <a:endParaRPr sz="1000" b="1" dirty="0">
              <a:solidFill>
                <a:srgbClr val="FFA900"/>
              </a:solidFill>
              <a:latin typeface="Aptos"/>
            </a:endParaRPr>
          </a:p>
        </p:txBody>
      </p:sp>
      <p:sp>
        <p:nvSpPr>
          <p:cNvPr id="113" name="TextBox 8">
            <a:extLst>
              <a:ext uri="{FF2B5EF4-FFF2-40B4-BE49-F238E27FC236}">
                <a16:creationId xmlns:a16="http://schemas.microsoft.com/office/drawing/2014/main" id="{BA79E23F-F3B9-8C0B-6B53-96697146CAB3}"/>
              </a:ext>
            </a:extLst>
          </p:cNvPr>
          <p:cNvSpPr txBox="1"/>
          <p:nvPr/>
        </p:nvSpPr>
        <p:spPr>
          <a:xfrm>
            <a:off x="2029360" y="2286673"/>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配置・設定</a:t>
            </a:r>
            <a:endParaRPr sz="1050" b="1" dirty="0">
              <a:solidFill>
                <a:srgbClr val="191919"/>
              </a:solidFill>
              <a:latin typeface="Aptos"/>
            </a:endParaRPr>
          </a:p>
        </p:txBody>
      </p:sp>
      <p:sp>
        <p:nvSpPr>
          <p:cNvPr id="114" name="TextBox 9">
            <a:extLst>
              <a:ext uri="{FF2B5EF4-FFF2-40B4-BE49-F238E27FC236}">
                <a16:creationId xmlns:a16="http://schemas.microsoft.com/office/drawing/2014/main" id="{704B528D-E595-7064-5ADF-E21F2A52033C}"/>
              </a:ext>
            </a:extLst>
          </p:cNvPr>
          <p:cNvSpPr txBox="1"/>
          <p:nvPr/>
        </p:nvSpPr>
        <p:spPr>
          <a:xfrm>
            <a:off x="2056285" y="2624856"/>
            <a:ext cx="1088674" cy="160044"/>
          </a:xfrm>
          <a:prstGeom prst="rect">
            <a:avLst/>
          </a:prstGeom>
          <a:noFill/>
        </p:spPr>
        <p:txBody>
          <a:bodyPr wrap="square" lIns="45720" tIns="18288" rIns="45720" bIns="18288" anchor="ctr">
            <a:spAutoFit/>
          </a:bodyPr>
          <a:lstStyle/>
          <a:p>
            <a:pPr algn="ctr"/>
            <a:r>
              <a:rPr sz="800" b="0" dirty="0">
                <a:solidFill>
                  <a:srgbClr val="787873"/>
                </a:solidFill>
                <a:latin typeface="Aptos"/>
              </a:rPr>
              <a:t>部品を並べる</a:t>
            </a:r>
          </a:p>
        </p:txBody>
      </p:sp>
      <p:sp>
        <p:nvSpPr>
          <p:cNvPr id="116" name="Rectangle 6">
            <a:extLst>
              <a:ext uri="{FF2B5EF4-FFF2-40B4-BE49-F238E27FC236}">
                <a16:creationId xmlns:a16="http://schemas.microsoft.com/office/drawing/2014/main" id="{51DDD535-D95B-1342-3A47-AC90C8A3A277}"/>
              </a:ext>
            </a:extLst>
          </p:cNvPr>
          <p:cNvSpPr/>
          <p:nvPr/>
        </p:nvSpPr>
        <p:spPr>
          <a:xfrm>
            <a:off x="3418641" y="1856795"/>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7" name="TextBox 7">
            <a:extLst>
              <a:ext uri="{FF2B5EF4-FFF2-40B4-BE49-F238E27FC236}">
                <a16:creationId xmlns:a16="http://schemas.microsoft.com/office/drawing/2014/main" id="{B0DB67C9-E3EE-68E5-7B7E-C6912819BFC4}"/>
              </a:ext>
            </a:extLst>
          </p:cNvPr>
          <p:cNvSpPr txBox="1"/>
          <p:nvPr/>
        </p:nvSpPr>
        <p:spPr>
          <a:xfrm>
            <a:off x="3464361" y="2025243"/>
            <a:ext cx="1112341" cy="190821"/>
          </a:xfrm>
          <a:prstGeom prst="rect">
            <a:avLst/>
          </a:prstGeom>
          <a:noFill/>
        </p:spPr>
        <p:txBody>
          <a:bodyPr wrap="square" lIns="45720" tIns="18288" rIns="45720" bIns="18288" anchor="ctr">
            <a:spAutoFit/>
          </a:bodyPr>
          <a:lstStyle/>
          <a:p>
            <a:pPr algn="ctr"/>
            <a:r>
              <a:rPr sz="1000" b="1" dirty="0">
                <a:solidFill>
                  <a:srgbClr val="FFA900"/>
                </a:solidFill>
                <a:latin typeface="Aptos"/>
              </a:rPr>
              <a:t>0</a:t>
            </a:r>
            <a:r>
              <a:rPr lang="en-US" altLang="ja-JP" sz="1000" b="1" dirty="0">
                <a:solidFill>
                  <a:srgbClr val="FFA900"/>
                </a:solidFill>
                <a:latin typeface="Aptos"/>
              </a:rPr>
              <a:t>3</a:t>
            </a:r>
            <a:endParaRPr sz="1000" b="1" dirty="0">
              <a:solidFill>
                <a:srgbClr val="FFA900"/>
              </a:solidFill>
              <a:latin typeface="Aptos"/>
            </a:endParaRPr>
          </a:p>
        </p:txBody>
      </p:sp>
      <p:sp>
        <p:nvSpPr>
          <p:cNvPr id="118" name="TextBox 8">
            <a:extLst>
              <a:ext uri="{FF2B5EF4-FFF2-40B4-BE49-F238E27FC236}">
                <a16:creationId xmlns:a16="http://schemas.microsoft.com/office/drawing/2014/main" id="{F3C141D8-7C49-86E4-A98B-72FDBEF8A970}"/>
              </a:ext>
            </a:extLst>
          </p:cNvPr>
          <p:cNvSpPr txBox="1"/>
          <p:nvPr/>
        </p:nvSpPr>
        <p:spPr>
          <a:xfrm>
            <a:off x="3464361" y="2279412"/>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印刷</a:t>
            </a:r>
            <a:endParaRPr sz="1050" b="1" dirty="0">
              <a:solidFill>
                <a:srgbClr val="191919"/>
              </a:solidFill>
              <a:latin typeface="Aptos"/>
            </a:endParaRPr>
          </a:p>
        </p:txBody>
      </p:sp>
      <p:sp>
        <p:nvSpPr>
          <p:cNvPr id="119" name="TextBox 9">
            <a:extLst>
              <a:ext uri="{FF2B5EF4-FFF2-40B4-BE49-F238E27FC236}">
                <a16:creationId xmlns:a16="http://schemas.microsoft.com/office/drawing/2014/main" id="{C6008245-EFB3-BAA6-6202-A42352AD2566}"/>
              </a:ext>
            </a:extLst>
          </p:cNvPr>
          <p:cNvSpPr txBox="1"/>
          <p:nvPr/>
        </p:nvSpPr>
        <p:spPr>
          <a:xfrm>
            <a:off x="3491793" y="2626254"/>
            <a:ext cx="1088674" cy="160044"/>
          </a:xfrm>
          <a:prstGeom prst="rect">
            <a:avLst/>
          </a:prstGeom>
          <a:noFill/>
        </p:spPr>
        <p:txBody>
          <a:bodyPr wrap="square" lIns="45720" tIns="18288" rIns="45720" bIns="18288" anchor="ctr">
            <a:spAutoFit/>
          </a:bodyPr>
          <a:lstStyle/>
          <a:p>
            <a:pPr algn="ctr"/>
            <a:r>
              <a:rPr sz="800" b="0" dirty="0" err="1">
                <a:solidFill>
                  <a:srgbClr val="787873"/>
                </a:solidFill>
                <a:latin typeface="Aptos"/>
              </a:rPr>
              <a:t>印刷</a:t>
            </a:r>
            <a:endParaRPr sz="800" b="0" dirty="0">
              <a:solidFill>
                <a:srgbClr val="787873"/>
              </a:solidFill>
              <a:latin typeface="Aptos"/>
            </a:endParaRPr>
          </a:p>
        </p:txBody>
      </p:sp>
      <p:sp>
        <p:nvSpPr>
          <p:cNvPr id="121" name="Rectangle 6">
            <a:extLst>
              <a:ext uri="{FF2B5EF4-FFF2-40B4-BE49-F238E27FC236}">
                <a16:creationId xmlns:a16="http://schemas.microsoft.com/office/drawing/2014/main" id="{2BF04195-CDAB-17F5-AAA8-0767D2411A52}"/>
              </a:ext>
            </a:extLst>
          </p:cNvPr>
          <p:cNvSpPr/>
          <p:nvPr/>
        </p:nvSpPr>
        <p:spPr>
          <a:xfrm>
            <a:off x="4853643" y="1856795"/>
            <a:ext cx="1207008" cy="1088674"/>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dirty="0"/>
          </a:p>
        </p:txBody>
      </p:sp>
      <p:sp>
        <p:nvSpPr>
          <p:cNvPr id="122" name="TextBox 7">
            <a:extLst>
              <a:ext uri="{FF2B5EF4-FFF2-40B4-BE49-F238E27FC236}">
                <a16:creationId xmlns:a16="http://schemas.microsoft.com/office/drawing/2014/main" id="{E7BF1517-3758-7315-D1AB-F356462491E9}"/>
              </a:ext>
            </a:extLst>
          </p:cNvPr>
          <p:cNvSpPr txBox="1"/>
          <p:nvPr/>
        </p:nvSpPr>
        <p:spPr>
          <a:xfrm>
            <a:off x="4914961" y="2025243"/>
            <a:ext cx="1112341" cy="190821"/>
          </a:xfrm>
          <a:prstGeom prst="rect">
            <a:avLst/>
          </a:prstGeom>
          <a:noFill/>
        </p:spPr>
        <p:txBody>
          <a:bodyPr wrap="square" lIns="45720" tIns="18288" rIns="45720" bIns="18288" anchor="ctr">
            <a:spAutoFit/>
          </a:bodyPr>
          <a:lstStyle/>
          <a:p>
            <a:pPr algn="ctr"/>
            <a:r>
              <a:rPr sz="1000" b="1" dirty="0">
                <a:solidFill>
                  <a:srgbClr val="FFA900"/>
                </a:solidFill>
                <a:latin typeface="Aptos"/>
              </a:rPr>
              <a:t>04</a:t>
            </a:r>
          </a:p>
        </p:txBody>
      </p:sp>
      <p:sp>
        <p:nvSpPr>
          <p:cNvPr id="123" name="TextBox 8">
            <a:extLst>
              <a:ext uri="{FF2B5EF4-FFF2-40B4-BE49-F238E27FC236}">
                <a16:creationId xmlns:a16="http://schemas.microsoft.com/office/drawing/2014/main" id="{FAA9655E-8E3D-7A0A-5625-2CAF8033E6FD}"/>
              </a:ext>
            </a:extLst>
          </p:cNvPr>
          <p:cNvSpPr txBox="1"/>
          <p:nvPr/>
        </p:nvSpPr>
        <p:spPr>
          <a:xfrm>
            <a:off x="4899363" y="2279412"/>
            <a:ext cx="1112341" cy="198516"/>
          </a:xfrm>
          <a:prstGeom prst="rect">
            <a:avLst/>
          </a:prstGeom>
          <a:noFill/>
        </p:spPr>
        <p:txBody>
          <a:bodyPr wrap="square" lIns="45720" tIns="18288" rIns="45720" bIns="18288" anchor="ctr">
            <a:spAutoFit/>
          </a:bodyPr>
          <a:lstStyle/>
          <a:p>
            <a:pPr algn="ctr"/>
            <a:r>
              <a:rPr lang="ja-JP" altLang="en-US" sz="1050" b="1">
                <a:solidFill>
                  <a:srgbClr val="191919"/>
                </a:solidFill>
                <a:latin typeface="Aptos"/>
              </a:rPr>
              <a:t>バリ取り</a:t>
            </a:r>
            <a:endParaRPr sz="1050" b="1" dirty="0">
              <a:solidFill>
                <a:srgbClr val="191919"/>
              </a:solidFill>
              <a:latin typeface="Aptos"/>
            </a:endParaRPr>
          </a:p>
        </p:txBody>
      </p:sp>
      <p:sp>
        <p:nvSpPr>
          <p:cNvPr id="124" name="TextBox 9">
            <a:extLst>
              <a:ext uri="{FF2B5EF4-FFF2-40B4-BE49-F238E27FC236}">
                <a16:creationId xmlns:a16="http://schemas.microsoft.com/office/drawing/2014/main" id="{9321A801-87FA-581D-ECC2-6D06E142F010}"/>
              </a:ext>
            </a:extLst>
          </p:cNvPr>
          <p:cNvSpPr txBox="1"/>
          <p:nvPr/>
        </p:nvSpPr>
        <p:spPr>
          <a:xfrm>
            <a:off x="4926795" y="2626254"/>
            <a:ext cx="1088674" cy="160044"/>
          </a:xfrm>
          <a:prstGeom prst="rect">
            <a:avLst/>
          </a:prstGeom>
          <a:noFill/>
        </p:spPr>
        <p:txBody>
          <a:bodyPr wrap="square" lIns="45720" tIns="18288" rIns="45720" bIns="18288" anchor="ctr">
            <a:spAutoFit/>
          </a:bodyPr>
          <a:lstStyle/>
          <a:p>
            <a:pPr algn="ctr"/>
            <a:r>
              <a:rPr sz="800" b="0" dirty="0">
                <a:solidFill>
                  <a:srgbClr val="787873"/>
                </a:solidFill>
                <a:latin typeface="Aptos"/>
              </a:rPr>
              <a:t>組み立て前に処理</a:t>
            </a:r>
          </a:p>
        </p:txBody>
      </p:sp>
      <p:cxnSp>
        <p:nvCxnSpPr>
          <p:cNvPr id="125" name="Connector 10">
            <a:extLst>
              <a:ext uri="{FF2B5EF4-FFF2-40B4-BE49-F238E27FC236}">
                <a16:creationId xmlns:a16="http://schemas.microsoft.com/office/drawing/2014/main" id="{F6E34F46-5E74-02A6-078F-B1D8AE065C48}"/>
              </a:ext>
            </a:extLst>
          </p:cNvPr>
          <p:cNvCxnSpPr>
            <a:cxnSpLocks/>
            <a:stCxn id="107" idx="3"/>
            <a:endCxn id="111" idx="1"/>
          </p:cNvCxnSpPr>
          <p:nvPr/>
        </p:nvCxnSpPr>
        <p:spPr>
          <a:xfrm>
            <a:off x="1755647" y="2399734"/>
            <a:ext cx="227993"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126" name="Connector 10">
            <a:extLst>
              <a:ext uri="{FF2B5EF4-FFF2-40B4-BE49-F238E27FC236}">
                <a16:creationId xmlns:a16="http://schemas.microsoft.com/office/drawing/2014/main" id="{BD71E381-356C-AA4E-B25D-85F31DB31D31}"/>
              </a:ext>
            </a:extLst>
          </p:cNvPr>
          <p:cNvCxnSpPr>
            <a:cxnSpLocks/>
            <a:stCxn id="111" idx="3"/>
            <a:endCxn id="116" idx="1"/>
          </p:cNvCxnSpPr>
          <p:nvPr/>
        </p:nvCxnSpPr>
        <p:spPr>
          <a:xfrm>
            <a:off x="3190648" y="2399734"/>
            <a:ext cx="227993" cy="1398"/>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127" name="Connector 10">
            <a:extLst>
              <a:ext uri="{FF2B5EF4-FFF2-40B4-BE49-F238E27FC236}">
                <a16:creationId xmlns:a16="http://schemas.microsoft.com/office/drawing/2014/main" id="{EDB81F0C-2D37-5518-A43D-4F3E50C298BB}"/>
              </a:ext>
            </a:extLst>
          </p:cNvPr>
          <p:cNvCxnSpPr>
            <a:cxnSpLocks/>
            <a:stCxn id="116" idx="3"/>
            <a:endCxn id="121" idx="1"/>
          </p:cNvCxnSpPr>
          <p:nvPr/>
        </p:nvCxnSpPr>
        <p:spPr>
          <a:xfrm>
            <a:off x="4625649" y="2401132"/>
            <a:ext cx="227994"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pic>
        <p:nvPicPr>
          <p:cNvPr id="128" name="図 127">
            <a:extLst>
              <a:ext uri="{FF2B5EF4-FFF2-40B4-BE49-F238E27FC236}">
                <a16:creationId xmlns:a16="http://schemas.microsoft.com/office/drawing/2014/main" id="{EFCCE8AF-6165-322D-BD43-895014B7213E}"/>
              </a:ext>
            </a:extLst>
          </p:cNvPr>
          <p:cNvPicPr>
            <a:picLocks noChangeAspect="1"/>
          </p:cNvPicPr>
          <p:nvPr/>
        </p:nvPicPr>
        <p:blipFill>
          <a:blip r:embed="rId7"/>
          <a:srcRect l="15714" t="8283" r="15384" b="3905"/>
          <a:stretch>
            <a:fillRect/>
          </a:stretch>
        </p:blipFill>
        <p:spPr>
          <a:xfrm>
            <a:off x="6401740" y="4084491"/>
            <a:ext cx="2432304" cy="17410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9036"/>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dirty="0">
                <a:solidFill>
                  <a:srgbClr val="FFA900"/>
                </a:solidFill>
                <a:latin typeface="Aptos"/>
              </a:rPr>
              <a:t>03 / ASSEMBLY</a:t>
            </a:r>
          </a:p>
        </p:txBody>
      </p:sp>
      <p:sp>
        <p:nvSpPr>
          <p:cNvPr id="5" name="TextBox 4"/>
          <p:cNvSpPr txBox="1"/>
          <p:nvPr/>
        </p:nvSpPr>
        <p:spPr>
          <a:xfrm>
            <a:off x="713232" y="822960"/>
            <a:ext cx="10789920" cy="548640"/>
          </a:xfrm>
          <a:prstGeom prst="rect">
            <a:avLst/>
          </a:prstGeom>
          <a:noFill/>
        </p:spPr>
        <p:txBody>
          <a:bodyPr wrap="square" lIns="45720" tIns="18288" rIns="45720" bIns="18288" anchor="ctr">
            <a:spAutoFit/>
          </a:bodyPr>
          <a:lstStyle/>
          <a:p>
            <a:pPr algn="l"/>
            <a:r>
              <a:rPr sz="2500" b="1">
                <a:solidFill>
                  <a:srgbClr val="191919"/>
                </a:solidFill>
                <a:latin typeface="Aptos"/>
              </a:rPr>
              <a:t>組み立ての手順</a:t>
            </a:r>
          </a:p>
        </p:txBody>
      </p:sp>
      <p:sp>
        <p:nvSpPr>
          <p:cNvPr id="6" name="TextBox 5"/>
          <p:cNvSpPr txBox="1"/>
          <p:nvPr/>
        </p:nvSpPr>
        <p:spPr>
          <a:xfrm>
            <a:off x="731520" y="1470702"/>
            <a:ext cx="10424160" cy="283154"/>
          </a:xfrm>
          <a:prstGeom prst="rect">
            <a:avLst/>
          </a:prstGeom>
          <a:noFill/>
        </p:spPr>
        <p:txBody>
          <a:bodyPr wrap="square" lIns="45720" tIns="18288" rIns="45720" bIns="18288" anchor="ctr">
            <a:spAutoFit/>
          </a:bodyPr>
          <a:lstStyle/>
          <a:p>
            <a:pPr algn="l"/>
            <a:r>
              <a:rPr sz="1600" b="0" dirty="0" err="1">
                <a:solidFill>
                  <a:srgbClr val="787873"/>
                </a:solidFill>
                <a:latin typeface="Aptos"/>
              </a:rPr>
              <a:t>モーターの準備から組み上げまで</a:t>
            </a:r>
            <a:endParaRPr sz="1600" b="0" dirty="0">
              <a:solidFill>
                <a:srgbClr val="787873"/>
              </a:solidFill>
              <a:latin typeface="Aptos"/>
            </a:endParaRPr>
          </a:p>
        </p:txBody>
      </p:sp>
      <p:sp>
        <p:nvSpPr>
          <p:cNvPr id="7" name="Rectangle 6"/>
          <p:cNvSpPr/>
          <p:nvPr/>
        </p:nvSpPr>
        <p:spPr>
          <a:xfrm>
            <a:off x="685800"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219145"/>
            <a:ext cx="2148840" cy="344710"/>
          </a:xfrm>
          <a:prstGeom prst="rect">
            <a:avLst/>
          </a:prstGeom>
          <a:noFill/>
        </p:spPr>
        <p:txBody>
          <a:bodyPr wrap="square" lIns="45720" tIns="18288" rIns="45720" bIns="18288" anchor="ctr">
            <a:spAutoFit/>
          </a:bodyPr>
          <a:lstStyle/>
          <a:p>
            <a:pPr algn="ctr"/>
            <a:r>
              <a:rPr sz="2000" b="1" dirty="0">
                <a:solidFill>
                  <a:srgbClr val="FFA900"/>
                </a:solidFill>
                <a:latin typeface="Aptos"/>
              </a:rPr>
              <a:t>01</a:t>
            </a:r>
          </a:p>
        </p:txBody>
      </p:sp>
      <p:sp>
        <p:nvSpPr>
          <p:cNvPr id="9" name="TextBox 8"/>
          <p:cNvSpPr txBox="1"/>
          <p:nvPr/>
        </p:nvSpPr>
        <p:spPr>
          <a:xfrm>
            <a:off x="777240" y="270696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モーターの準備</a:t>
            </a:r>
          </a:p>
        </p:txBody>
      </p:sp>
      <p:sp>
        <p:nvSpPr>
          <p:cNvPr id="10" name="TextBox 9"/>
          <p:cNvSpPr txBox="1"/>
          <p:nvPr/>
        </p:nvSpPr>
        <p:spPr>
          <a:xfrm>
            <a:off x="795528" y="3341739"/>
            <a:ext cx="2103120" cy="467820"/>
          </a:xfrm>
          <a:prstGeom prst="rect">
            <a:avLst/>
          </a:prstGeom>
          <a:noFill/>
        </p:spPr>
        <p:txBody>
          <a:bodyPr wrap="square" lIns="45720" tIns="18288" rIns="45720" bIns="18288" anchor="ctr">
            <a:spAutoFit/>
          </a:bodyPr>
          <a:lstStyle/>
          <a:p>
            <a:pPr algn="ctr"/>
            <a:r>
              <a:rPr sz="1400" b="0" dirty="0">
                <a:solidFill>
                  <a:srgbClr val="787873"/>
                </a:solidFill>
                <a:latin typeface="Aptos"/>
              </a:rPr>
              <a:t>F1〜F6・L1〜L6に</a:t>
            </a:r>
            <a:endParaRPr lang="en-US" sz="1400" b="0" dirty="0">
              <a:solidFill>
                <a:srgbClr val="787873"/>
              </a:solidFill>
              <a:latin typeface="Aptos"/>
            </a:endParaRPr>
          </a:p>
          <a:p>
            <a:pPr algn="ctr"/>
            <a:r>
              <a:rPr sz="1400" b="0" dirty="0" err="1">
                <a:solidFill>
                  <a:srgbClr val="787873"/>
                </a:solidFill>
                <a:latin typeface="Aptos"/>
              </a:rPr>
              <a:t>ラベル付け</a:t>
            </a:r>
            <a:endParaRPr sz="1400" b="0" dirty="0">
              <a:solidFill>
                <a:srgbClr val="787873"/>
              </a:solidFill>
              <a:latin typeface="Aptos"/>
            </a:endParaRPr>
          </a:p>
        </p:txBody>
      </p:sp>
      <p:cxnSp>
        <p:nvCxnSpPr>
          <p:cNvPr id="11" name="Connector 10"/>
          <p:cNvCxnSpPr>
            <a:cxnSpLocks/>
            <a:stCxn id="7" idx="3"/>
            <a:endCxn id="12" idx="1"/>
          </p:cNvCxnSpPr>
          <p:nvPr/>
        </p:nvCxnSpPr>
        <p:spPr>
          <a:xfrm>
            <a:off x="3017520"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538728"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02</a:t>
            </a:r>
          </a:p>
        </p:txBody>
      </p:sp>
      <p:sp>
        <p:nvSpPr>
          <p:cNvPr id="14" name="TextBox 13"/>
          <p:cNvSpPr txBox="1"/>
          <p:nvPr/>
        </p:nvSpPr>
        <p:spPr>
          <a:xfrm>
            <a:off x="3630168" y="2771131"/>
            <a:ext cx="2148840" cy="283154"/>
          </a:xfrm>
          <a:prstGeom prst="rect">
            <a:avLst/>
          </a:prstGeom>
          <a:noFill/>
        </p:spPr>
        <p:txBody>
          <a:bodyPr wrap="square" lIns="45720" tIns="18288" rIns="45720" bIns="18288" anchor="ctr">
            <a:spAutoFit/>
          </a:bodyPr>
          <a:lstStyle/>
          <a:p>
            <a:pPr algn="ctr"/>
            <a:r>
              <a:rPr lang="ja-JP" altLang="en-US" sz="1600" b="1">
                <a:solidFill>
                  <a:srgbClr val="191919"/>
                </a:solidFill>
                <a:latin typeface="Aptos"/>
              </a:rPr>
              <a:t>電源・</a:t>
            </a:r>
            <a:r>
              <a:rPr lang="en-US" altLang="ja-JP" sz="1600" b="1" dirty="0">
                <a:solidFill>
                  <a:srgbClr val="191919"/>
                </a:solidFill>
                <a:latin typeface="Aptos"/>
              </a:rPr>
              <a:t>USB</a:t>
            </a:r>
            <a:r>
              <a:rPr lang="ja-JP" altLang="en-US" sz="1600" b="1">
                <a:solidFill>
                  <a:srgbClr val="191919"/>
                </a:solidFill>
                <a:latin typeface="Aptos"/>
              </a:rPr>
              <a:t>接続</a:t>
            </a:r>
            <a:endParaRPr lang="ja-JP" altLang="en-US" sz="1600" b="1" dirty="0">
              <a:solidFill>
                <a:srgbClr val="191919"/>
              </a:solidFill>
              <a:latin typeface="Aptos"/>
            </a:endParaRPr>
          </a:p>
        </p:txBody>
      </p:sp>
      <p:sp>
        <p:nvSpPr>
          <p:cNvPr id="15" name="TextBox 14"/>
          <p:cNvSpPr txBox="1"/>
          <p:nvPr/>
        </p:nvSpPr>
        <p:spPr>
          <a:xfrm>
            <a:off x="3648456" y="3449460"/>
            <a:ext cx="210312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電源と</a:t>
            </a:r>
            <a:r>
              <a:rPr lang="en-US" altLang="ja-JP" sz="1400" dirty="0">
                <a:solidFill>
                  <a:srgbClr val="787873"/>
                </a:solidFill>
                <a:latin typeface="Aptos"/>
              </a:rPr>
              <a:t>USB</a:t>
            </a:r>
            <a:r>
              <a:rPr lang="ja-JP" altLang="en-US" sz="1400">
                <a:solidFill>
                  <a:srgbClr val="787873"/>
                </a:solidFill>
                <a:latin typeface="Aptos"/>
              </a:rPr>
              <a:t>の両方が必要</a:t>
            </a:r>
            <a:endParaRPr lang="ja-JP" altLang="en-US" sz="1400" dirty="0">
              <a:solidFill>
                <a:srgbClr val="787873"/>
              </a:solidFill>
              <a:latin typeface="Aptos"/>
            </a:endParaRPr>
          </a:p>
        </p:txBody>
      </p:sp>
      <p:cxnSp>
        <p:nvCxnSpPr>
          <p:cNvPr id="16" name="Connector 15"/>
          <p:cNvCxnSpPr>
            <a:cxnSpLocks/>
            <a:stCxn id="12" idx="3"/>
          </p:cNvCxnSpPr>
          <p:nvPr/>
        </p:nvCxnSpPr>
        <p:spPr>
          <a:xfrm>
            <a:off x="5870448"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391656"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83096"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03</a:t>
            </a:r>
          </a:p>
        </p:txBody>
      </p:sp>
      <p:sp>
        <p:nvSpPr>
          <p:cNvPr id="19" name="TextBox 18"/>
          <p:cNvSpPr txBox="1"/>
          <p:nvPr/>
        </p:nvSpPr>
        <p:spPr>
          <a:xfrm>
            <a:off x="6483096" y="2771131"/>
            <a:ext cx="2148840" cy="283154"/>
          </a:xfrm>
          <a:prstGeom prst="rect">
            <a:avLst/>
          </a:prstGeom>
          <a:noFill/>
        </p:spPr>
        <p:txBody>
          <a:bodyPr wrap="square" lIns="45720" tIns="18288" rIns="45720" bIns="18288" anchor="ctr">
            <a:spAutoFit/>
          </a:bodyPr>
          <a:lstStyle/>
          <a:p>
            <a:pPr algn="ctr"/>
            <a:r>
              <a:rPr lang="en-US" altLang="ja-JP" sz="1600" b="1" dirty="0">
                <a:solidFill>
                  <a:srgbClr val="191919"/>
                </a:solidFill>
                <a:latin typeface="Aptos"/>
              </a:rPr>
              <a:t>ID</a:t>
            </a:r>
            <a:r>
              <a:rPr lang="ja-JP" altLang="en-US" sz="1600" b="1">
                <a:solidFill>
                  <a:srgbClr val="191919"/>
                </a:solidFill>
                <a:latin typeface="Aptos"/>
              </a:rPr>
              <a:t>設定</a:t>
            </a:r>
            <a:endParaRPr lang="ja-JP" altLang="en-US" sz="1600" b="1" dirty="0">
              <a:solidFill>
                <a:srgbClr val="191919"/>
              </a:solidFill>
              <a:latin typeface="Aptos"/>
            </a:endParaRPr>
          </a:p>
        </p:txBody>
      </p:sp>
      <p:sp>
        <p:nvSpPr>
          <p:cNvPr id="20" name="TextBox 19"/>
          <p:cNvSpPr txBox="1"/>
          <p:nvPr/>
        </p:nvSpPr>
        <p:spPr>
          <a:xfrm>
            <a:off x="6501384" y="3341739"/>
            <a:ext cx="2103120" cy="467820"/>
          </a:xfrm>
          <a:prstGeom prst="rect">
            <a:avLst/>
          </a:prstGeom>
          <a:noFill/>
        </p:spPr>
        <p:txBody>
          <a:bodyPr wrap="square" lIns="45720" tIns="18288" rIns="45720" bIns="18288" anchor="ctr">
            <a:spAutoFit/>
          </a:bodyPr>
          <a:lstStyle/>
          <a:p>
            <a:pPr algn="ctr"/>
            <a:r>
              <a:rPr lang="en-US" altLang="ja-JP" sz="1400" dirty="0">
                <a:solidFill>
                  <a:srgbClr val="787873"/>
                </a:solidFill>
                <a:latin typeface="Aptos"/>
              </a:rPr>
              <a:t>1</a:t>
            </a:r>
            <a:r>
              <a:rPr lang="ja-JP" altLang="en-US" sz="1400">
                <a:solidFill>
                  <a:srgbClr val="787873"/>
                </a:solidFill>
                <a:latin typeface="Aptos"/>
              </a:rPr>
              <a:t>台ずつ接続して</a:t>
            </a:r>
          </a:p>
          <a:p>
            <a:pPr algn="ctr"/>
            <a:r>
              <a:rPr lang="en-US" altLang="ja-JP" sz="1400" dirty="0">
                <a:solidFill>
                  <a:srgbClr val="787873"/>
                </a:solidFill>
                <a:latin typeface="Aptos"/>
              </a:rPr>
              <a:t>ID</a:t>
            </a:r>
            <a:r>
              <a:rPr lang="ja-JP" altLang="en-US" sz="1400">
                <a:solidFill>
                  <a:srgbClr val="787873"/>
                </a:solidFill>
                <a:latin typeface="Aptos"/>
              </a:rPr>
              <a:t>を設定</a:t>
            </a:r>
            <a:endParaRPr lang="ja-JP" altLang="en-US" sz="1400" dirty="0">
              <a:solidFill>
                <a:srgbClr val="787873"/>
              </a:solidFill>
              <a:latin typeface="Aptos"/>
            </a:endParaRPr>
          </a:p>
        </p:txBody>
      </p:sp>
      <p:cxnSp>
        <p:nvCxnSpPr>
          <p:cNvPr id="21" name="Connector 20"/>
          <p:cNvCxnSpPr>
            <a:cxnSpLocks/>
            <a:stCxn id="17" idx="3"/>
            <a:endCxn id="22" idx="1"/>
          </p:cNvCxnSpPr>
          <p:nvPr/>
        </p:nvCxnSpPr>
        <p:spPr>
          <a:xfrm>
            <a:off x="8723376" y="3118448"/>
            <a:ext cx="521208"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244584" y="2066888"/>
            <a:ext cx="2331720" cy="2103120"/>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36024" y="2219145"/>
            <a:ext cx="2148840" cy="344710"/>
          </a:xfrm>
          <a:prstGeom prst="rect">
            <a:avLst/>
          </a:prstGeom>
          <a:noFill/>
        </p:spPr>
        <p:txBody>
          <a:bodyPr wrap="square" lIns="45720" tIns="18288" rIns="45720" bIns="18288" anchor="ctr">
            <a:spAutoFit/>
          </a:bodyPr>
          <a:lstStyle/>
          <a:p>
            <a:pPr algn="ctr"/>
            <a:r>
              <a:rPr sz="2000" b="1">
                <a:solidFill>
                  <a:srgbClr val="FFA900"/>
                </a:solidFill>
                <a:latin typeface="Aptos"/>
              </a:rPr>
              <a:t>04</a:t>
            </a:r>
          </a:p>
        </p:txBody>
      </p:sp>
      <p:sp>
        <p:nvSpPr>
          <p:cNvPr id="24" name="TextBox 23"/>
          <p:cNvSpPr txBox="1"/>
          <p:nvPr/>
        </p:nvSpPr>
        <p:spPr>
          <a:xfrm>
            <a:off x="9336024" y="270696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アームの組み立て</a:t>
            </a:r>
          </a:p>
        </p:txBody>
      </p:sp>
      <p:sp>
        <p:nvSpPr>
          <p:cNvPr id="25" name="TextBox 24"/>
          <p:cNvSpPr txBox="1"/>
          <p:nvPr/>
        </p:nvSpPr>
        <p:spPr>
          <a:xfrm>
            <a:off x="9354311" y="3449460"/>
            <a:ext cx="2103120" cy="252377"/>
          </a:xfrm>
          <a:prstGeom prst="rect">
            <a:avLst/>
          </a:prstGeom>
          <a:noFill/>
        </p:spPr>
        <p:txBody>
          <a:bodyPr wrap="square" lIns="45720" tIns="18288" rIns="45720" bIns="18288" anchor="ctr">
            <a:spAutoFit/>
          </a:bodyPr>
          <a:lstStyle/>
          <a:p>
            <a:pPr algn="ctr"/>
            <a:r>
              <a:rPr lang="ja-JP" altLang="en-US" sz="1400" b="0">
                <a:solidFill>
                  <a:srgbClr val="787873"/>
                </a:solidFill>
                <a:latin typeface="Aptos"/>
              </a:rPr>
              <a:t>手順通りに組み立て</a:t>
            </a:r>
            <a:endParaRPr sz="1400" b="0" dirty="0">
              <a:solidFill>
                <a:srgbClr val="787873"/>
              </a:solidFill>
              <a:latin typeface="Aptos"/>
            </a:endParaRPr>
          </a:p>
        </p:txBody>
      </p:sp>
      <p:sp>
        <p:nvSpPr>
          <p:cNvPr id="26" name="TextBox 25"/>
          <p:cNvSpPr txBox="1"/>
          <p:nvPr/>
        </p:nvSpPr>
        <p:spPr>
          <a:xfrm>
            <a:off x="685800" y="5706053"/>
            <a:ext cx="10890504" cy="283154"/>
          </a:xfrm>
          <a:prstGeom prst="rect">
            <a:avLst/>
          </a:prstGeom>
          <a:blipFill dpi="0" rotWithShape="1">
            <a:blip>
              <a:extLst>
                <a:ext uri="{96DAC541-7B7A-43D3-8B79-37D633B846F1}">
                  <asvg:svgBlip xmlns:asvg="http://schemas.microsoft.com/office/drawing/2016/SVG/main" r:embed="rId4"/>
                </a:ext>
              </a:extLst>
            </a:blip>
            <a:srcRect/>
            <a:stretch>
              <a:fillRect t="59000"/>
            </a:stretch>
          </a:blipFill>
        </p:spPr>
        <p:txBody>
          <a:bodyPr wrap="square" lIns="45720" tIns="18288" rIns="45720" bIns="18288" anchor="ctr">
            <a:spAutoFit/>
          </a:bodyPr>
          <a:lstStyle/>
          <a:p>
            <a:r>
              <a:rPr sz="1600" b="0" dirty="0">
                <a:latin typeface="Aptos"/>
              </a:rPr>
              <a:t>リーダーアームは自重を支えつつ軽く動かせるようギア比の異なる3種のモーター</a:t>
            </a:r>
            <a:r>
              <a:rPr lang="en-US" sz="1600" dirty="0">
                <a:latin typeface="Aptos"/>
              </a:rPr>
              <a:t>(</a:t>
            </a:r>
            <a:r>
              <a:rPr sz="1600" b="0" dirty="0">
                <a:latin typeface="Aptos"/>
              </a:rPr>
              <a:t>1/345・1/191・1/147</a:t>
            </a:r>
            <a:r>
              <a:rPr lang="en-US" sz="1600" b="0" dirty="0">
                <a:latin typeface="Aptos"/>
              </a:rPr>
              <a:t>)</a:t>
            </a:r>
            <a:r>
              <a:rPr sz="1600" b="0" dirty="0" err="1">
                <a:latin typeface="Aptos"/>
              </a:rPr>
              <a:t>を使い分ける</a:t>
            </a:r>
            <a:endParaRPr lang="en-US" sz="1600" b="0" dirty="0">
              <a:latin typeface="Aptos"/>
            </a:endParaRPr>
          </a:p>
        </p:txBody>
      </p:sp>
      <p:sp>
        <p:nvSpPr>
          <p:cNvPr id="30" name="スライド番号プレースホルダー 29">
            <a:extLst>
              <a:ext uri="{FF2B5EF4-FFF2-40B4-BE49-F238E27FC236}">
                <a16:creationId xmlns:a16="http://schemas.microsoft.com/office/drawing/2014/main" id="{54982393-90BF-98B3-FEF3-2C117B8B890E}"/>
              </a:ext>
            </a:extLst>
          </p:cNvPr>
          <p:cNvSpPr>
            <a:spLocks noGrp="1"/>
          </p:cNvSpPr>
          <p:nvPr>
            <p:ph type="sldNum" sz="quarter" idx="12"/>
          </p:nvPr>
        </p:nvSpPr>
        <p:spPr/>
        <p:txBody>
          <a:bodyPr/>
          <a:lstStyle/>
          <a:p>
            <a:fld id="{C1FF6DA9-008F-8B48-92A6-B652298478BF}" type="slidenum">
              <a:rPr lang="en-US" smtClean="0"/>
              <a:t>4</a:t>
            </a:fld>
            <a:endParaRPr lang="en-US" dirty="0"/>
          </a:p>
        </p:txBody>
      </p:sp>
      <p:pic>
        <p:nvPicPr>
          <p:cNvPr id="27" name="図 26">
            <a:extLst>
              <a:ext uri="{FF2B5EF4-FFF2-40B4-BE49-F238E27FC236}">
                <a16:creationId xmlns:a16="http://schemas.microsoft.com/office/drawing/2014/main" id="{E80932CF-BE53-8966-3104-F112E748535F}"/>
              </a:ext>
            </a:extLst>
          </p:cNvPr>
          <p:cNvPicPr>
            <a:picLocks noChangeAspect="1"/>
          </p:cNvPicPr>
          <p:nvPr/>
        </p:nvPicPr>
        <p:blipFill>
          <a:blip r:embed="rId5"/>
          <a:srcRect l="1892" t="24976" r="44631" b="37402"/>
          <a:stretch>
            <a:fillRect/>
          </a:stretch>
        </p:blipFill>
        <p:spPr>
          <a:xfrm>
            <a:off x="777240" y="3731276"/>
            <a:ext cx="2081173" cy="1464164"/>
          </a:xfrm>
          <a:prstGeom prst="rect">
            <a:avLst/>
          </a:prstGeom>
        </p:spPr>
      </p:pic>
      <p:pic>
        <p:nvPicPr>
          <p:cNvPr id="28" name="図 27">
            <a:extLst>
              <a:ext uri="{FF2B5EF4-FFF2-40B4-BE49-F238E27FC236}">
                <a16:creationId xmlns:a16="http://schemas.microsoft.com/office/drawing/2014/main" id="{57DE09B6-B186-CBF5-4B8F-79C4644BEC50}"/>
              </a:ext>
            </a:extLst>
          </p:cNvPr>
          <p:cNvPicPr>
            <a:picLocks noChangeAspect="1"/>
          </p:cNvPicPr>
          <p:nvPr/>
        </p:nvPicPr>
        <p:blipFill>
          <a:blip r:embed="rId6"/>
          <a:srcRect l="2350" t="27698" r="82488" b="57855"/>
          <a:stretch>
            <a:fillRect/>
          </a:stretch>
        </p:blipFill>
        <p:spPr>
          <a:xfrm>
            <a:off x="5259154" y="4114689"/>
            <a:ext cx="773143" cy="736702"/>
          </a:xfrm>
          <a:prstGeom prst="rect">
            <a:avLst/>
          </a:prstGeom>
        </p:spPr>
      </p:pic>
      <p:pic>
        <p:nvPicPr>
          <p:cNvPr id="31" name="グラフィックス 30" descr="ノート PC 単色塗りつぶし">
            <a:extLst>
              <a:ext uri="{FF2B5EF4-FFF2-40B4-BE49-F238E27FC236}">
                <a16:creationId xmlns:a16="http://schemas.microsoft.com/office/drawing/2014/main" id="{9C58D6D4-1CAD-181C-6F3D-85139A4F94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88181" y="4170008"/>
            <a:ext cx="758805" cy="758805"/>
          </a:xfrm>
          <a:prstGeom prst="rect">
            <a:avLst/>
          </a:prstGeom>
        </p:spPr>
      </p:pic>
      <p:pic>
        <p:nvPicPr>
          <p:cNvPr id="33" name="図 32">
            <a:extLst>
              <a:ext uri="{FF2B5EF4-FFF2-40B4-BE49-F238E27FC236}">
                <a16:creationId xmlns:a16="http://schemas.microsoft.com/office/drawing/2014/main" id="{3851C3CD-37AF-B0AC-9C77-F38FEC41E0D3}"/>
              </a:ext>
            </a:extLst>
          </p:cNvPr>
          <p:cNvPicPr>
            <a:picLocks noChangeAspect="1"/>
          </p:cNvPicPr>
          <p:nvPr/>
        </p:nvPicPr>
        <p:blipFill>
          <a:blip r:embed="rId8"/>
          <a:srcRect/>
          <a:stretch>
            <a:fillRect/>
          </a:stretch>
        </p:blipFill>
        <p:spPr>
          <a:xfrm rot="19800000">
            <a:off x="4281262" y="4234844"/>
            <a:ext cx="837380" cy="627090"/>
          </a:xfrm>
          <a:prstGeom prst="rect">
            <a:avLst/>
          </a:prstGeom>
        </p:spPr>
      </p:pic>
      <p:cxnSp>
        <p:nvCxnSpPr>
          <p:cNvPr id="40" name="Connector 10">
            <a:extLst>
              <a:ext uri="{FF2B5EF4-FFF2-40B4-BE49-F238E27FC236}">
                <a16:creationId xmlns:a16="http://schemas.microsoft.com/office/drawing/2014/main" id="{2E557B96-7945-C2C3-4358-EF2E3E640E4D}"/>
              </a:ext>
            </a:extLst>
          </p:cNvPr>
          <p:cNvCxnSpPr>
            <a:cxnSpLocks/>
          </p:cNvCxnSpPr>
          <p:nvPr/>
        </p:nvCxnSpPr>
        <p:spPr>
          <a:xfrm>
            <a:off x="4073512" y="4548389"/>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43" name="Connector 10">
            <a:extLst>
              <a:ext uri="{FF2B5EF4-FFF2-40B4-BE49-F238E27FC236}">
                <a16:creationId xmlns:a16="http://schemas.microsoft.com/office/drawing/2014/main" id="{8E3B86F6-D1A1-A5C5-3CB6-3155FE76A4CC}"/>
              </a:ext>
            </a:extLst>
          </p:cNvPr>
          <p:cNvCxnSpPr>
            <a:cxnSpLocks/>
          </p:cNvCxnSpPr>
          <p:nvPr/>
        </p:nvCxnSpPr>
        <p:spPr>
          <a:xfrm>
            <a:off x="5045012" y="4548389"/>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sp>
        <p:nvSpPr>
          <p:cNvPr id="44" name="TextBox 7">
            <a:extLst>
              <a:ext uri="{FF2B5EF4-FFF2-40B4-BE49-F238E27FC236}">
                <a16:creationId xmlns:a16="http://schemas.microsoft.com/office/drawing/2014/main" id="{B11679EE-58E2-8DBC-5C7C-CFA439C9627E}"/>
              </a:ext>
            </a:extLst>
          </p:cNvPr>
          <p:cNvSpPr txBox="1"/>
          <p:nvPr/>
        </p:nvSpPr>
        <p:spPr>
          <a:xfrm>
            <a:off x="685800" y="5219302"/>
            <a:ext cx="1047192" cy="221599"/>
          </a:xfrm>
          <a:prstGeom prst="rect">
            <a:avLst/>
          </a:prstGeom>
          <a:noFill/>
        </p:spPr>
        <p:txBody>
          <a:bodyPr wrap="square" lIns="45720" tIns="18288" rIns="45720" bIns="18288" anchor="ctr">
            <a:spAutoFit/>
          </a:bodyPr>
          <a:lstStyle/>
          <a:p>
            <a:pPr algn="ctr"/>
            <a:r>
              <a:rPr lang="en-US" altLang="ja-JP" sz="1200" b="1" dirty="0">
                <a:solidFill>
                  <a:srgbClr val="FFA900"/>
                </a:solidFill>
                <a:latin typeface="Aptos"/>
              </a:rPr>
              <a:t>Follower</a:t>
            </a:r>
            <a:endParaRPr sz="1200" b="1" dirty="0">
              <a:solidFill>
                <a:srgbClr val="FFA900"/>
              </a:solidFill>
              <a:latin typeface="Aptos"/>
            </a:endParaRPr>
          </a:p>
        </p:txBody>
      </p:sp>
      <p:sp>
        <p:nvSpPr>
          <p:cNvPr id="45" name="TextBox 7">
            <a:extLst>
              <a:ext uri="{FF2B5EF4-FFF2-40B4-BE49-F238E27FC236}">
                <a16:creationId xmlns:a16="http://schemas.microsoft.com/office/drawing/2014/main" id="{386583B3-29ED-BA86-B8A7-A219089DBE80}"/>
              </a:ext>
            </a:extLst>
          </p:cNvPr>
          <p:cNvSpPr txBox="1"/>
          <p:nvPr/>
        </p:nvSpPr>
        <p:spPr>
          <a:xfrm>
            <a:off x="1873105" y="5224016"/>
            <a:ext cx="1047192" cy="221599"/>
          </a:xfrm>
          <a:prstGeom prst="rect">
            <a:avLst/>
          </a:prstGeom>
          <a:noFill/>
        </p:spPr>
        <p:txBody>
          <a:bodyPr wrap="square" lIns="45720" tIns="18288" rIns="45720" bIns="18288" anchor="ctr">
            <a:spAutoFit/>
          </a:bodyPr>
          <a:lstStyle/>
          <a:p>
            <a:pPr algn="ctr"/>
            <a:r>
              <a:rPr lang="en-US" altLang="ja-JP" sz="1200" b="1" dirty="0">
                <a:solidFill>
                  <a:srgbClr val="FFA900"/>
                </a:solidFill>
                <a:latin typeface="Aptos"/>
              </a:rPr>
              <a:t>Leader</a:t>
            </a:r>
            <a:endParaRPr sz="1200" b="1" dirty="0">
              <a:solidFill>
                <a:srgbClr val="FFA900"/>
              </a:solidFill>
              <a:latin typeface="Aptos"/>
            </a:endParaRPr>
          </a:p>
        </p:txBody>
      </p:sp>
      <p:pic>
        <p:nvPicPr>
          <p:cNvPr id="46" name="図 45">
            <a:extLst>
              <a:ext uri="{FF2B5EF4-FFF2-40B4-BE49-F238E27FC236}">
                <a16:creationId xmlns:a16="http://schemas.microsoft.com/office/drawing/2014/main" id="{FFD63CD9-782A-4AB1-87B3-95DAA80EB561}"/>
              </a:ext>
            </a:extLst>
          </p:cNvPr>
          <p:cNvPicPr>
            <a:picLocks noChangeAspect="1"/>
          </p:cNvPicPr>
          <p:nvPr/>
        </p:nvPicPr>
        <p:blipFill>
          <a:blip r:embed="rId6"/>
          <a:srcRect l="2350" t="27698" r="82488" b="57855"/>
          <a:stretch>
            <a:fillRect/>
          </a:stretch>
        </p:blipFill>
        <p:spPr>
          <a:xfrm>
            <a:off x="8143251" y="4146715"/>
            <a:ext cx="773143" cy="736702"/>
          </a:xfrm>
          <a:prstGeom prst="rect">
            <a:avLst/>
          </a:prstGeom>
        </p:spPr>
      </p:pic>
      <p:pic>
        <p:nvPicPr>
          <p:cNvPr id="47" name="グラフィックス 46" descr="ノート PC 単色塗りつぶし">
            <a:extLst>
              <a:ext uri="{FF2B5EF4-FFF2-40B4-BE49-F238E27FC236}">
                <a16:creationId xmlns:a16="http://schemas.microsoft.com/office/drawing/2014/main" id="{D9E87FAC-50DF-029D-F399-F27DEFBD8F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72278" y="4202034"/>
            <a:ext cx="758805" cy="758805"/>
          </a:xfrm>
          <a:prstGeom prst="rect">
            <a:avLst/>
          </a:prstGeom>
        </p:spPr>
      </p:pic>
      <p:pic>
        <p:nvPicPr>
          <p:cNvPr id="48" name="図 47">
            <a:extLst>
              <a:ext uri="{FF2B5EF4-FFF2-40B4-BE49-F238E27FC236}">
                <a16:creationId xmlns:a16="http://schemas.microsoft.com/office/drawing/2014/main" id="{DD2A1DC5-CA56-BBF5-5728-CE64508C922C}"/>
              </a:ext>
            </a:extLst>
          </p:cNvPr>
          <p:cNvPicPr>
            <a:picLocks noChangeAspect="1"/>
          </p:cNvPicPr>
          <p:nvPr/>
        </p:nvPicPr>
        <p:blipFill>
          <a:blip r:embed="rId8"/>
          <a:srcRect/>
          <a:stretch>
            <a:fillRect/>
          </a:stretch>
        </p:blipFill>
        <p:spPr>
          <a:xfrm rot="19800000">
            <a:off x="7165359" y="4266870"/>
            <a:ext cx="837380" cy="627090"/>
          </a:xfrm>
          <a:prstGeom prst="rect">
            <a:avLst/>
          </a:prstGeom>
        </p:spPr>
      </p:pic>
      <p:cxnSp>
        <p:nvCxnSpPr>
          <p:cNvPr id="49" name="Connector 10">
            <a:extLst>
              <a:ext uri="{FF2B5EF4-FFF2-40B4-BE49-F238E27FC236}">
                <a16:creationId xmlns:a16="http://schemas.microsoft.com/office/drawing/2014/main" id="{CCF9D022-ADFA-6DB0-994F-00F325932881}"/>
              </a:ext>
            </a:extLst>
          </p:cNvPr>
          <p:cNvCxnSpPr>
            <a:cxnSpLocks/>
          </p:cNvCxnSpPr>
          <p:nvPr/>
        </p:nvCxnSpPr>
        <p:spPr>
          <a:xfrm>
            <a:off x="6957609" y="4580415"/>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50" name="Connector 10">
            <a:extLst>
              <a:ext uri="{FF2B5EF4-FFF2-40B4-BE49-F238E27FC236}">
                <a16:creationId xmlns:a16="http://schemas.microsoft.com/office/drawing/2014/main" id="{5E599A9A-8BBE-970B-F15B-A5A1339A9596}"/>
              </a:ext>
            </a:extLst>
          </p:cNvPr>
          <p:cNvCxnSpPr>
            <a:cxnSpLocks/>
          </p:cNvCxnSpPr>
          <p:nvPr/>
        </p:nvCxnSpPr>
        <p:spPr>
          <a:xfrm>
            <a:off x="7929109" y="4580415"/>
            <a:ext cx="214142"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pic>
        <p:nvPicPr>
          <p:cNvPr id="52" name="グラフィックス 51" descr="電気自動車 単色塗りつぶし">
            <a:extLst>
              <a:ext uri="{FF2B5EF4-FFF2-40B4-BE49-F238E27FC236}">
                <a16:creationId xmlns:a16="http://schemas.microsoft.com/office/drawing/2014/main" id="{BF772555-AA81-425E-FA99-3569B6F71CF4}"/>
              </a:ext>
            </a:extLst>
          </p:cNvPr>
          <p:cNvPicPr>
            <a:picLocks noChangeAspect="1"/>
          </p:cNvPicPr>
          <p:nvPr/>
        </p:nvPicPr>
        <p:blipFill>
          <a:blip>
            <a:extLst>
              <a:ext uri="{96DAC541-7B7A-43D3-8B79-37D633B846F1}">
                <asvg:svgBlip xmlns:asvg="http://schemas.microsoft.com/office/drawing/2016/SVG/main" r:embed="rId9"/>
              </a:ext>
            </a:extLst>
          </a:blip>
          <a:srcRect r="84667"/>
          <a:stretch>
            <a:fillRect/>
          </a:stretch>
        </p:blipFill>
        <p:spPr>
          <a:xfrm rot="16200000">
            <a:off x="4441098" y="4303576"/>
            <a:ext cx="246909" cy="1610275"/>
          </a:xfrm>
          <a:prstGeom prst="rect">
            <a:avLst/>
          </a:prstGeom>
        </p:spPr>
      </p:pic>
      <p:pic>
        <p:nvPicPr>
          <p:cNvPr id="54" name="図 53">
            <a:extLst>
              <a:ext uri="{FF2B5EF4-FFF2-40B4-BE49-F238E27FC236}">
                <a16:creationId xmlns:a16="http://schemas.microsoft.com/office/drawing/2014/main" id="{E8CD2829-499B-72A5-43C7-CC83119DAA3E}"/>
              </a:ext>
            </a:extLst>
          </p:cNvPr>
          <p:cNvPicPr>
            <a:picLocks noChangeAspect="1"/>
          </p:cNvPicPr>
          <p:nvPr/>
        </p:nvPicPr>
        <p:blipFill>
          <a:blip r:embed="rId10"/>
          <a:stretch>
            <a:fillRect/>
          </a:stretch>
        </p:blipFill>
        <p:spPr>
          <a:xfrm>
            <a:off x="9491242" y="3994862"/>
            <a:ext cx="1853338" cy="1390004"/>
          </a:xfrm>
          <a:prstGeom prst="rect">
            <a:avLst/>
          </a:prstGeom>
        </p:spPr>
      </p:pic>
      <p:sp>
        <p:nvSpPr>
          <p:cNvPr id="32" name="テキスト ボックス 31">
            <a:extLst>
              <a:ext uri="{FF2B5EF4-FFF2-40B4-BE49-F238E27FC236}">
                <a16:creationId xmlns:a16="http://schemas.microsoft.com/office/drawing/2014/main" id="{95ACE89E-430B-5757-B9B3-BA608D88E479}"/>
              </a:ext>
            </a:extLst>
          </p:cNvPr>
          <p:cNvSpPr txBox="1"/>
          <p:nvPr/>
        </p:nvSpPr>
        <p:spPr>
          <a:xfrm>
            <a:off x="731520" y="4067506"/>
            <a:ext cx="321361" cy="184666"/>
          </a:xfrm>
          <a:prstGeom prst="rect">
            <a:avLst/>
          </a:prstGeom>
          <a:solidFill>
            <a:srgbClr val="FFFF00"/>
          </a:solidFill>
        </p:spPr>
        <p:txBody>
          <a:bodyPr wrap="square">
            <a:spAutoFit/>
          </a:bodyPr>
          <a:lstStyle/>
          <a:p>
            <a:pPr algn="ctr"/>
            <a:r>
              <a:rPr kumimoji="0" lang="en-US" altLang="ja-JP" sz="600" b="1" i="0" u="none" strike="noStrike" kern="1200" cap="none" spc="0" normalizeH="0" baseline="0" noProof="0" dirty="0">
                <a:ln>
                  <a:noFill/>
                </a:ln>
                <a:effectLst/>
                <a:uLnTx/>
                <a:uFillTx/>
                <a:latin typeface="Aptos"/>
                <a:ea typeface="+mn-ea"/>
                <a:cs typeface="+mn-cs"/>
              </a:rPr>
              <a:t>F1</a:t>
            </a:r>
            <a:endParaRPr lang="ja-JP" altLang="en-US" sz="1050"/>
          </a:p>
        </p:txBody>
      </p:sp>
      <p:sp>
        <p:nvSpPr>
          <p:cNvPr id="34" name="テキスト ボックス 33">
            <a:extLst>
              <a:ext uri="{FF2B5EF4-FFF2-40B4-BE49-F238E27FC236}">
                <a16:creationId xmlns:a16="http://schemas.microsoft.com/office/drawing/2014/main" id="{EB552277-9664-8238-B15C-8E4E7C833722}"/>
              </a:ext>
            </a:extLst>
          </p:cNvPr>
          <p:cNvSpPr txBox="1"/>
          <p:nvPr/>
        </p:nvSpPr>
        <p:spPr>
          <a:xfrm>
            <a:off x="1813001" y="4073951"/>
            <a:ext cx="321361" cy="184666"/>
          </a:xfrm>
          <a:prstGeom prst="rect">
            <a:avLst/>
          </a:prstGeom>
          <a:solidFill>
            <a:srgbClr val="FFFF00"/>
          </a:solidFill>
        </p:spPr>
        <p:txBody>
          <a:bodyPr wrap="square">
            <a:spAutoFit/>
          </a:bodyPr>
          <a:lstStyle/>
          <a:p>
            <a:pPr algn="ctr"/>
            <a:r>
              <a:rPr lang="en-US" altLang="ja-JP" sz="600" b="1" dirty="0">
                <a:latin typeface="Aptos"/>
              </a:rPr>
              <a:t>L</a:t>
            </a:r>
            <a:r>
              <a:rPr kumimoji="0" lang="en-US" altLang="ja-JP" sz="600" b="1" i="0" u="none" strike="noStrike" kern="1200" cap="none" spc="0" normalizeH="0" baseline="0" noProof="0" dirty="0">
                <a:ln>
                  <a:noFill/>
                </a:ln>
                <a:effectLst/>
                <a:uLnTx/>
                <a:uFillTx/>
                <a:latin typeface="Aptos"/>
                <a:ea typeface="+mn-ea"/>
                <a:cs typeface="+mn-cs"/>
              </a:rPr>
              <a:t>1</a:t>
            </a:r>
            <a:endParaRPr lang="ja-JP" altLang="en-US" sz="1050"/>
          </a:p>
        </p:txBody>
      </p:sp>
      <p:sp>
        <p:nvSpPr>
          <p:cNvPr id="35" name="テキスト ボックス 34">
            <a:extLst>
              <a:ext uri="{FF2B5EF4-FFF2-40B4-BE49-F238E27FC236}">
                <a16:creationId xmlns:a16="http://schemas.microsoft.com/office/drawing/2014/main" id="{7473927A-A22A-85A0-B215-AF87B98E1414}"/>
              </a:ext>
            </a:extLst>
          </p:cNvPr>
          <p:cNvSpPr txBox="1"/>
          <p:nvPr/>
        </p:nvSpPr>
        <p:spPr>
          <a:xfrm>
            <a:off x="1279032" y="4883417"/>
            <a:ext cx="321361" cy="184666"/>
          </a:xfrm>
          <a:prstGeom prst="rect">
            <a:avLst/>
          </a:prstGeom>
          <a:solidFill>
            <a:srgbClr val="FFFF00"/>
          </a:solidFill>
        </p:spPr>
        <p:txBody>
          <a:bodyPr wrap="square">
            <a:spAutoFit/>
          </a:bodyPr>
          <a:lstStyle/>
          <a:p>
            <a:pPr algn="ctr"/>
            <a:r>
              <a:rPr kumimoji="0" lang="en-US" altLang="ja-JP" sz="600" b="1" i="0" u="none" strike="noStrike" kern="1200" cap="none" spc="0" normalizeH="0" baseline="0" noProof="0" dirty="0">
                <a:ln>
                  <a:noFill/>
                </a:ln>
                <a:effectLst/>
                <a:uLnTx/>
                <a:uFillTx/>
                <a:latin typeface="Aptos"/>
                <a:ea typeface="+mn-ea"/>
                <a:cs typeface="+mn-cs"/>
              </a:rPr>
              <a:t>F6</a:t>
            </a:r>
            <a:endParaRPr lang="ja-JP" altLang="en-US" sz="1050"/>
          </a:p>
        </p:txBody>
      </p:sp>
      <p:sp>
        <p:nvSpPr>
          <p:cNvPr id="36" name="テキスト ボックス 35">
            <a:extLst>
              <a:ext uri="{FF2B5EF4-FFF2-40B4-BE49-F238E27FC236}">
                <a16:creationId xmlns:a16="http://schemas.microsoft.com/office/drawing/2014/main" id="{43949524-1B0F-FDCA-FF4B-473338E3AF88}"/>
              </a:ext>
            </a:extLst>
          </p:cNvPr>
          <p:cNvSpPr txBox="1"/>
          <p:nvPr/>
        </p:nvSpPr>
        <p:spPr>
          <a:xfrm>
            <a:off x="2272908" y="4876632"/>
            <a:ext cx="321361" cy="184666"/>
          </a:xfrm>
          <a:prstGeom prst="rect">
            <a:avLst/>
          </a:prstGeom>
          <a:solidFill>
            <a:srgbClr val="FFFF00"/>
          </a:solidFill>
        </p:spPr>
        <p:txBody>
          <a:bodyPr wrap="square">
            <a:spAutoFit/>
          </a:bodyPr>
          <a:lstStyle/>
          <a:p>
            <a:pPr algn="ctr"/>
            <a:r>
              <a:rPr lang="en-US" altLang="ja-JP" sz="600" b="1" dirty="0">
                <a:latin typeface="Aptos"/>
              </a:rPr>
              <a:t>L</a:t>
            </a:r>
            <a:r>
              <a:rPr lang="ja-JP" altLang="en-US" sz="600" b="1">
                <a:latin typeface="Aptos"/>
              </a:rPr>
              <a:t>６</a:t>
            </a:r>
            <a:endParaRPr lang="en-US" altLang="ja-JP" sz="600" b="1" dirty="0">
              <a:latin typeface="Aptos"/>
            </a:endParaRPr>
          </a:p>
        </p:txBody>
      </p:sp>
      <p:sp>
        <p:nvSpPr>
          <p:cNvPr id="37" name="テキスト ボックス 36">
            <a:extLst>
              <a:ext uri="{FF2B5EF4-FFF2-40B4-BE49-F238E27FC236}">
                <a16:creationId xmlns:a16="http://schemas.microsoft.com/office/drawing/2014/main" id="{D0237CD1-727E-93F4-22FC-81E4C129D639}"/>
              </a:ext>
            </a:extLst>
          </p:cNvPr>
          <p:cNvSpPr txBox="1"/>
          <p:nvPr/>
        </p:nvSpPr>
        <p:spPr>
          <a:xfrm rot="5400000">
            <a:off x="674160" y="4193579"/>
            <a:ext cx="436079" cy="200055"/>
          </a:xfrm>
          <a:prstGeom prst="rect">
            <a:avLst/>
          </a:prstGeom>
          <a:noFill/>
        </p:spPr>
        <p:txBody>
          <a:bodyPr wrap="square">
            <a:spAutoFit/>
          </a:bodyPr>
          <a:lstStyle/>
          <a:p>
            <a:pPr algn="ctr"/>
            <a:r>
              <a:rPr lang="ja-JP" altLang="en-US" sz="700"/>
              <a:t>・・・</a:t>
            </a:r>
          </a:p>
        </p:txBody>
      </p:sp>
      <p:sp>
        <p:nvSpPr>
          <p:cNvPr id="38" name="テキスト ボックス 37">
            <a:extLst>
              <a:ext uri="{FF2B5EF4-FFF2-40B4-BE49-F238E27FC236}">
                <a16:creationId xmlns:a16="http://schemas.microsoft.com/office/drawing/2014/main" id="{9B2D838E-34E9-8C0A-5FA2-1CAB5A88236B}"/>
              </a:ext>
            </a:extLst>
          </p:cNvPr>
          <p:cNvSpPr txBox="1"/>
          <p:nvPr/>
        </p:nvSpPr>
        <p:spPr>
          <a:xfrm rot="5400000">
            <a:off x="1754075" y="4178932"/>
            <a:ext cx="436079" cy="200055"/>
          </a:xfrm>
          <a:prstGeom prst="rect">
            <a:avLst/>
          </a:prstGeom>
          <a:noFill/>
        </p:spPr>
        <p:txBody>
          <a:bodyPr wrap="square">
            <a:spAutoFit/>
          </a:bodyPr>
          <a:lstStyle/>
          <a:p>
            <a:pPr algn="ctr"/>
            <a:r>
              <a:rPr lang="ja-JP" altLang="en-US" sz="700"/>
              <a:t>・・・</a:t>
            </a:r>
          </a:p>
        </p:txBody>
      </p:sp>
      <p:sp>
        <p:nvSpPr>
          <p:cNvPr id="39" name="テキスト ボックス 38">
            <a:extLst>
              <a:ext uri="{FF2B5EF4-FFF2-40B4-BE49-F238E27FC236}">
                <a16:creationId xmlns:a16="http://schemas.microsoft.com/office/drawing/2014/main" id="{611CFD29-216C-FABF-6B4F-572BC6C879CE}"/>
              </a:ext>
            </a:extLst>
          </p:cNvPr>
          <p:cNvSpPr txBox="1"/>
          <p:nvPr/>
        </p:nvSpPr>
        <p:spPr>
          <a:xfrm rot="5400000">
            <a:off x="1215685" y="4720335"/>
            <a:ext cx="436079" cy="200055"/>
          </a:xfrm>
          <a:prstGeom prst="rect">
            <a:avLst/>
          </a:prstGeom>
          <a:noFill/>
        </p:spPr>
        <p:txBody>
          <a:bodyPr wrap="square">
            <a:spAutoFit/>
          </a:bodyPr>
          <a:lstStyle/>
          <a:p>
            <a:pPr algn="ctr"/>
            <a:r>
              <a:rPr lang="ja-JP" altLang="en-US" sz="700">
                <a:solidFill>
                  <a:schemeClr val="bg1"/>
                </a:solidFill>
              </a:rPr>
              <a:t>・・・</a:t>
            </a:r>
          </a:p>
        </p:txBody>
      </p:sp>
      <p:sp>
        <p:nvSpPr>
          <p:cNvPr id="41" name="テキスト ボックス 40">
            <a:extLst>
              <a:ext uri="{FF2B5EF4-FFF2-40B4-BE49-F238E27FC236}">
                <a16:creationId xmlns:a16="http://schemas.microsoft.com/office/drawing/2014/main" id="{E89D5AEE-9CD1-98F7-7AD9-7E0C1401F3AA}"/>
              </a:ext>
            </a:extLst>
          </p:cNvPr>
          <p:cNvSpPr txBox="1"/>
          <p:nvPr/>
        </p:nvSpPr>
        <p:spPr>
          <a:xfrm rot="5400000">
            <a:off x="2208833" y="4705688"/>
            <a:ext cx="436079" cy="200055"/>
          </a:xfrm>
          <a:prstGeom prst="rect">
            <a:avLst/>
          </a:prstGeom>
          <a:noFill/>
        </p:spPr>
        <p:txBody>
          <a:bodyPr wrap="square">
            <a:spAutoFit/>
          </a:bodyPr>
          <a:lstStyle/>
          <a:p>
            <a:pPr algn="ctr"/>
            <a:r>
              <a:rPr lang="ja-JP" altLang="en-US" sz="700">
                <a:solidFill>
                  <a:schemeClr val="bg1"/>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571B-8648-6988-0A08-9549FE6FBFE9}"/>
            </a:ext>
          </a:extLst>
        </p:cNvPr>
        <p:cNvGrpSpPr/>
        <p:nvPr/>
      </p:nvGrpSpPr>
      <p:grpSpPr>
        <a:xfrm>
          <a:off x="0" y="0"/>
          <a:ext cx="0" cy="0"/>
          <a:chOff x="0" y="0"/>
          <a:chExt cx="0" cy="0"/>
        </a:xfrm>
      </p:grpSpPr>
      <p:pic>
        <p:nvPicPr>
          <p:cNvPr id="2" name="Picture 1" descr="_paper_texture.png">
            <a:extLst>
              <a:ext uri="{FF2B5EF4-FFF2-40B4-BE49-F238E27FC236}">
                <a16:creationId xmlns:a16="http://schemas.microsoft.com/office/drawing/2014/main" id="{91559450-5DF7-1B20-B803-DC3F30F853CD}"/>
              </a:ext>
            </a:extLst>
          </p:cNvPr>
          <p:cNvPicPr>
            <a:picLocks noChangeAspect="1"/>
          </p:cNvPicPr>
          <p:nvPr/>
        </p:nvPicPr>
        <p:blipFill>
          <a:blip r:embed="rId5"/>
          <a:stretch>
            <a:fillRect/>
          </a:stretch>
        </p:blipFill>
        <p:spPr>
          <a:xfrm>
            <a:off x="0" y="0"/>
            <a:ext cx="12191695" cy="6858000"/>
          </a:xfrm>
          <a:prstGeom prst="rect">
            <a:avLst/>
          </a:prstGeom>
        </p:spPr>
      </p:pic>
      <p:sp>
        <p:nvSpPr>
          <p:cNvPr id="3" name="Rectangle 2">
            <a:extLst>
              <a:ext uri="{FF2B5EF4-FFF2-40B4-BE49-F238E27FC236}">
                <a16:creationId xmlns:a16="http://schemas.microsoft.com/office/drawing/2014/main" id="{DFC15E1F-80FF-77A3-62C6-C27A7FF29C6B}"/>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FEC914B-00A2-D015-F94B-B848B00B741E}"/>
              </a:ext>
            </a:extLst>
          </p:cNvPr>
          <p:cNvSpPr/>
          <p:nvPr/>
        </p:nvSpPr>
        <p:spPr>
          <a:xfrm>
            <a:off x="347472" y="438912"/>
            <a:ext cx="11484864"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788BD6B-4520-9014-0BB4-2372E3B30C35}"/>
              </a:ext>
            </a:extLst>
          </p:cNvPr>
          <p:cNvSpPr/>
          <p:nvPr/>
        </p:nvSpPr>
        <p:spPr>
          <a:xfrm>
            <a:off x="621792" y="713232"/>
            <a:ext cx="10936224"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0D3476A0-5DA5-30BA-040A-D7B2F445DA2B}"/>
              </a:ext>
            </a:extLst>
          </p:cNvPr>
          <p:cNvSpPr txBox="1"/>
          <p:nvPr/>
        </p:nvSpPr>
        <p:spPr>
          <a:xfrm>
            <a:off x="1161288" y="3203460"/>
            <a:ext cx="5120640" cy="352439"/>
          </a:xfrm>
          <a:prstGeom prst="rect">
            <a:avLst/>
          </a:prstGeom>
          <a:noFill/>
        </p:spPr>
        <p:txBody>
          <a:bodyPr wrap="square" lIns="45720" tIns="18288" rIns="45720" bIns="18288" anchor="ctr">
            <a:spAutoFit/>
          </a:bodyPr>
          <a:lstStyle/>
          <a:p>
            <a:pPr algn="l"/>
            <a:r>
              <a:rPr sz="2000" b="1" dirty="0">
                <a:solidFill>
                  <a:srgbClr val="191919"/>
                </a:solidFill>
                <a:latin typeface="Aptos"/>
              </a:rPr>
              <a:t>0</a:t>
            </a:r>
            <a:r>
              <a:rPr lang="en-US" altLang="ja-JP" sz="2000" b="1" dirty="0">
                <a:solidFill>
                  <a:srgbClr val="191919"/>
                </a:solidFill>
                <a:latin typeface="Aptos"/>
              </a:rPr>
              <a:t>2</a:t>
            </a:r>
            <a:r>
              <a:rPr sz="2000" b="1" dirty="0">
                <a:solidFill>
                  <a:srgbClr val="191919"/>
                </a:solidFill>
                <a:latin typeface="Aptos"/>
              </a:rPr>
              <a:t>　</a:t>
            </a:r>
            <a:r>
              <a:rPr sz="2000" b="1" dirty="0" err="1">
                <a:solidFill>
                  <a:srgbClr val="191919"/>
                </a:solidFill>
                <a:latin typeface="Aptos"/>
              </a:rPr>
              <a:t>ケーブル</a:t>
            </a:r>
            <a:endParaRPr sz="2000" b="1" dirty="0">
              <a:solidFill>
                <a:srgbClr val="191919"/>
              </a:solidFill>
              <a:latin typeface="Aptos"/>
            </a:endParaRPr>
          </a:p>
        </p:txBody>
      </p:sp>
      <p:sp>
        <p:nvSpPr>
          <p:cNvPr id="23" name="TextBox 22">
            <a:extLst>
              <a:ext uri="{FF2B5EF4-FFF2-40B4-BE49-F238E27FC236}">
                <a16:creationId xmlns:a16="http://schemas.microsoft.com/office/drawing/2014/main" id="{6972D780-0096-3BCD-465E-F27584BC594C}"/>
              </a:ext>
            </a:extLst>
          </p:cNvPr>
          <p:cNvSpPr txBox="1"/>
          <p:nvPr/>
        </p:nvSpPr>
        <p:spPr>
          <a:xfrm>
            <a:off x="1161288" y="3749051"/>
            <a:ext cx="5120640" cy="258036"/>
          </a:xfrm>
          <a:prstGeom prst="rect">
            <a:avLst/>
          </a:prstGeom>
          <a:noFill/>
        </p:spPr>
        <p:txBody>
          <a:bodyPr wrap="square" lIns="45720" tIns="18288" rIns="45720" bIns="18288" anchor="ctr">
            <a:spAutoFit/>
          </a:bodyPr>
          <a:lstStyle/>
          <a:p>
            <a:r>
              <a:rPr lang="ja-JP" altLang="en-US" sz="1400">
                <a:solidFill>
                  <a:srgbClr val="787873"/>
                </a:solidFill>
                <a:latin typeface="Aptos"/>
              </a:rPr>
              <a:t>後からだと挿しづらいため先にモーターへ挿しておく</a:t>
            </a:r>
            <a:endParaRPr lang="en-US" sz="1400" b="0" dirty="0">
              <a:solidFill>
                <a:srgbClr val="787873"/>
              </a:solidFill>
              <a:latin typeface="Aptos"/>
            </a:endParaRPr>
          </a:p>
        </p:txBody>
      </p:sp>
      <p:sp>
        <p:nvSpPr>
          <p:cNvPr id="32" name="TextBox 31">
            <a:extLst>
              <a:ext uri="{FF2B5EF4-FFF2-40B4-BE49-F238E27FC236}">
                <a16:creationId xmlns:a16="http://schemas.microsoft.com/office/drawing/2014/main" id="{78DB218A-FE24-190F-7FC3-9C25EED3B3F5}"/>
              </a:ext>
            </a:extLst>
          </p:cNvPr>
          <p:cNvSpPr txBox="1"/>
          <p:nvPr/>
        </p:nvSpPr>
        <p:spPr>
          <a:xfrm>
            <a:off x="868680" y="5550563"/>
            <a:ext cx="10424160" cy="283154"/>
          </a:xfrm>
          <a:prstGeom prst="rect">
            <a:avLst/>
          </a:prstGeom>
          <a:noFill/>
        </p:spPr>
        <p:txBody>
          <a:bodyPr wrap="square" lIns="45720" tIns="18288" rIns="45720" bIns="18288" anchor="ctr">
            <a:spAutoFit/>
          </a:bodyPr>
          <a:lstStyle/>
          <a:p>
            <a:pPr algn="ctr"/>
            <a:r>
              <a:rPr lang="ja-JP" altLang="en-US" sz="1600" b="1">
                <a:solidFill>
                  <a:srgbClr val="191919"/>
                </a:solidFill>
                <a:latin typeface="Aptos"/>
              </a:rPr>
              <a:t>⚠️　組み上げてから気づくと分解が必要になるため組む前の確認が重要</a:t>
            </a:r>
            <a:endParaRPr sz="1600" b="1" dirty="0">
              <a:solidFill>
                <a:srgbClr val="191919"/>
              </a:solidFill>
              <a:latin typeface="Aptos"/>
            </a:endParaRPr>
          </a:p>
        </p:txBody>
      </p:sp>
      <p:sp>
        <p:nvSpPr>
          <p:cNvPr id="8" name="スライド番号プレースホルダー 7">
            <a:extLst>
              <a:ext uri="{FF2B5EF4-FFF2-40B4-BE49-F238E27FC236}">
                <a16:creationId xmlns:a16="http://schemas.microsoft.com/office/drawing/2014/main" id="{A60863B8-DCE6-67E5-1498-FA37FBC8AEEB}"/>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10" name="TextBox 6">
            <a:extLst>
              <a:ext uri="{FF2B5EF4-FFF2-40B4-BE49-F238E27FC236}">
                <a16:creationId xmlns:a16="http://schemas.microsoft.com/office/drawing/2014/main" id="{663FFFA4-E54F-EA25-5B9A-BE2B8D550980}"/>
              </a:ext>
            </a:extLst>
          </p:cNvPr>
          <p:cNvSpPr txBox="1"/>
          <p:nvPr/>
        </p:nvSpPr>
        <p:spPr>
          <a:xfrm>
            <a:off x="868680" y="1024128"/>
            <a:ext cx="5486400" cy="475488"/>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組み立てのポイント</a:t>
            </a:r>
          </a:p>
        </p:txBody>
      </p:sp>
      <p:pic>
        <p:nvPicPr>
          <p:cNvPr id="11" name="ビデオ-20261006-075837-3e1f797b_7687">
            <a:hlinkClick r:id="" action="ppaction://media"/>
            <a:extLst>
              <a:ext uri="{FF2B5EF4-FFF2-40B4-BE49-F238E27FC236}">
                <a16:creationId xmlns:a16="http://schemas.microsoft.com/office/drawing/2014/main" id="{72BD33BC-5A1A-E45C-3906-4FCADBCB2C47}"/>
              </a:ext>
            </a:extLst>
          </p:cNvPr>
          <p:cNvPicPr>
            <a:picLocks noChangeAspect="1"/>
          </p:cNvPicPr>
          <p:nvPr>
            <a:videoFile r:link="rId1"/>
            <p:extLst>
              <p:ext uri="{DAA4B4D4-6D71-4841-9C94-3DE7FCFB9230}">
                <p14:media xmlns:p14="http://schemas.microsoft.com/office/powerpoint/2010/main" r:embed="rId2">
                  <p14:trim st="5469.4306" end="11365.0926"/>
                </p14:media>
              </p:ext>
            </p:extLst>
          </p:nvPr>
        </p:nvPicPr>
        <p:blipFill>
          <a:blip r:embed="rId6"/>
          <a:stretch>
            <a:fillRect/>
          </a:stretch>
        </p:blipFill>
        <p:spPr>
          <a:xfrm>
            <a:off x="6446520" y="2103120"/>
            <a:ext cx="4846320" cy="2724912"/>
          </a:xfrm>
          <a:prstGeom prst="rect">
            <a:avLst/>
          </a:prstGeom>
        </p:spPr>
      </p:pic>
      <p:sp>
        <p:nvSpPr>
          <p:cNvPr id="9" name="TextBox 21">
            <a:extLst>
              <a:ext uri="{FF2B5EF4-FFF2-40B4-BE49-F238E27FC236}">
                <a16:creationId xmlns:a16="http://schemas.microsoft.com/office/drawing/2014/main" id="{0D3476A0-5DA5-30BA-040A-D7B2F445DA2B}"/>
              </a:ext>
            </a:extLst>
          </p:cNvPr>
          <p:cNvSpPr txBox="1"/>
          <p:nvPr/>
        </p:nvSpPr>
        <p:spPr>
          <a:xfrm>
            <a:off x="1161288" y="4261104"/>
            <a:ext cx="5120640" cy="384048"/>
          </a:xfrm>
          <a:prstGeom prst="rect">
            <a:avLst/>
          </a:prstGeom>
          <a:noFill/>
        </p:spPr>
        <p:txBody>
          <a:bodyPr wrap="square" lIns="45720" tIns="18288" rIns="45720" bIns="18288" anchor="ctr">
            <a:spAutoFit/>
          </a:bodyPr>
          <a:lstStyle/>
          <a:p>
            <a:pPr algn="l"/>
            <a:r>
              <a:rPr sz="2000" b="1" dirty="0" err="1">
                <a:solidFill>
                  <a:srgbClr val="191919"/>
                </a:solidFill>
                <a:latin typeface="Aptos"/>
              </a:rPr>
              <a:t>03　バリ取り</a:t>
            </a:r>
            <a:endParaRPr sz="2000" b="1" dirty="0">
              <a:solidFill>
                <a:srgbClr val="191919"/>
              </a:solidFill>
              <a:latin typeface="Aptos"/>
            </a:endParaRPr>
          </a:p>
        </p:txBody>
      </p:sp>
      <p:sp>
        <p:nvSpPr>
          <p:cNvPr id="12" name="TextBox 22">
            <a:extLst>
              <a:ext uri="{FF2B5EF4-FFF2-40B4-BE49-F238E27FC236}">
                <a16:creationId xmlns:a16="http://schemas.microsoft.com/office/drawing/2014/main" id="{6972D780-0096-3BCD-465E-F27584BC594C}"/>
              </a:ext>
            </a:extLst>
          </p:cNvPr>
          <p:cNvSpPr txBox="1"/>
          <p:nvPr/>
        </p:nvSpPr>
        <p:spPr>
          <a:xfrm>
            <a:off x="1161288" y="4829859"/>
            <a:ext cx="5120640" cy="252377"/>
          </a:xfrm>
          <a:prstGeom prst="rect">
            <a:avLst/>
          </a:prstGeom>
          <a:noFill/>
        </p:spPr>
        <p:txBody>
          <a:bodyPr wrap="square" lIns="45720" tIns="18288" rIns="45720" bIns="18288" anchor="ctr">
            <a:spAutoFit/>
          </a:bodyPr>
          <a:lstStyle/>
          <a:p>
            <a:r>
              <a:rPr lang="ja-JP" altLang="en-US" sz="1400">
                <a:solidFill>
                  <a:srgbClr val="787873"/>
                </a:solidFill>
                <a:latin typeface="Aptos"/>
              </a:rPr>
              <a:t>ネジ穴にバリが残っていると組み直しになる</a:t>
            </a:r>
            <a:endParaRPr lang="en-US" sz="1400" b="0" dirty="0">
              <a:solidFill>
                <a:srgbClr val="787873"/>
              </a:solidFill>
              <a:latin typeface="Aptos"/>
            </a:endParaRPr>
          </a:p>
        </p:txBody>
      </p:sp>
      <p:sp>
        <p:nvSpPr>
          <p:cNvPr id="13" name="TextBox 22">
            <a:extLst>
              <a:ext uri="{FF2B5EF4-FFF2-40B4-BE49-F238E27FC236}">
                <a16:creationId xmlns:a16="http://schemas.microsoft.com/office/drawing/2014/main" id="{6972D780-0096-3BCD-465E-F27584BC594C}"/>
              </a:ext>
            </a:extLst>
          </p:cNvPr>
          <p:cNvSpPr txBox="1"/>
          <p:nvPr/>
        </p:nvSpPr>
        <p:spPr>
          <a:xfrm>
            <a:off x="868680" y="1517904"/>
            <a:ext cx="5486400" cy="320040"/>
          </a:xfrm>
          <a:prstGeom prst="rect">
            <a:avLst/>
          </a:prstGeom>
          <a:noFill/>
        </p:spPr>
        <p:txBody>
          <a:bodyPr wrap="square" lIns="45720" tIns="18288" rIns="45720" bIns="18288" anchor="ctr">
            <a:spAutoFit/>
          </a:bodyPr>
          <a:lstStyle/>
          <a:p>
            <a:r>
              <a:rPr lang="ja-JP" altLang="en-US" sz="1400">
                <a:solidFill>
                  <a:srgbClr val="787873"/>
                </a:solidFill>
                <a:latin typeface="Aptos"/>
              </a:rPr>
              <a:t>実際に手を動かして分かったこと</a:t>
            </a:r>
            <a:endParaRPr lang="en-US" sz="1400" b="0" dirty="0">
              <a:solidFill>
                <a:srgbClr val="787873"/>
              </a:solidFill>
              <a:latin typeface="Aptos"/>
            </a:endParaRPr>
          </a:p>
        </p:txBody>
      </p:sp>
      <p:sp>
        <p:nvSpPr>
          <p:cNvPr id="14" name="TextBox 22">
            <a:extLst>
              <a:ext uri="{FF2B5EF4-FFF2-40B4-BE49-F238E27FC236}">
                <a16:creationId xmlns:a16="http://schemas.microsoft.com/office/drawing/2014/main" id="{6972D780-0096-3BCD-465E-F27584BC594C}"/>
              </a:ext>
            </a:extLst>
          </p:cNvPr>
          <p:cNvSpPr txBox="1"/>
          <p:nvPr/>
        </p:nvSpPr>
        <p:spPr>
          <a:xfrm>
            <a:off x="6446520" y="4953303"/>
            <a:ext cx="4846320" cy="252377"/>
          </a:xfrm>
          <a:prstGeom prst="rect">
            <a:avLst/>
          </a:prstGeom>
          <a:noFill/>
        </p:spPr>
        <p:txBody>
          <a:bodyPr wrap="square" lIns="45720" tIns="18288" rIns="45720" bIns="18288" anchor="ctr">
            <a:spAutoFit/>
          </a:bodyPr>
          <a:lstStyle/>
          <a:p>
            <a:pPr algn="r"/>
            <a:r>
              <a:rPr lang="ja-JP" altLang="en-US" sz="1400">
                <a:solidFill>
                  <a:srgbClr val="787873"/>
                </a:solidFill>
                <a:latin typeface="Aptos"/>
              </a:rPr>
              <a:t>テレオペレーションの様子</a:t>
            </a:r>
            <a:endParaRPr lang="en-US" sz="1400" b="0" dirty="0">
              <a:solidFill>
                <a:srgbClr val="787873"/>
              </a:solidFill>
              <a:latin typeface="Aptos"/>
            </a:endParaRPr>
          </a:p>
        </p:txBody>
      </p:sp>
      <p:sp>
        <p:nvSpPr>
          <p:cNvPr id="15" name="TextBox 21">
            <a:extLst>
              <a:ext uri="{FF2B5EF4-FFF2-40B4-BE49-F238E27FC236}">
                <a16:creationId xmlns:a16="http://schemas.microsoft.com/office/drawing/2014/main" id="{5FD9321F-8C20-597A-19D4-7B6F514C06FD}"/>
              </a:ext>
            </a:extLst>
          </p:cNvPr>
          <p:cNvSpPr txBox="1"/>
          <p:nvPr/>
        </p:nvSpPr>
        <p:spPr>
          <a:xfrm>
            <a:off x="1161288" y="2124617"/>
            <a:ext cx="5120640" cy="344710"/>
          </a:xfrm>
          <a:prstGeom prst="rect">
            <a:avLst/>
          </a:prstGeom>
          <a:noFill/>
        </p:spPr>
        <p:txBody>
          <a:bodyPr wrap="square" lIns="45720" tIns="18288" rIns="45720" bIns="18288" anchor="ctr">
            <a:spAutoFit/>
          </a:bodyPr>
          <a:lstStyle/>
          <a:p>
            <a:pPr algn="l"/>
            <a:r>
              <a:rPr lang="ja-JP" altLang="en-US" sz="2000" b="1">
                <a:solidFill>
                  <a:srgbClr val="191919"/>
                </a:solidFill>
                <a:latin typeface="Aptos"/>
              </a:rPr>
              <a:t>0</a:t>
            </a:r>
            <a:r>
              <a:rPr lang="en-US" altLang="ja-JP" sz="2000" b="1" dirty="0">
                <a:solidFill>
                  <a:srgbClr val="191919"/>
                </a:solidFill>
                <a:latin typeface="Aptos"/>
              </a:rPr>
              <a:t>1</a:t>
            </a:r>
            <a:r>
              <a:rPr lang="ja-JP" altLang="en-US" sz="2000" b="1">
                <a:solidFill>
                  <a:srgbClr val="191919"/>
                </a:solidFill>
                <a:latin typeface="Aptos"/>
              </a:rPr>
              <a:t>　組み立てにかかった時間</a:t>
            </a:r>
            <a:endParaRPr sz="2000" b="1" dirty="0">
              <a:solidFill>
                <a:srgbClr val="191919"/>
              </a:solidFill>
              <a:latin typeface="Aptos"/>
            </a:endParaRPr>
          </a:p>
        </p:txBody>
      </p:sp>
      <p:sp>
        <p:nvSpPr>
          <p:cNvPr id="16" name="TextBox 22">
            <a:extLst>
              <a:ext uri="{FF2B5EF4-FFF2-40B4-BE49-F238E27FC236}">
                <a16:creationId xmlns:a16="http://schemas.microsoft.com/office/drawing/2014/main" id="{5761CC1C-D7B6-6670-07C2-C42E7E543E12}"/>
              </a:ext>
            </a:extLst>
          </p:cNvPr>
          <p:cNvSpPr txBox="1"/>
          <p:nvPr/>
        </p:nvSpPr>
        <p:spPr>
          <a:xfrm>
            <a:off x="1161288" y="2673703"/>
            <a:ext cx="5120640" cy="252377"/>
          </a:xfrm>
          <a:prstGeom prst="rect">
            <a:avLst/>
          </a:prstGeom>
          <a:noFill/>
        </p:spPr>
        <p:txBody>
          <a:bodyPr wrap="square" lIns="45720" tIns="18288" rIns="45720" bIns="18288" anchor="ctr">
            <a:spAutoFit/>
          </a:bodyPr>
          <a:lstStyle/>
          <a:p>
            <a:r>
              <a:rPr lang="en-US" altLang="ja-JP" sz="1400" dirty="0">
                <a:solidFill>
                  <a:srgbClr val="787873"/>
                </a:solidFill>
                <a:latin typeface="Aptos"/>
              </a:rPr>
              <a:t>1</a:t>
            </a:r>
            <a:r>
              <a:rPr lang="ja-JP" altLang="en-US" sz="1400">
                <a:solidFill>
                  <a:srgbClr val="787873"/>
                </a:solidFill>
                <a:latin typeface="Aptos"/>
              </a:rPr>
              <a:t>つのアームの組み立てに約</a:t>
            </a:r>
            <a:r>
              <a:rPr lang="en-US" altLang="ja-JP" sz="1400" dirty="0">
                <a:solidFill>
                  <a:srgbClr val="787873"/>
                </a:solidFill>
                <a:latin typeface="Aptos"/>
              </a:rPr>
              <a:t>1</a:t>
            </a:r>
            <a:r>
              <a:rPr lang="ja-JP" altLang="en-US" sz="1400">
                <a:solidFill>
                  <a:srgbClr val="787873"/>
                </a:solidFill>
                <a:latin typeface="Aptos"/>
              </a:rPr>
              <a:t>時間半</a:t>
            </a:r>
            <a:endParaRPr sz="1400" b="0" dirty="0">
              <a:solidFill>
                <a:srgbClr val="787873"/>
              </a:solidFill>
              <a:latin typeface="Aptos"/>
            </a:endParaRPr>
          </a:p>
        </p:txBody>
      </p:sp>
      <p:sp>
        <p:nvSpPr>
          <p:cNvPr id="6" name="TextBox 3"/>
          <p:cNvSpPr txBox="1"/>
          <p:nvPr/>
        </p:nvSpPr>
        <p:spPr>
          <a:xfrm>
            <a:off x="868680" y="804672"/>
            <a:ext cx="4572000" cy="201168"/>
          </a:xfrm>
          <a:prstGeom prst="rect">
            <a:avLst/>
          </a:prstGeom>
          <a:noFill/>
        </p:spPr>
        <p:txBody>
          <a:bodyPr wrap="square" lIns="45720" tIns="18288" rIns="45720" bIns="18288" anchor="ctr">
            <a:spAutoFit/>
          </a:bodyPr>
          <a:lstStyle/>
          <a:p>
            <a:pPr algn="l"/>
            <a:r>
              <a:rPr sz="1050" b="1" dirty="0">
                <a:solidFill>
                  <a:srgbClr val="FFA900"/>
                </a:solidFill>
                <a:latin typeface="Aptos"/>
              </a:rPr>
              <a:t>04 / ASSEMBLY POINTS</a:t>
            </a:r>
          </a:p>
        </p:txBody>
      </p:sp>
    </p:spTree>
    <p:extLst>
      <p:ext uri="{BB962C8B-B14F-4D97-AF65-F5344CB8AC3E}">
        <p14:creationId xmlns:p14="http://schemas.microsoft.com/office/powerpoint/2010/main" val="293367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8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571B-8648-6988-0A08-9549FE6FBFE9}"/>
            </a:ext>
          </a:extLst>
        </p:cNvPr>
        <p:cNvGrpSpPr/>
        <p:nvPr/>
      </p:nvGrpSpPr>
      <p:grpSpPr>
        <a:xfrm>
          <a:off x="0" y="0"/>
          <a:ext cx="0" cy="0"/>
          <a:chOff x="0" y="0"/>
          <a:chExt cx="0" cy="0"/>
        </a:xfrm>
      </p:grpSpPr>
      <p:pic>
        <p:nvPicPr>
          <p:cNvPr id="2" name="Picture 1" descr="_paper_texture.png">
            <a:extLst>
              <a:ext uri="{FF2B5EF4-FFF2-40B4-BE49-F238E27FC236}">
                <a16:creationId xmlns:a16="http://schemas.microsoft.com/office/drawing/2014/main" id="{91559450-5DF7-1B20-B803-DC3F30F853CD}"/>
              </a:ext>
            </a:extLst>
          </p:cNvPr>
          <p:cNvPicPr>
            <a:picLocks noChangeAspect="1"/>
          </p:cNvPicPr>
          <p:nvPr/>
        </p:nvPicPr>
        <p:blipFill>
          <a:blip r:embed="rId3"/>
          <a:stretch>
            <a:fillRect/>
          </a:stretch>
        </p:blipFill>
        <p:spPr>
          <a:xfrm>
            <a:off x="0" y="0"/>
            <a:ext cx="12191695" cy="6858000"/>
          </a:xfrm>
          <a:prstGeom prst="rect">
            <a:avLst/>
          </a:prstGeom>
        </p:spPr>
      </p:pic>
      <p:sp>
        <p:nvSpPr>
          <p:cNvPr id="3" name="Rectangle 2">
            <a:extLst>
              <a:ext uri="{FF2B5EF4-FFF2-40B4-BE49-F238E27FC236}">
                <a16:creationId xmlns:a16="http://schemas.microsoft.com/office/drawing/2014/main" id="{DFC15E1F-80FF-77A3-62C6-C27A7FF29C6B}"/>
              </a:ext>
            </a:extLst>
          </p:cNvPr>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FEC914B-00A2-D015-F94B-B848B00B741E}"/>
              </a:ext>
            </a:extLst>
          </p:cNvPr>
          <p:cNvSpPr/>
          <p:nvPr/>
        </p:nvSpPr>
        <p:spPr>
          <a:xfrm>
            <a:off x="347472" y="438912"/>
            <a:ext cx="11484864"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788BD6B-4520-9014-0BB4-2372E3B30C35}"/>
              </a:ext>
            </a:extLst>
          </p:cNvPr>
          <p:cNvSpPr/>
          <p:nvPr/>
        </p:nvSpPr>
        <p:spPr>
          <a:xfrm>
            <a:off x="621792" y="713232"/>
            <a:ext cx="10936224"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0D3476A0-5DA5-30BA-040A-D7B2F445DA2B}"/>
              </a:ext>
            </a:extLst>
          </p:cNvPr>
          <p:cNvSpPr txBox="1"/>
          <p:nvPr/>
        </p:nvSpPr>
        <p:spPr>
          <a:xfrm>
            <a:off x="1921612" y="4800086"/>
            <a:ext cx="3291840" cy="365760"/>
          </a:xfrm>
          <a:prstGeom prst="rect">
            <a:avLst/>
          </a:prstGeom>
          <a:noFill/>
        </p:spPr>
        <p:txBody>
          <a:bodyPr wrap="square" lIns="45720" tIns="18288" rIns="45720" bIns="18288" anchor="ctr">
            <a:spAutoFit/>
          </a:bodyPr>
          <a:lstStyle/>
          <a:p>
            <a:pPr algn="ctr"/>
            <a:r>
              <a:rPr sz="2000" b="1" dirty="0" err="1">
                <a:solidFill>
                  <a:srgbClr val="191919"/>
                </a:solidFill>
                <a:latin typeface="Aptos"/>
              </a:rPr>
              <a:t>検出されなかった接続</a:t>
            </a:r>
            <a:endParaRPr sz="2000" b="1" dirty="0">
              <a:solidFill>
                <a:srgbClr val="191919"/>
              </a:solidFill>
              <a:latin typeface="Aptos"/>
            </a:endParaRPr>
          </a:p>
        </p:txBody>
      </p:sp>
      <p:sp>
        <p:nvSpPr>
          <p:cNvPr id="23" name="TextBox 22">
            <a:extLst>
              <a:ext uri="{FF2B5EF4-FFF2-40B4-BE49-F238E27FC236}">
                <a16:creationId xmlns:a16="http://schemas.microsoft.com/office/drawing/2014/main" id="{6972D780-0096-3BCD-465E-F27584BC594C}"/>
              </a:ext>
            </a:extLst>
          </p:cNvPr>
          <p:cNvSpPr txBox="1"/>
          <p:nvPr/>
        </p:nvSpPr>
        <p:spPr>
          <a:xfrm>
            <a:off x="1921612" y="5231681"/>
            <a:ext cx="329184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アダプタの位置が基板側</a:t>
            </a:r>
            <a:endParaRPr lang="en-US" sz="1400" b="0" dirty="0">
              <a:solidFill>
                <a:srgbClr val="787873"/>
              </a:solidFill>
              <a:latin typeface="Aptos"/>
            </a:endParaRPr>
          </a:p>
        </p:txBody>
      </p:sp>
      <p:sp>
        <p:nvSpPr>
          <p:cNvPr id="8" name="スライド番号プレースホルダー 7">
            <a:extLst>
              <a:ext uri="{FF2B5EF4-FFF2-40B4-BE49-F238E27FC236}">
                <a16:creationId xmlns:a16="http://schemas.microsoft.com/office/drawing/2014/main" id="{A60863B8-DCE6-67E5-1498-FA37FBC8AEEB}"/>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0" name="TextBox 6">
            <a:extLst>
              <a:ext uri="{FF2B5EF4-FFF2-40B4-BE49-F238E27FC236}">
                <a16:creationId xmlns:a16="http://schemas.microsoft.com/office/drawing/2014/main" id="{663FFFA4-E54F-EA25-5B9A-BE2B8D550980}"/>
              </a:ext>
            </a:extLst>
          </p:cNvPr>
          <p:cNvSpPr txBox="1"/>
          <p:nvPr/>
        </p:nvSpPr>
        <p:spPr>
          <a:xfrm>
            <a:off x="868680" y="1024128"/>
            <a:ext cx="7315200" cy="475488"/>
          </a:xfrm>
          <a:prstGeom prst="rect">
            <a:avLst/>
          </a:prstGeom>
          <a:noFill/>
        </p:spPr>
        <p:txBody>
          <a:bodyPr wrap="square" lIns="45720" tIns="18288" rIns="45720" bIns="18288" anchor="ctr">
            <a:spAutoFit/>
          </a:bodyPr>
          <a:lstStyle/>
          <a:p>
            <a:pPr algn="l"/>
            <a:r>
              <a:rPr lang="ja-JP" altLang="en-US" sz="2500" b="1">
                <a:solidFill>
                  <a:srgbClr val="191919"/>
                </a:solidFill>
                <a:latin typeface="Aptos"/>
              </a:rPr>
              <a:t>つまずいた点：基板が検出されない</a:t>
            </a:r>
          </a:p>
        </p:txBody>
      </p:sp>
      <p:sp>
        <p:nvSpPr>
          <p:cNvPr id="6" name="TextBox 21">
            <a:extLst>
              <a:ext uri="{FF2B5EF4-FFF2-40B4-BE49-F238E27FC236}">
                <a16:creationId xmlns:a16="http://schemas.microsoft.com/office/drawing/2014/main" id="{68E96994-0C74-8F79-A621-3454F76679EE}"/>
              </a:ext>
            </a:extLst>
          </p:cNvPr>
          <p:cNvSpPr txBox="1"/>
          <p:nvPr/>
        </p:nvSpPr>
        <p:spPr>
          <a:xfrm>
            <a:off x="7316572" y="4800086"/>
            <a:ext cx="3291840" cy="365760"/>
          </a:xfrm>
          <a:prstGeom prst="rect">
            <a:avLst/>
          </a:prstGeom>
          <a:noFill/>
        </p:spPr>
        <p:txBody>
          <a:bodyPr wrap="square" lIns="45720" tIns="18288" rIns="45720" bIns="18288" anchor="ctr">
            <a:spAutoFit/>
          </a:bodyPr>
          <a:lstStyle/>
          <a:p>
            <a:pPr algn="ctr"/>
            <a:r>
              <a:rPr lang="ja-JP" altLang="en-US" sz="2000" b="1">
                <a:solidFill>
                  <a:srgbClr val="191919"/>
                </a:solidFill>
                <a:latin typeface="Aptos"/>
              </a:rPr>
              <a:t>検出された接続</a:t>
            </a:r>
            <a:endParaRPr sz="2000" b="1" dirty="0">
              <a:solidFill>
                <a:srgbClr val="191919"/>
              </a:solidFill>
              <a:latin typeface="Aptos"/>
            </a:endParaRPr>
          </a:p>
        </p:txBody>
      </p:sp>
      <p:sp>
        <p:nvSpPr>
          <p:cNvPr id="7" name="TextBox 22">
            <a:extLst>
              <a:ext uri="{FF2B5EF4-FFF2-40B4-BE49-F238E27FC236}">
                <a16:creationId xmlns:a16="http://schemas.microsoft.com/office/drawing/2014/main" id="{50CF9B4A-D6DD-E8F1-5783-7DEF408FD6C7}"/>
              </a:ext>
            </a:extLst>
          </p:cNvPr>
          <p:cNvSpPr txBox="1"/>
          <p:nvPr/>
        </p:nvSpPr>
        <p:spPr>
          <a:xfrm>
            <a:off x="7316572" y="5231681"/>
            <a:ext cx="3291840" cy="252377"/>
          </a:xfrm>
          <a:prstGeom prst="rect">
            <a:avLst/>
          </a:prstGeom>
          <a:noFill/>
        </p:spPr>
        <p:txBody>
          <a:bodyPr wrap="square" lIns="45720" tIns="18288" rIns="45720" bIns="18288" anchor="ctr">
            <a:spAutoFit/>
          </a:bodyPr>
          <a:lstStyle/>
          <a:p>
            <a:pPr algn="ctr"/>
            <a:r>
              <a:rPr lang="ja-JP" altLang="en-US" sz="1400">
                <a:solidFill>
                  <a:srgbClr val="787873"/>
                </a:solidFill>
                <a:latin typeface="Aptos"/>
              </a:rPr>
              <a:t>アダプタの位置がPC側</a:t>
            </a:r>
            <a:endParaRPr lang="en-US" altLang="ja-JP" sz="1400" dirty="0">
              <a:solidFill>
                <a:srgbClr val="787873"/>
              </a:solidFill>
              <a:latin typeface="Aptos"/>
            </a:endParaRPr>
          </a:p>
        </p:txBody>
      </p:sp>
      <p:pic>
        <p:nvPicPr>
          <p:cNvPr id="12" name="図 11">
            <a:extLst>
              <a:ext uri="{FF2B5EF4-FFF2-40B4-BE49-F238E27FC236}">
                <a16:creationId xmlns:a16="http://schemas.microsoft.com/office/drawing/2014/main" id="{A8AE537A-54EB-5401-4D3B-588809376CE7}"/>
              </a:ext>
            </a:extLst>
          </p:cNvPr>
          <p:cNvPicPr>
            <a:picLocks noChangeAspect="1"/>
          </p:cNvPicPr>
          <p:nvPr/>
        </p:nvPicPr>
        <p:blipFill>
          <a:blip r:embed="rId4"/>
          <a:srcRect/>
          <a:stretch>
            <a:fillRect/>
          </a:stretch>
        </p:blipFill>
        <p:spPr>
          <a:xfrm rot="19800000">
            <a:off x="1941621" y="2518124"/>
            <a:ext cx="1343539" cy="1061830"/>
          </a:xfrm>
          <a:prstGeom prst="rect">
            <a:avLst/>
          </a:prstGeom>
        </p:spPr>
      </p:pic>
      <p:pic>
        <p:nvPicPr>
          <p:cNvPr id="16" name="図 15">
            <a:extLst>
              <a:ext uri="{FF2B5EF4-FFF2-40B4-BE49-F238E27FC236}">
                <a16:creationId xmlns:a16="http://schemas.microsoft.com/office/drawing/2014/main" id="{429ABC8B-EE6D-8A00-21A9-04137332F7A7}"/>
              </a:ext>
            </a:extLst>
          </p:cNvPr>
          <p:cNvPicPr>
            <a:picLocks noChangeAspect="1"/>
          </p:cNvPicPr>
          <p:nvPr/>
        </p:nvPicPr>
        <p:blipFill>
          <a:blip r:embed="rId5"/>
          <a:srcRect/>
          <a:stretch>
            <a:fillRect/>
          </a:stretch>
        </p:blipFill>
        <p:spPr>
          <a:xfrm rot="900000">
            <a:off x="3038199" y="2251552"/>
            <a:ext cx="1781270" cy="1333942"/>
          </a:xfrm>
          <a:prstGeom prst="rect">
            <a:avLst/>
          </a:prstGeom>
        </p:spPr>
      </p:pic>
      <p:pic>
        <p:nvPicPr>
          <p:cNvPr id="18" name="グラフィックス 17" descr="ノート PC 単色塗りつぶし">
            <a:extLst>
              <a:ext uri="{FF2B5EF4-FFF2-40B4-BE49-F238E27FC236}">
                <a16:creationId xmlns:a16="http://schemas.microsoft.com/office/drawing/2014/main" id="{09C244C0-9F2B-0E1D-D089-36F052F349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93008" y="3578511"/>
            <a:ext cx="1167610" cy="1167610"/>
          </a:xfrm>
          <a:prstGeom prst="rect">
            <a:avLst/>
          </a:prstGeom>
        </p:spPr>
      </p:pic>
      <p:cxnSp>
        <p:nvCxnSpPr>
          <p:cNvPr id="19" name="Connector 10">
            <a:extLst>
              <a:ext uri="{FF2B5EF4-FFF2-40B4-BE49-F238E27FC236}">
                <a16:creationId xmlns:a16="http://schemas.microsoft.com/office/drawing/2014/main" id="{C4DDF2E0-FDB0-DA68-C7E7-67BB3F9FDCA2}"/>
              </a:ext>
            </a:extLst>
          </p:cNvPr>
          <p:cNvCxnSpPr>
            <a:cxnSpLocks/>
          </p:cNvCxnSpPr>
          <p:nvPr/>
        </p:nvCxnSpPr>
        <p:spPr>
          <a:xfrm>
            <a:off x="2720387" y="3243098"/>
            <a:ext cx="175534" cy="601612"/>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24" name="Connector 10">
            <a:extLst>
              <a:ext uri="{FF2B5EF4-FFF2-40B4-BE49-F238E27FC236}">
                <a16:creationId xmlns:a16="http://schemas.microsoft.com/office/drawing/2014/main" id="{293143D1-D2D9-44E4-7419-02EDE5B3CB03}"/>
              </a:ext>
            </a:extLst>
          </p:cNvPr>
          <p:cNvCxnSpPr>
            <a:cxnSpLocks/>
            <a:stCxn id="16" idx="1"/>
          </p:cNvCxnSpPr>
          <p:nvPr/>
        </p:nvCxnSpPr>
        <p:spPr>
          <a:xfrm flipV="1">
            <a:off x="3068547" y="2669105"/>
            <a:ext cx="354219" cy="18905"/>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sp>
        <p:nvSpPr>
          <p:cNvPr id="27" name="十字形 26">
            <a:extLst>
              <a:ext uri="{FF2B5EF4-FFF2-40B4-BE49-F238E27FC236}">
                <a16:creationId xmlns:a16="http://schemas.microsoft.com/office/drawing/2014/main" id="{5C689F2A-6E7E-9003-547F-44CF6427C768}"/>
              </a:ext>
            </a:extLst>
          </p:cNvPr>
          <p:cNvSpPr/>
          <p:nvPr/>
        </p:nvSpPr>
        <p:spPr>
          <a:xfrm rot="2700000">
            <a:off x="1918695" y="1931112"/>
            <a:ext cx="582306" cy="582306"/>
          </a:xfrm>
          <a:prstGeom prst="plus">
            <a:avLst>
              <a:gd name="adj" fmla="val 44651"/>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95DC14DC-ED01-4027-84AC-E88392926F06}"/>
              </a:ext>
            </a:extLst>
          </p:cNvPr>
          <p:cNvPicPr>
            <a:picLocks noChangeAspect="1"/>
          </p:cNvPicPr>
          <p:nvPr/>
        </p:nvPicPr>
        <p:blipFill>
          <a:blip r:embed="rId4"/>
          <a:srcRect/>
          <a:stretch>
            <a:fillRect/>
          </a:stretch>
        </p:blipFill>
        <p:spPr>
          <a:xfrm rot="19800000">
            <a:off x="7503813" y="2501868"/>
            <a:ext cx="1343539" cy="1061830"/>
          </a:xfrm>
          <a:prstGeom prst="rect">
            <a:avLst/>
          </a:prstGeom>
        </p:spPr>
      </p:pic>
      <p:pic>
        <p:nvPicPr>
          <p:cNvPr id="29" name="図 28">
            <a:extLst>
              <a:ext uri="{FF2B5EF4-FFF2-40B4-BE49-F238E27FC236}">
                <a16:creationId xmlns:a16="http://schemas.microsoft.com/office/drawing/2014/main" id="{0F87EFC2-B900-8927-E4EB-33D2F0706D5C}"/>
              </a:ext>
            </a:extLst>
          </p:cNvPr>
          <p:cNvPicPr>
            <a:picLocks noChangeAspect="1"/>
          </p:cNvPicPr>
          <p:nvPr/>
        </p:nvPicPr>
        <p:blipFill>
          <a:blip r:embed="rId5"/>
          <a:srcRect/>
          <a:stretch>
            <a:fillRect/>
          </a:stretch>
        </p:blipFill>
        <p:spPr>
          <a:xfrm rot="900000">
            <a:off x="7883234" y="3434629"/>
            <a:ext cx="1781270" cy="1333942"/>
          </a:xfrm>
          <a:prstGeom prst="rect">
            <a:avLst/>
          </a:prstGeom>
        </p:spPr>
      </p:pic>
      <p:pic>
        <p:nvPicPr>
          <p:cNvPr id="33" name="グラフィックス 32" descr="ノート PC 単色塗りつぶし">
            <a:extLst>
              <a:ext uri="{FF2B5EF4-FFF2-40B4-BE49-F238E27FC236}">
                <a16:creationId xmlns:a16="http://schemas.microsoft.com/office/drawing/2014/main" id="{224ACD3A-C48E-A00B-639A-554678A1C49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20664" y="2005542"/>
            <a:ext cx="1167610" cy="1167610"/>
          </a:xfrm>
          <a:prstGeom prst="rect">
            <a:avLst/>
          </a:prstGeom>
        </p:spPr>
      </p:pic>
      <p:cxnSp>
        <p:nvCxnSpPr>
          <p:cNvPr id="34" name="Connector 10">
            <a:extLst>
              <a:ext uri="{FF2B5EF4-FFF2-40B4-BE49-F238E27FC236}">
                <a16:creationId xmlns:a16="http://schemas.microsoft.com/office/drawing/2014/main" id="{B0B0C07A-D892-CAB3-8F17-B74C06AA5B01}"/>
              </a:ext>
            </a:extLst>
          </p:cNvPr>
          <p:cNvCxnSpPr>
            <a:cxnSpLocks/>
          </p:cNvCxnSpPr>
          <p:nvPr/>
        </p:nvCxnSpPr>
        <p:spPr>
          <a:xfrm flipH="1">
            <a:off x="8186857" y="3226842"/>
            <a:ext cx="95722" cy="617868"/>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cxnSp>
        <p:nvCxnSpPr>
          <p:cNvPr id="35" name="Connector 10">
            <a:extLst>
              <a:ext uri="{FF2B5EF4-FFF2-40B4-BE49-F238E27FC236}">
                <a16:creationId xmlns:a16="http://schemas.microsoft.com/office/drawing/2014/main" id="{084B9170-3FEB-6324-0C66-6B18113226AE}"/>
              </a:ext>
            </a:extLst>
          </p:cNvPr>
          <p:cNvCxnSpPr>
            <a:cxnSpLocks/>
          </p:cNvCxnSpPr>
          <p:nvPr/>
        </p:nvCxnSpPr>
        <p:spPr>
          <a:xfrm flipV="1">
            <a:off x="8743555" y="2650200"/>
            <a:ext cx="354219" cy="18905"/>
          </a:xfrm>
          <a:prstGeom prst="line">
            <a:avLst/>
          </a:prstGeom>
          <a:ln w="38100">
            <a:solidFill>
              <a:srgbClr val="FFA900"/>
            </a:solidFill>
          </a:ln>
        </p:spPr>
        <p:style>
          <a:lnRef idx="2">
            <a:schemeClr val="accent1"/>
          </a:lnRef>
          <a:fillRef idx="0">
            <a:schemeClr val="accent1"/>
          </a:fillRef>
          <a:effectRef idx="1">
            <a:schemeClr val="accent1"/>
          </a:effectRef>
          <a:fontRef idx="minor">
            <a:schemeClr val="tx1"/>
          </a:fontRef>
        </p:style>
      </p:cxnSp>
      <p:sp>
        <p:nvSpPr>
          <p:cNvPr id="37" name="円/楕円 36">
            <a:extLst>
              <a:ext uri="{FF2B5EF4-FFF2-40B4-BE49-F238E27FC236}">
                <a16:creationId xmlns:a16="http://schemas.microsoft.com/office/drawing/2014/main" id="{169BEA9C-BBA1-59E2-B39C-1324921FCD03}"/>
              </a:ext>
            </a:extLst>
          </p:cNvPr>
          <p:cNvSpPr/>
          <p:nvPr/>
        </p:nvSpPr>
        <p:spPr>
          <a:xfrm>
            <a:off x="7318414" y="1910683"/>
            <a:ext cx="511084" cy="511084"/>
          </a:xfrm>
          <a:prstGeom prst="ellipse">
            <a:avLst/>
          </a:prstGeom>
          <a:noFill/>
          <a:ln w="762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9" name="TextBox 22">
            <a:extLst>
              <a:ext uri="{FF2B5EF4-FFF2-40B4-BE49-F238E27FC236}">
                <a16:creationId xmlns:a16="http://schemas.microsoft.com/office/drawing/2014/main" id="{6972D780-0096-3BCD-465E-F27584BC594C}"/>
              </a:ext>
            </a:extLst>
          </p:cNvPr>
          <p:cNvSpPr txBox="1"/>
          <p:nvPr/>
        </p:nvSpPr>
        <p:spPr>
          <a:xfrm>
            <a:off x="868679" y="1517904"/>
            <a:ext cx="10132695" cy="313932"/>
          </a:xfrm>
          <a:prstGeom prst="rect">
            <a:avLst/>
          </a:prstGeom>
          <a:noFill/>
        </p:spPr>
        <p:txBody>
          <a:bodyPr wrap="square" lIns="45720" tIns="18288" rIns="45720" bIns="18288" anchor="ctr">
            <a:spAutoFit/>
          </a:bodyPr>
          <a:lstStyle/>
          <a:p>
            <a:r>
              <a:rPr lang="ja-JP" altLang="en-US">
                <a:solidFill>
                  <a:srgbClr val="787873"/>
                </a:solidFill>
                <a:latin typeface="Aptos"/>
              </a:rPr>
              <a:t>変換アダプタの位置によって、モーター制御基板が認識されないことがあった（高森氏が発見）</a:t>
            </a:r>
            <a:endParaRPr lang="en-US" b="0" dirty="0">
              <a:solidFill>
                <a:srgbClr val="787873"/>
              </a:solidFill>
              <a:latin typeface="Aptos"/>
            </a:endParaRPr>
          </a:p>
        </p:txBody>
      </p:sp>
      <p:sp>
        <p:nvSpPr>
          <p:cNvPr id="11" name="TextBox 3"/>
          <p:cNvSpPr txBox="1"/>
          <p:nvPr/>
        </p:nvSpPr>
        <p:spPr>
          <a:xfrm>
            <a:off x="868680" y="804672"/>
            <a:ext cx="4572000" cy="201168"/>
          </a:xfrm>
          <a:prstGeom prst="rect">
            <a:avLst/>
          </a:prstGeom>
          <a:noFill/>
        </p:spPr>
        <p:txBody>
          <a:bodyPr wrap="square" lIns="45720" tIns="18288" rIns="45720" bIns="18288" anchor="ctr">
            <a:spAutoFit/>
          </a:bodyPr>
          <a:lstStyle/>
          <a:p>
            <a:pPr algn="l"/>
            <a:r>
              <a:rPr sz="1050" b="1" dirty="0">
                <a:solidFill>
                  <a:srgbClr val="FFA900"/>
                </a:solidFill>
                <a:latin typeface="Aptos"/>
              </a:rPr>
              <a:t>05 / TROUBLESHOOTING</a:t>
            </a:r>
          </a:p>
        </p:txBody>
      </p:sp>
    </p:spTree>
    <p:extLst>
      <p:ext uri="{BB962C8B-B14F-4D97-AF65-F5344CB8AC3E}">
        <p14:creationId xmlns:p14="http://schemas.microsoft.com/office/powerpoint/2010/main" val="2933673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577398"/>
            <a:ext cx="4572000" cy="198516"/>
          </a:xfrm>
          <a:prstGeom prst="rect">
            <a:avLst/>
          </a:prstGeom>
          <a:noFill/>
        </p:spPr>
        <p:txBody>
          <a:bodyPr wrap="square" lIns="45720" tIns="18288" rIns="45720" bIns="18288" anchor="ctr">
            <a:spAutoFit/>
          </a:bodyPr>
          <a:lstStyle/>
          <a:p>
            <a:pPr algn="l"/>
            <a:r>
              <a:rPr sz="1050" b="1" dirty="0">
                <a:solidFill>
                  <a:srgbClr val="FFA900"/>
                </a:solidFill>
                <a:latin typeface="Aptos"/>
              </a:rPr>
              <a:t>06 / CALIBRATION</a:t>
            </a:r>
          </a:p>
        </p:txBody>
      </p:sp>
      <p:sp>
        <p:nvSpPr>
          <p:cNvPr id="5" name="TextBox 4"/>
          <p:cNvSpPr txBox="1"/>
          <p:nvPr/>
        </p:nvSpPr>
        <p:spPr>
          <a:xfrm>
            <a:off x="713232" y="804672"/>
            <a:ext cx="10789920" cy="502920"/>
          </a:xfrm>
          <a:prstGeom prst="rect">
            <a:avLst/>
          </a:prstGeom>
          <a:noFill/>
        </p:spPr>
        <p:txBody>
          <a:bodyPr wrap="square" lIns="45720" tIns="18288" rIns="45720" bIns="18288" anchor="ctr">
            <a:spAutoFit/>
          </a:bodyPr>
          <a:lstStyle/>
          <a:p>
            <a:pPr algn="l"/>
            <a:r>
              <a:rPr sz="2500" b="1">
                <a:solidFill>
                  <a:srgbClr val="191919"/>
                </a:solidFill>
                <a:latin typeface="Aptos"/>
              </a:rPr>
              <a:t>キャリブレーション</a:t>
            </a:r>
          </a:p>
        </p:txBody>
      </p:sp>
      <p:sp>
        <p:nvSpPr>
          <p:cNvPr id="6" name="TextBox 5"/>
          <p:cNvSpPr txBox="1"/>
          <p:nvPr/>
        </p:nvSpPr>
        <p:spPr>
          <a:xfrm>
            <a:off x="731520" y="1324363"/>
            <a:ext cx="10424160" cy="313932"/>
          </a:xfrm>
          <a:prstGeom prst="rect">
            <a:avLst/>
          </a:prstGeom>
          <a:noFill/>
        </p:spPr>
        <p:txBody>
          <a:bodyPr wrap="square" lIns="45720" tIns="18288" rIns="45720" bIns="18288" anchor="ctr">
            <a:spAutoFit/>
          </a:bodyPr>
          <a:lstStyle/>
          <a:p>
            <a:pPr algn="l"/>
            <a:r>
              <a:rPr lang="ja-JP" altLang="en-US">
                <a:solidFill>
                  <a:srgbClr val="787873"/>
                </a:solidFill>
                <a:latin typeface="Aptos"/>
              </a:rPr>
              <a:t>→ </a:t>
            </a:r>
            <a:r>
              <a:rPr b="0" dirty="0" err="1">
                <a:solidFill>
                  <a:srgbClr val="787873"/>
                </a:solidFill>
                <a:latin typeface="Aptos"/>
              </a:rPr>
              <a:t>リーダ</a:t>
            </a:r>
            <a:r>
              <a:rPr lang="ja-JP" altLang="en-US" b="0">
                <a:solidFill>
                  <a:srgbClr val="787873"/>
                </a:solidFill>
                <a:latin typeface="Aptos"/>
              </a:rPr>
              <a:t>ー</a:t>
            </a:r>
            <a:r>
              <a:rPr b="0" dirty="0" err="1">
                <a:solidFill>
                  <a:srgbClr val="787873"/>
                </a:solidFill>
                <a:latin typeface="Aptos"/>
              </a:rPr>
              <a:t>とフォロワ</a:t>
            </a:r>
            <a:r>
              <a:rPr lang="ja-JP" altLang="en-US" b="0">
                <a:solidFill>
                  <a:srgbClr val="787873"/>
                </a:solidFill>
                <a:latin typeface="Aptos"/>
              </a:rPr>
              <a:t>ー</a:t>
            </a:r>
            <a:r>
              <a:rPr b="0" dirty="0" err="1">
                <a:solidFill>
                  <a:srgbClr val="787873"/>
                </a:solidFill>
                <a:latin typeface="Aptos"/>
              </a:rPr>
              <a:t>の可動域を対応づけリーダ</a:t>
            </a:r>
            <a:r>
              <a:rPr lang="ja-JP" altLang="en-US" b="0">
                <a:solidFill>
                  <a:srgbClr val="787873"/>
                </a:solidFill>
                <a:latin typeface="Aptos"/>
              </a:rPr>
              <a:t>ー</a:t>
            </a:r>
            <a:r>
              <a:rPr b="0" dirty="0" err="1">
                <a:solidFill>
                  <a:srgbClr val="787873"/>
                </a:solidFill>
                <a:latin typeface="Aptos"/>
              </a:rPr>
              <a:t>の動きにフォロワーが追従するようにする</a:t>
            </a:r>
            <a:endParaRPr b="0" dirty="0">
              <a:solidFill>
                <a:srgbClr val="787873"/>
              </a:solidFill>
              <a:latin typeface="Aptos"/>
            </a:endParaRPr>
          </a:p>
        </p:txBody>
      </p:sp>
      <p:grpSp>
        <p:nvGrpSpPr>
          <p:cNvPr id="27" name="グループ化 26">
            <a:extLst>
              <a:ext uri="{FF2B5EF4-FFF2-40B4-BE49-F238E27FC236}">
                <a16:creationId xmlns:a16="http://schemas.microsoft.com/office/drawing/2014/main" id="{A62029D8-A74A-E363-9D33-0CBF5B1CF04A}"/>
              </a:ext>
            </a:extLst>
          </p:cNvPr>
          <p:cNvGrpSpPr/>
          <p:nvPr/>
        </p:nvGrpSpPr>
        <p:grpSpPr>
          <a:xfrm>
            <a:off x="1452745" y="2212848"/>
            <a:ext cx="2331720" cy="1572768"/>
            <a:chOff x="3538728" y="2212848"/>
            <a:chExt cx="2331720" cy="1572768"/>
          </a:xfrm>
        </p:grpSpPr>
        <p:sp>
          <p:nvSpPr>
            <p:cNvPr id="12" name="Rectangle 11"/>
            <p:cNvSpPr/>
            <p:nvPr/>
          </p:nvSpPr>
          <p:spPr>
            <a:xfrm>
              <a:off x="3538728" y="2212848"/>
              <a:ext cx="2331720" cy="1572768"/>
            </a:xfrm>
            <a:prstGeom prst="rect">
              <a:avLst/>
            </a:prstGeom>
            <a:solidFill>
              <a:srgbClr val="F6F6F2"/>
            </a:solidFill>
            <a:ln w="38100">
              <a:solidFill>
                <a:srgbClr val="FFA9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3630168" y="2325630"/>
              <a:ext cx="2148840" cy="313932"/>
            </a:xfrm>
            <a:prstGeom prst="rect">
              <a:avLst/>
            </a:prstGeom>
            <a:noFill/>
          </p:spPr>
          <p:txBody>
            <a:bodyPr wrap="square" lIns="45720" tIns="18288" rIns="45720" bIns="18288" anchor="ctr">
              <a:spAutoFit/>
            </a:bodyPr>
            <a:lstStyle/>
            <a:p>
              <a:pPr algn="ctr"/>
              <a:r>
                <a:rPr b="1" dirty="0">
                  <a:solidFill>
                    <a:srgbClr val="FFA900"/>
                  </a:solidFill>
                  <a:latin typeface="Aptos"/>
                </a:rPr>
                <a:t>0</a:t>
              </a:r>
              <a:r>
                <a:rPr lang="en-US" altLang="ja-JP" b="1" dirty="0">
                  <a:solidFill>
                    <a:srgbClr val="FFA900"/>
                  </a:solidFill>
                  <a:latin typeface="Aptos"/>
                </a:rPr>
                <a:t>1</a:t>
              </a:r>
              <a:endParaRPr b="1" dirty="0">
                <a:solidFill>
                  <a:srgbClr val="FFA900"/>
                </a:solidFill>
                <a:latin typeface="Aptos"/>
              </a:endParaRPr>
            </a:p>
          </p:txBody>
        </p:sp>
        <p:sp>
          <p:nvSpPr>
            <p:cNvPr id="14" name="TextBox 13"/>
            <p:cNvSpPr txBox="1"/>
            <p:nvPr/>
          </p:nvSpPr>
          <p:spPr>
            <a:xfrm>
              <a:off x="3630168"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初期姿勢に合わせる</a:t>
              </a:r>
            </a:p>
          </p:txBody>
        </p:sp>
        <p:sp>
          <p:nvSpPr>
            <p:cNvPr id="15" name="TextBox 14"/>
            <p:cNvSpPr txBox="1"/>
            <p:nvPr/>
          </p:nvSpPr>
          <p:spPr>
            <a:xfrm>
              <a:off x="3648456" y="3298463"/>
              <a:ext cx="2103120" cy="206210"/>
            </a:xfrm>
            <a:prstGeom prst="rect">
              <a:avLst/>
            </a:prstGeom>
            <a:noFill/>
          </p:spPr>
          <p:txBody>
            <a:bodyPr wrap="square" lIns="45720" tIns="18288" rIns="45720" bIns="18288" anchor="ctr">
              <a:spAutoFit/>
            </a:bodyPr>
            <a:lstStyle/>
            <a:p>
              <a:pPr algn="ctr"/>
              <a:r>
                <a:rPr sz="1050" b="0" dirty="0" err="1">
                  <a:solidFill>
                    <a:srgbClr val="787873"/>
                  </a:solidFill>
                  <a:latin typeface="Aptos"/>
                </a:rPr>
                <a:t>規定の姿勢にしてから開始</a:t>
              </a:r>
              <a:endParaRPr sz="1050" b="0" dirty="0">
                <a:solidFill>
                  <a:srgbClr val="787873"/>
                </a:solidFill>
                <a:latin typeface="Aptos"/>
              </a:endParaRPr>
            </a:p>
          </p:txBody>
        </p:sp>
      </p:grpSp>
      <p:cxnSp>
        <p:nvCxnSpPr>
          <p:cNvPr id="16" name="Connector 15"/>
          <p:cNvCxnSpPr>
            <a:cxnSpLocks/>
            <a:stCxn id="12" idx="3"/>
          </p:cNvCxnSpPr>
          <p:nvPr/>
        </p:nvCxnSpPr>
        <p:spPr>
          <a:xfrm>
            <a:off x="3784465" y="2999232"/>
            <a:ext cx="116415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grpSp>
        <p:nvGrpSpPr>
          <p:cNvPr id="28" name="グループ化 27">
            <a:extLst>
              <a:ext uri="{FF2B5EF4-FFF2-40B4-BE49-F238E27FC236}">
                <a16:creationId xmlns:a16="http://schemas.microsoft.com/office/drawing/2014/main" id="{92890A1B-B2C0-A592-BCAF-2E54ABDDAB9F}"/>
              </a:ext>
            </a:extLst>
          </p:cNvPr>
          <p:cNvGrpSpPr/>
          <p:nvPr/>
        </p:nvGrpSpPr>
        <p:grpSpPr>
          <a:xfrm>
            <a:off x="4948615" y="2212848"/>
            <a:ext cx="2331720" cy="1572768"/>
            <a:chOff x="6391656" y="2212848"/>
            <a:chExt cx="2331720" cy="1572768"/>
          </a:xfrm>
        </p:grpSpPr>
        <p:sp>
          <p:nvSpPr>
            <p:cNvPr id="17" name="Rectangle 16"/>
            <p:cNvSpPr/>
            <p:nvPr/>
          </p:nvSpPr>
          <p:spPr>
            <a:xfrm>
              <a:off x="6391656" y="2212848"/>
              <a:ext cx="2331720" cy="157276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83096" y="2325630"/>
              <a:ext cx="2148840" cy="313932"/>
            </a:xfrm>
            <a:prstGeom prst="rect">
              <a:avLst/>
            </a:prstGeom>
            <a:noFill/>
          </p:spPr>
          <p:txBody>
            <a:bodyPr wrap="square" lIns="45720" tIns="18288" rIns="45720" bIns="18288" anchor="ctr">
              <a:spAutoFit/>
            </a:bodyPr>
            <a:lstStyle/>
            <a:p>
              <a:pPr algn="ctr"/>
              <a:r>
                <a:rPr b="1" dirty="0">
                  <a:solidFill>
                    <a:srgbClr val="FFA900"/>
                  </a:solidFill>
                  <a:latin typeface="Aptos"/>
                </a:rPr>
                <a:t>02</a:t>
              </a:r>
            </a:p>
          </p:txBody>
        </p:sp>
        <p:sp>
          <p:nvSpPr>
            <p:cNvPr id="19" name="TextBox 18"/>
            <p:cNvSpPr txBox="1"/>
            <p:nvPr/>
          </p:nvSpPr>
          <p:spPr>
            <a:xfrm>
              <a:off x="6483096"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可動域の記録</a:t>
              </a:r>
            </a:p>
          </p:txBody>
        </p:sp>
        <p:sp>
          <p:nvSpPr>
            <p:cNvPr id="20" name="TextBox 19"/>
            <p:cNvSpPr txBox="1"/>
            <p:nvPr/>
          </p:nvSpPr>
          <p:spPr>
            <a:xfrm>
              <a:off x="6501384" y="3298463"/>
              <a:ext cx="2103120" cy="206210"/>
            </a:xfrm>
            <a:prstGeom prst="rect">
              <a:avLst/>
            </a:prstGeom>
            <a:noFill/>
          </p:spPr>
          <p:txBody>
            <a:bodyPr wrap="square" lIns="45720" tIns="18288" rIns="45720" bIns="18288" anchor="ctr">
              <a:spAutoFit/>
            </a:bodyPr>
            <a:lstStyle/>
            <a:p>
              <a:pPr algn="ctr"/>
              <a:r>
                <a:rPr sz="1050" b="0">
                  <a:solidFill>
                    <a:srgbClr val="787873"/>
                  </a:solidFill>
                  <a:latin typeface="Aptos"/>
                </a:rPr>
                <a:t>各関節のMIN・MAXを記録</a:t>
              </a:r>
            </a:p>
          </p:txBody>
        </p:sp>
      </p:grpSp>
      <p:cxnSp>
        <p:nvCxnSpPr>
          <p:cNvPr id="21" name="Connector 20"/>
          <p:cNvCxnSpPr>
            <a:cxnSpLocks/>
            <a:stCxn id="17" idx="3"/>
            <a:endCxn id="22" idx="1"/>
          </p:cNvCxnSpPr>
          <p:nvPr/>
        </p:nvCxnSpPr>
        <p:spPr>
          <a:xfrm>
            <a:off x="7280335" y="2999232"/>
            <a:ext cx="1164150" cy="0"/>
          </a:xfrm>
          <a:prstGeom prst="line">
            <a:avLst/>
          </a:prstGeom>
          <a:ln w="25400">
            <a:solidFill>
              <a:srgbClr val="FFA900"/>
            </a:solidFill>
          </a:ln>
        </p:spPr>
        <p:style>
          <a:lnRef idx="2">
            <a:schemeClr val="accent1"/>
          </a:lnRef>
          <a:fillRef idx="0">
            <a:schemeClr val="accent1"/>
          </a:fillRef>
          <a:effectRef idx="1">
            <a:schemeClr val="accent1"/>
          </a:effectRef>
          <a:fontRef idx="minor">
            <a:schemeClr val="tx1"/>
          </a:fontRef>
        </p:style>
      </p:cxnSp>
      <p:grpSp>
        <p:nvGrpSpPr>
          <p:cNvPr id="29" name="グループ化 28">
            <a:extLst>
              <a:ext uri="{FF2B5EF4-FFF2-40B4-BE49-F238E27FC236}">
                <a16:creationId xmlns:a16="http://schemas.microsoft.com/office/drawing/2014/main" id="{44043890-AD2C-9B62-077F-B95A30B46CDA}"/>
              </a:ext>
            </a:extLst>
          </p:cNvPr>
          <p:cNvGrpSpPr/>
          <p:nvPr/>
        </p:nvGrpSpPr>
        <p:grpSpPr>
          <a:xfrm>
            <a:off x="8444485" y="2212848"/>
            <a:ext cx="2331720" cy="1572768"/>
            <a:chOff x="9244584" y="2212848"/>
            <a:chExt cx="2331720" cy="1572768"/>
          </a:xfrm>
        </p:grpSpPr>
        <p:sp>
          <p:nvSpPr>
            <p:cNvPr id="22" name="Rectangle 21"/>
            <p:cNvSpPr/>
            <p:nvPr/>
          </p:nvSpPr>
          <p:spPr>
            <a:xfrm>
              <a:off x="9244584" y="2212848"/>
              <a:ext cx="2331720" cy="1572768"/>
            </a:xfrm>
            <a:prstGeom prst="rect">
              <a:avLst/>
            </a:prstGeom>
            <a:solidFill>
              <a:srgbClr val="F6F6F2"/>
            </a:solidFill>
            <a:ln>
              <a:solidFill>
                <a:srgbClr val="F6F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36024" y="2325630"/>
              <a:ext cx="2148840" cy="313932"/>
            </a:xfrm>
            <a:prstGeom prst="rect">
              <a:avLst/>
            </a:prstGeom>
            <a:noFill/>
          </p:spPr>
          <p:txBody>
            <a:bodyPr wrap="square" lIns="45720" tIns="18288" rIns="45720" bIns="18288" anchor="ctr">
              <a:spAutoFit/>
            </a:bodyPr>
            <a:lstStyle/>
            <a:p>
              <a:pPr algn="ctr"/>
              <a:r>
                <a:rPr b="1" dirty="0">
                  <a:solidFill>
                    <a:srgbClr val="FFA900"/>
                  </a:solidFill>
                  <a:latin typeface="Aptos"/>
                </a:rPr>
                <a:t>0</a:t>
              </a:r>
              <a:r>
                <a:rPr lang="en-US" altLang="ja-JP" b="1" dirty="0">
                  <a:solidFill>
                    <a:srgbClr val="FFA900"/>
                  </a:solidFill>
                  <a:latin typeface="Aptos"/>
                </a:rPr>
                <a:t>3</a:t>
              </a:r>
              <a:endParaRPr b="1" dirty="0">
                <a:solidFill>
                  <a:srgbClr val="FFA900"/>
                </a:solidFill>
                <a:latin typeface="Aptos"/>
              </a:endParaRPr>
            </a:p>
          </p:txBody>
        </p:sp>
        <p:sp>
          <p:nvSpPr>
            <p:cNvPr id="24" name="TextBox 23"/>
            <p:cNvSpPr txBox="1"/>
            <p:nvPr/>
          </p:nvSpPr>
          <p:spPr>
            <a:xfrm>
              <a:off x="9336024" y="2670048"/>
              <a:ext cx="2148840" cy="411480"/>
            </a:xfrm>
            <a:prstGeom prst="rect">
              <a:avLst/>
            </a:prstGeom>
            <a:noFill/>
          </p:spPr>
          <p:txBody>
            <a:bodyPr wrap="square" lIns="45720" tIns="18288" rIns="45720" bIns="18288" anchor="ctr">
              <a:spAutoFit/>
            </a:bodyPr>
            <a:lstStyle/>
            <a:p>
              <a:pPr algn="ctr"/>
              <a:r>
                <a:rPr sz="1600" b="1">
                  <a:solidFill>
                    <a:srgbClr val="191919"/>
                  </a:solidFill>
                  <a:latin typeface="Aptos"/>
                </a:rPr>
                <a:t>動作確認</a:t>
              </a:r>
            </a:p>
          </p:txBody>
        </p:sp>
        <p:sp>
          <p:nvSpPr>
            <p:cNvPr id="25" name="TextBox 24"/>
            <p:cNvSpPr txBox="1"/>
            <p:nvPr/>
          </p:nvSpPr>
          <p:spPr>
            <a:xfrm>
              <a:off x="9354311" y="3302310"/>
              <a:ext cx="2103120" cy="198516"/>
            </a:xfrm>
            <a:prstGeom prst="rect">
              <a:avLst/>
            </a:prstGeom>
            <a:noFill/>
          </p:spPr>
          <p:txBody>
            <a:bodyPr wrap="square" lIns="45720" tIns="18288" rIns="45720" bIns="18288" anchor="ctr">
              <a:spAutoFit/>
            </a:bodyPr>
            <a:lstStyle/>
            <a:p>
              <a:pPr algn="ctr"/>
              <a:r>
                <a:rPr sz="1050" b="0">
                  <a:solidFill>
                    <a:srgbClr val="787873"/>
                  </a:solidFill>
                  <a:latin typeface="Aptos"/>
                </a:rPr>
                <a:t>テレオペレーションで追従を確認</a:t>
              </a:r>
            </a:p>
          </p:txBody>
        </p:sp>
      </p:grpSp>
      <p:sp>
        <p:nvSpPr>
          <p:cNvPr id="30" name="スライド番号プレースホルダー 29">
            <a:extLst>
              <a:ext uri="{FF2B5EF4-FFF2-40B4-BE49-F238E27FC236}">
                <a16:creationId xmlns:a16="http://schemas.microsoft.com/office/drawing/2014/main" id="{54982393-90BF-98B3-FEF3-2C117B8B890E}"/>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100" name="TextBox 4"/>
          <p:cNvSpPr txBox="1"/>
          <p:nvPr/>
        </p:nvSpPr>
        <p:spPr>
          <a:xfrm>
            <a:off x="1005840" y="1823019"/>
            <a:ext cx="3657600" cy="313932"/>
          </a:xfrm>
          <a:prstGeom prst="rect">
            <a:avLst/>
          </a:prstGeom>
          <a:noFill/>
        </p:spPr>
        <p:txBody>
          <a:bodyPr wrap="square" lIns="45720" tIns="18288" rIns="45720" bIns="18288" anchor="ctr">
            <a:spAutoFit/>
          </a:bodyPr>
          <a:lstStyle/>
          <a:p>
            <a:pPr algn="l"/>
            <a:r>
              <a:rPr b="1" dirty="0" err="1">
                <a:solidFill>
                  <a:srgbClr val="FFA900"/>
                </a:solidFill>
                <a:latin typeface="Aptos"/>
              </a:rPr>
              <a:t>方法</a:t>
            </a:r>
            <a:endParaRPr b="1" dirty="0">
              <a:solidFill>
                <a:srgbClr val="FFA900"/>
              </a:solidFill>
              <a:latin typeface="Aptos"/>
            </a:endParaRPr>
          </a:p>
        </p:txBody>
      </p:sp>
      <p:sp>
        <p:nvSpPr>
          <p:cNvPr id="101" name="TextBox 4"/>
          <p:cNvSpPr txBox="1"/>
          <p:nvPr/>
        </p:nvSpPr>
        <p:spPr>
          <a:xfrm>
            <a:off x="1005840" y="4106119"/>
            <a:ext cx="4572000" cy="313932"/>
          </a:xfrm>
          <a:prstGeom prst="rect">
            <a:avLst/>
          </a:prstGeom>
          <a:noFill/>
        </p:spPr>
        <p:txBody>
          <a:bodyPr wrap="square" lIns="45720" tIns="18288" rIns="45720" bIns="18288" anchor="ctr">
            <a:spAutoFit/>
          </a:bodyPr>
          <a:lstStyle/>
          <a:p>
            <a:pPr algn="l"/>
            <a:r>
              <a:rPr b="1" dirty="0" err="1">
                <a:solidFill>
                  <a:srgbClr val="FFA900"/>
                </a:solidFill>
                <a:latin typeface="Aptos"/>
              </a:rPr>
              <a:t>つまずいた点</a:t>
            </a:r>
            <a:endParaRPr b="1" dirty="0">
              <a:solidFill>
                <a:srgbClr val="FFA900"/>
              </a:solidFill>
              <a:latin typeface="Aptos"/>
            </a:endParaRPr>
          </a:p>
        </p:txBody>
      </p:sp>
      <p:sp>
        <p:nvSpPr>
          <p:cNvPr id="102" name="TextBox 5"/>
          <p:cNvSpPr txBox="1"/>
          <p:nvPr/>
        </p:nvSpPr>
        <p:spPr>
          <a:xfrm>
            <a:off x="1048703" y="5774770"/>
            <a:ext cx="2194560" cy="206210"/>
          </a:xfrm>
          <a:prstGeom prst="rect">
            <a:avLst/>
          </a:prstGeom>
          <a:noFill/>
        </p:spPr>
        <p:txBody>
          <a:bodyPr wrap="square" lIns="45720" tIns="18288" rIns="45720" bIns="18288" anchor="ctr">
            <a:spAutoFit/>
          </a:bodyPr>
          <a:lstStyle/>
          <a:p>
            <a:pPr algn="ctr"/>
            <a:r>
              <a:rPr sz="1100" b="0" dirty="0" err="1">
                <a:solidFill>
                  <a:srgbClr val="787873"/>
                </a:solidFill>
                <a:latin typeface="Aptos"/>
              </a:rPr>
              <a:t>規定の初期姿勢</a:t>
            </a:r>
            <a:endParaRPr sz="1100" b="0" dirty="0">
              <a:solidFill>
                <a:srgbClr val="787873"/>
              </a:solidFill>
              <a:latin typeface="Aptos"/>
            </a:endParaRPr>
          </a:p>
        </p:txBody>
      </p:sp>
      <p:sp>
        <p:nvSpPr>
          <p:cNvPr id="103" name="TextBox 4"/>
          <p:cNvSpPr txBox="1"/>
          <p:nvPr/>
        </p:nvSpPr>
        <p:spPr>
          <a:xfrm>
            <a:off x="3743326" y="4470027"/>
            <a:ext cx="8092440" cy="313932"/>
          </a:xfrm>
          <a:prstGeom prst="rect">
            <a:avLst/>
          </a:prstGeom>
          <a:noFill/>
        </p:spPr>
        <p:txBody>
          <a:bodyPr wrap="square" lIns="45720" tIns="18288" rIns="45720" bIns="18288" anchor="ctr">
            <a:spAutoFit/>
          </a:bodyPr>
          <a:lstStyle/>
          <a:p>
            <a:pPr algn="l"/>
            <a:r>
              <a:rPr b="1" dirty="0">
                <a:solidFill>
                  <a:srgbClr val="191919"/>
                </a:solidFill>
                <a:latin typeface="Aptos"/>
              </a:rPr>
              <a:t>① </a:t>
            </a:r>
            <a:r>
              <a:rPr b="1" dirty="0" err="1">
                <a:solidFill>
                  <a:srgbClr val="191919"/>
                </a:solidFill>
                <a:latin typeface="Aptos"/>
              </a:rPr>
              <a:t>初期姿勢を取らずに開始した</a:t>
            </a:r>
            <a:endParaRPr b="1" dirty="0">
              <a:solidFill>
                <a:srgbClr val="191919"/>
              </a:solidFill>
              <a:latin typeface="Aptos"/>
            </a:endParaRPr>
          </a:p>
        </p:txBody>
      </p:sp>
      <p:sp>
        <p:nvSpPr>
          <p:cNvPr id="104" name="TextBox 5"/>
          <p:cNvSpPr txBox="1"/>
          <p:nvPr/>
        </p:nvSpPr>
        <p:spPr>
          <a:xfrm>
            <a:off x="3743326" y="4896896"/>
            <a:ext cx="8092440" cy="283154"/>
          </a:xfrm>
          <a:prstGeom prst="rect">
            <a:avLst/>
          </a:prstGeom>
          <a:noFill/>
        </p:spPr>
        <p:txBody>
          <a:bodyPr wrap="square" lIns="45720" tIns="18288" rIns="45720" bIns="18288" anchor="ctr">
            <a:spAutoFit/>
          </a:bodyPr>
          <a:lstStyle/>
          <a:p>
            <a:pPr algn="l"/>
            <a:r>
              <a:rPr sz="1600" b="0" dirty="0" err="1">
                <a:solidFill>
                  <a:srgbClr val="787873"/>
                </a:solidFill>
                <a:latin typeface="Aptos"/>
              </a:rPr>
              <a:t>各関節の可動域の最大・最小がずれたため規定の姿勢に合わせ直してやり直した</a:t>
            </a:r>
            <a:endParaRPr sz="1600" b="0" dirty="0">
              <a:solidFill>
                <a:srgbClr val="787873"/>
              </a:solidFill>
              <a:latin typeface="Aptos"/>
            </a:endParaRPr>
          </a:p>
        </p:txBody>
      </p:sp>
      <p:sp>
        <p:nvSpPr>
          <p:cNvPr id="105" name="TextBox 4"/>
          <p:cNvSpPr txBox="1"/>
          <p:nvPr/>
        </p:nvSpPr>
        <p:spPr>
          <a:xfrm>
            <a:off x="3743326" y="5252283"/>
            <a:ext cx="8092440" cy="313932"/>
          </a:xfrm>
          <a:prstGeom prst="rect">
            <a:avLst/>
          </a:prstGeom>
          <a:noFill/>
        </p:spPr>
        <p:txBody>
          <a:bodyPr wrap="square" lIns="45720" tIns="18288" rIns="45720" bIns="18288" anchor="ctr">
            <a:spAutoFit/>
          </a:bodyPr>
          <a:lstStyle/>
          <a:p>
            <a:pPr algn="l"/>
            <a:r>
              <a:rPr b="1" dirty="0">
                <a:solidFill>
                  <a:srgbClr val="191919"/>
                </a:solidFill>
                <a:latin typeface="Aptos"/>
              </a:rPr>
              <a:t>② </a:t>
            </a:r>
            <a:r>
              <a:rPr b="1" dirty="0" err="1">
                <a:solidFill>
                  <a:srgbClr val="191919"/>
                </a:solidFill>
                <a:latin typeface="Aptos"/>
              </a:rPr>
              <a:t>IDを割り振るコマンドを誤って実行した</a:t>
            </a:r>
            <a:endParaRPr b="1" dirty="0">
              <a:solidFill>
                <a:srgbClr val="191919"/>
              </a:solidFill>
              <a:latin typeface="Aptos"/>
            </a:endParaRPr>
          </a:p>
        </p:txBody>
      </p:sp>
      <p:sp>
        <p:nvSpPr>
          <p:cNvPr id="106" name="TextBox 5"/>
          <p:cNvSpPr txBox="1"/>
          <p:nvPr/>
        </p:nvSpPr>
        <p:spPr>
          <a:xfrm>
            <a:off x="3743326" y="5679152"/>
            <a:ext cx="8092440" cy="283154"/>
          </a:xfrm>
          <a:prstGeom prst="rect">
            <a:avLst/>
          </a:prstGeom>
          <a:noFill/>
        </p:spPr>
        <p:txBody>
          <a:bodyPr wrap="square" lIns="45720" tIns="18288" rIns="45720" bIns="18288" anchor="ctr">
            <a:spAutoFit/>
          </a:bodyPr>
          <a:lstStyle/>
          <a:p>
            <a:pPr algn="l"/>
            <a:r>
              <a:rPr sz="1600" b="0" dirty="0">
                <a:solidFill>
                  <a:srgbClr val="787873"/>
                </a:solidFill>
                <a:latin typeface="Aptos"/>
              </a:rPr>
              <a:t>モータIDの1番が6番と認識されすべてのモータのID割り振りがやり直しになった</a:t>
            </a:r>
          </a:p>
        </p:txBody>
      </p:sp>
      <p:pic>
        <p:nvPicPr>
          <p:cNvPr id="26" name="図 25">
            <a:extLst>
              <a:ext uri="{FF2B5EF4-FFF2-40B4-BE49-F238E27FC236}">
                <a16:creationId xmlns:a16="http://schemas.microsoft.com/office/drawing/2014/main" id="{340CA8B4-57EA-C6A2-CDAF-033C7877C901}"/>
              </a:ext>
            </a:extLst>
          </p:cNvPr>
          <p:cNvPicPr>
            <a:picLocks noChangeAspect="1"/>
          </p:cNvPicPr>
          <p:nvPr/>
        </p:nvPicPr>
        <p:blipFill>
          <a:blip r:embed="rId4"/>
          <a:srcRect l="22572" t="3771" r="14668" b="42107"/>
          <a:stretch>
            <a:fillRect/>
          </a:stretch>
        </p:blipFill>
        <p:spPr>
          <a:xfrm>
            <a:off x="1002983" y="4165537"/>
            <a:ext cx="2350008" cy="1568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paper_texture.pn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347472" y="438912"/>
            <a:ext cx="11484864" cy="58978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 y="438912"/>
            <a:ext cx="137160" cy="5897880"/>
          </a:xfrm>
          <a:prstGeom prst="rect">
            <a:avLst/>
          </a:prstGeom>
          <a:solidFill>
            <a:srgbClr val="FFA900"/>
          </a:solidFill>
          <a:ln>
            <a:solidFill>
              <a:srgbClr val="FFA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194560"/>
            <a:ext cx="6400800" cy="822960"/>
          </a:xfrm>
          <a:prstGeom prst="rect">
            <a:avLst/>
          </a:prstGeom>
          <a:noFill/>
        </p:spPr>
        <p:txBody>
          <a:bodyPr wrap="square" lIns="45720" tIns="18288" rIns="45720" bIns="18288" anchor="ctr">
            <a:spAutoFit/>
          </a:bodyPr>
          <a:lstStyle/>
          <a:p>
            <a:pPr algn="l"/>
            <a:r>
              <a:rPr sz="3400" b="1">
                <a:solidFill>
                  <a:srgbClr val="191919"/>
                </a:solidFill>
                <a:latin typeface="Aptos"/>
              </a:rPr>
              <a:t>Thank you.</a:t>
            </a:r>
          </a:p>
        </p:txBody>
      </p:sp>
      <p:sp>
        <p:nvSpPr>
          <p:cNvPr id="6" name="TextBox 5"/>
          <p:cNvSpPr txBox="1"/>
          <p:nvPr/>
        </p:nvSpPr>
        <p:spPr>
          <a:xfrm>
            <a:off x="960120" y="3063240"/>
            <a:ext cx="6400800" cy="411480"/>
          </a:xfrm>
          <a:prstGeom prst="rect">
            <a:avLst/>
          </a:prstGeom>
          <a:noFill/>
        </p:spPr>
        <p:txBody>
          <a:bodyPr wrap="square" lIns="45720" tIns="18288" rIns="45720" bIns="18288" anchor="ctr">
            <a:spAutoFit/>
          </a:bodyPr>
          <a:lstStyle/>
          <a:p>
            <a:pPr algn="l"/>
            <a:r>
              <a:rPr sz="1600" b="0">
                <a:solidFill>
                  <a:srgbClr val="787873"/>
                </a:solidFill>
                <a:latin typeface="Aptos"/>
              </a:rPr>
              <a:t>ご清聴ありがとうございました。</a:t>
            </a:r>
          </a:p>
        </p:txBody>
      </p:sp>
      <p:sp>
        <p:nvSpPr>
          <p:cNvPr id="10" name="スライド番号プレースホルダー 9">
            <a:extLst>
              <a:ext uri="{FF2B5EF4-FFF2-40B4-BE49-F238E27FC236}">
                <a16:creationId xmlns:a16="http://schemas.microsoft.com/office/drawing/2014/main" id="{55070560-060F-5745-063B-82E2FDCF836D}"/>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TotalTime>
  <Words>1367</Words>
  <Application>Microsoft Macintosh PowerPoint</Application>
  <PresentationFormat>ワイド画面</PresentationFormat>
  <Paragraphs>246</Paragraphs>
  <Slides>8</Slides>
  <Notes>8</Notes>
  <HiddenSlides>0</HiddenSlides>
  <MMClips>1</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Yu Gothic</vt:lpstr>
      <vt:lpstr>Aptos</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Corporate Presentation Template</dc:title>
  <dc:subject/>
  <dc:creator>OpenAI</dc:creator>
  <cp:keywords/>
  <dc:description>generated using python-pptx</dc:description>
  <cp:lastModifiedBy>嶺田　あんず</cp:lastModifiedBy>
  <cp:revision>76</cp:revision>
  <dcterms:created xsi:type="dcterms:W3CDTF">2013-01-27T09:14:16Z</dcterms:created>
  <dcterms:modified xsi:type="dcterms:W3CDTF">2026-10-14T02:20:25Z</dcterms:modified>
  <cp:category/>
</cp:coreProperties>
</file>