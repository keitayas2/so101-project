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7E7"/>
    <a:srgbClr val="FFA9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92"/>
    <p:restoredTop sz="94635"/>
  </p:normalViewPr>
  <p:slideViewPr>
    <p:cSldViewPr snapToGrid="0" snapToObjects="1">
      <p:cViewPr>
        <p:scale>
          <a:sx n="50" d="100"/>
          <a:sy n="50" d="100"/>
        </p:scale>
        <p:origin x="1544" y="25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7566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中間報告のうち、私が担当した準備工程についてご報告します。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第5回から第9回にかけての流れです。組み立てと3Dプリントを並行して進め、キャリブレーションを経て学習のフェーズに入りました。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組み立ては1時間40分。3Dプリントではスパゲッティエラーと、柱とオブジェクトの重なりによる再印刷の2件のトラブルがありました。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DD26F-FBD0-8CF6-369B-8046ABF6D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D51A7-911B-1288-0784-D516F8B988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703EA9-D643-55C0-1C7A-C00BC82D14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組み立ては1時間40分。3Dプリントではスパゲッティエラーと、柱とオブジェクトの重なりによる再印刷の2件のトラブルがありました。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9F594-0AC6-B9F2-F45D-C0C19D328E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2493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学習の前段にあたる、ハードウェア側の準備を担当しました。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組み立てで特に重要だった3点です。</a:t>
            </a:r>
          </a:p>
          <a:p>
            <a:r>
              <a:t>1つ目、ケーブルは先にモーターへ挿しておくこと。あとから挿そうとすると入りません。</a:t>
            </a:r>
          </a:p>
          <a:p>
            <a:r>
              <a:t>2つ目、取り付け順序。ステップ2の最後の部品をつける前にケーブルを接続する必要があり、またフォロワーのモーター4の後に、モーター5の部品を先につけてしまうとケーブルが挿せなくなります。</a:t>
            </a:r>
          </a:p>
          <a:p>
            <a:r>
              <a:t>3つ目、3Dプリント部品のバリ取り。土台への差し込みが非常に硬く、バリが残っていると入りませんでした。</a:t>
            </a:r>
          </a:p>
          <a:p>
            <a:r>
              <a:t>L1は片側のみネジが必要で、下側はネジなしで固定できます。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キャリブレーションの手順です。</a:t>
            </a:r>
          </a:p>
          <a:p>
            <a:r>
              <a:t>つまずいた点が2つありました。</a:t>
            </a:r>
          </a:p>
          <a:p>
            <a:r>
              <a:t>1つ目は、初期姿勢に合わせずにキャリブレーションを始めてしまい、可動域の最大・最小がずれたことです。</a:t>
            </a:r>
          </a:p>
          <a:p>
            <a:r>
              <a:t>2つ目は、ID割り振りのコマンドを誤って実行したことで、モーターIDの1番と6番が認識されなくなったことです。Missing motor IDs というエラーが出て、6台あるはずのモーターが4台しか見つからない状態になりました。</a:t>
            </a:r>
          </a:p>
          <a:p>
            <a:r>
              <a:t>動作確認には lerobot-teleoperate を使い、リーダーの動きにフォロワーが追従することを確認しています。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3Dプリントで発生したトラブルです。</a:t>
            </a:r>
          </a:p>
          <a:p>
            <a:r>
              <a:t>当初はBambuのライブラリにあるモデルを使っていましたが、スパゲッティ印刷エラーや印刷面の粗さが見られたため、公式推奨のモデルに切り替えました。</a:t>
            </a:r>
          </a:p>
          <a:p>
            <a:r>
              <a:t>そのほか、柱とオブジェクトが重なる不具合が起き、再印刷になっています。</a:t>
            </a:r>
          </a:p>
          <a:p>
            <a:r>
              <a:t>また、複数色の部品は一色ずつ印刷する必要がありました。</a:t>
            </a:r>
          </a:p>
          <a:p>
            <a:r>
              <a:t>なお公式ガイドでは、オプションとしてソフトグリッパーとカメラマウントブラケットインサートの印刷ファイルも提供されています。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902F1D-F893-4F40-A0A6-F56318020834}" type="datetime1">
              <a:rPr lang="ja-JP" altLang="en-US" smtClean="0"/>
              <a:t>2026/10/13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22873" y="6356350"/>
            <a:ext cx="2133600" cy="365125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239EC9-39FE-0042-A6C4-CC7CC68273A2}" type="datetime1">
              <a:rPr lang="ja-JP" altLang="en-US" smtClean="0"/>
              <a:t>2026/10/13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53484A32-C1EE-7A53-38DF-CEF64B3D6E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22873" y="6356350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2400"/>
            </a:lvl1pPr>
          </a:lstStyle>
          <a:p>
            <a:pPr algn="r"/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47472" y="438912"/>
            <a:ext cx="137160" cy="589788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138160" y="438912"/>
            <a:ext cx="3694176" cy="91440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339328" y="741784"/>
            <a:ext cx="329184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b="1" dirty="0">
                <a:solidFill>
                  <a:srgbClr val="191919"/>
                </a:solidFill>
                <a:latin typeface="Aptos"/>
              </a:rPr>
              <a:t>SO-101 / </a:t>
            </a:r>
            <a:r>
              <a:rPr b="1" dirty="0" err="1">
                <a:solidFill>
                  <a:srgbClr val="191919"/>
                </a:solidFill>
                <a:latin typeface="Aptos"/>
              </a:rPr>
              <a:t>AIロボティクス</a:t>
            </a:r>
            <a:endParaRPr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100584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1">
                <a:solidFill>
                  <a:srgbClr val="787873"/>
                </a:solidFill>
                <a:latin typeface="Aptos"/>
              </a:rPr>
              <a:t>INTERIM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72772"/>
            <a:ext cx="6583680" cy="52937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3200" b="1">
                <a:solidFill>
                  <a:srgbClr val="191919"/>
                </a:solidFill>
                <a:latin typeface="Aptos"/>
              </a:rPr>
              <a:t>中間発表</a:t>
            </a:r>
            <a:endParaRPr sz="32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61264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300" b="0">
                <a:solidFill>
                  <a:srgbClr val="787873"/>
                </a:solidFill>
                <a:latin typeface="Aptos"/>
              </a:rPr>
              <a:t>SO-101を動かせる状態にするまでの準備工程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5303520"/>
            <a:ext cx="2926080" cy="50292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7552" y="5424220"/>
            <a:ext cx="265176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lang="ja-JP" altLang="en-US" sz="1400" b="1">
                <a:solidFill>
                  <a:srgbClr val="191919"/>
                </a:solidFill>
                <a:latin typeface="Aptos"/>
              </a:rPr>
              <a:t>嶺田・山村チーム</a:t>
            </a:r>
            <a:endParaRPr sz="14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2B2ABCAA-5370-7E31-D359-AA2FD8B4A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577398"/>
            <a:ext cx="4572000" cy="19851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 dirty="0">
                <a:solidFill>
                  <a:srgbClr val="FFA900"/>
                </a:solidFill>
                <a:latin typeface="Aptos"/>
              </a:rPr>
              <a:t>01 /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7899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500" b="1">
                <a:solidFill>
                  <a:srgbClr val="191919"/>
                </a:solidFill>
                <a:latin typeface="Aptos"/>
              </a:rPr>
              <a:t>これまでの流れ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8844" y="2094943"/>
            <a:ext cx="1143000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000" b="1" dirty="0">
                <a:solidFill>
                  <a:srgbClr val="191919"/>
                </a:solidFill>
                <a:latin typeface="Aptos"/>
              </a:rPr>
              <a:t>10.2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93284" y="2262726"/>
            <a:ext cx="365760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941924" y="2110332"/>
            <a:ext cx="539496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b="0" dirty="0">
                <a:solidFill>
                  <a:srgbClr val="191919"/>
                </a:solidFill>
                <a:latin typeface="Aptos"/>
              </a:rPr>
              <a:t>3Dプリント</a:t>
            </a:r>
            <a:r>
              <a:rPr lang="ja-JP" altLang="en-US" b="0">
                <a:solidFill>
                  <a:srgbClr val="191919"/>
                </a:solidFill>
                <a:latin typeface="Aptos"/>
              </a:rPr>
              <a:t>・モータの設定</a:t>
            </a:r>
            <a:endParaRPr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158844" y="2753311"/>
            <a:ext cx="1143000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000" b="1">
                <a:solidFill>
                  <a:srgbClr val="191919"/>
                </a:solidFill>
                <a:latin typeface="Aptos"/>
              </a:rPr>
              <a:t>10.6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93284" y="2921094"/>
            <a:ext cx="365760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41924" y="2768700"/>
            <a:ext cx="539496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b="0" dirty="0" err="1">
                <a:solidFill>
                  <a:srgbClr val="191919"/>
                </a:solidFill>
                <a:latin typeface="Aptos"/>
              </a:rPr>
              <a:t>アーム組み立て</a:t>
            </a:r>
            <a:r>
              <a:rPr lang="ja-JP" altLang="en-US">
                <a:solidFill>
                  <a:srgbClr val="191919"/>
                </a:solidFill>
                <a:latin typeface="Aptos"/>
              </a:rPr>
              <a:t>・キャリブレーション実施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8844" y="3411679"/>
            <a:ext cx="1143000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000" b="1" dirty="0">
                <a:solidFill>
                  <a:srgbClr val="191919"/>
                </a:solidFill>
                <a:latin typeface="Aptos"/>
              </a:rPr>
              <a:t>10.</a:t>
            </a:r>
            <a:r>
              <a:rPr lang="en-US" altLang="ja-JP" sz="2000" b="1" dirty="0">
                <a:solidFill>
                  <a:srgbClr val="191919"/>
                </a:solidFill>
                <a:latin typeface="Aptos"/>
              </a:rPr>
              <a:t>7</a:t>
            </a:r>
            <a:endParaRPr sz="2000" b="1" dirty="0">
              <a:solidFill>
                <a:srgbClr val="191919"/>
              </a:solidFill>
              <a:latin typeface="Aptos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4393284" y="3579462"/>
            <a:ext cx="365760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941924" y="3427068"/>
            <a:ext cx="539496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b="0">
                <a:solidFill>
                  <a:srgbClr val="191919"/>
                </a:solidFill>
                <a:latin typeface="Aptos"/>
              </a:rPr>
              <a:t>カメラ一つで学習</a:t>
            </a:r>
            <a:endParaRPr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158844" y="4070047"/>
            <a:ext cx="1143000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000" b="1" dirty="0">
                <a:solidFill>
                  <a:srgbClr val="191919"/>
                </a:solidFill>
                <a:latin typeface="Aptos"/>
              </a:rPr>
              <a:t>10.</a:t>
            </a:r>
            <a:r>
              <a:rPr lang="en-US" altLang="ja-JP" sz="2000" b="1" dirty="0">
                <a:solidFill>
                  <a:srgbClr val="191919"/>
                </a:solidFill>
                <a:latin typeface="Aptos"/>
              </a:rPr>
              <a:t>8</a:t>
            </a:r>
            <a:endParaRPr sz="2000" b="1" dirty="0">
              <a:solidFill>
                <a:srgbClr val="191919"/>
              </a:solidFill>
              <a:latin typeface="Aptos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4393284" y="4237829"/>
            <a:ext cx="365760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941924" y="4085436"/>
            <a:ext cx="539496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b="0">
                <a:solidFill>
                  <a:srgbClr val="191919"/>
                </a:solidFill>
                <a:latin typeface="Aptos"/>
              </a:rPr>
              <a:t>カメラ２つで学習</a:t>
            </a:r>
            <a:endParaRPr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158844" y="4728415"/>
            <a:ext cx="1143000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000" b="1" dirty="0">
                <a:solidFill>
                  <a:srgbClr val="191919"/>
                </a:solidFill>
                <a:latin typeface="Aptos"/>
              </a:rPr>
              <a:t>10.</a:t>
            </a:r>
            <a:r>
              <a:rPr lang="en-US" altLang="ja-JP" sz="2000" b="1" dirty="0">
                <a:solidFill>
                  <a:srgbClr val="191919"/>
                </a:solidFill>
                <a:latin typeface="Aptos"/>
              </a:rPr>
              <a:t>13</a:t>
            </a:r>
            <a:endParaRPr sz="2000" b="1" dirty="0">
              <a:solidFill>
                <a:srgbClr val="191919"/>
              </a:solidFill>
              <a:latin typeface="Aptos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4393284" y="4896198"/>
            <a:ext cx="365760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941924" y="4743804"/>
            <a:ext cx="539496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b="0">
                <a:solidFill>
                  <a:srgbClr val="191919"/>
                </a:solidFill>
                <a:latin typeface="Aptos"/>
              </a:rPr>
              <a:t>モデルの比較</a:t>
            </a:r>
            <a:endParaRPr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29" name="TextBox 5">
            <a:extLst>
              <a:ext uri="{FF2B5EF4-FFF2-40B4-BE49-F238E27FC236}">
                <a16:creationId xmlns:a16="http://schemas.microsoft.com/office/drawing/2014/main" id="{A5B3D2C2-B4A8-50E9-F46A-FAF4C20D5A9E}"/>
              </a:ext>
            </a:extLst>
          </p:cNvPr>
          <p:cNvSpPr txBox="1"/>
          <p:nvPr/>
        </p:nvSpPr>
        <p:spPr>
          <a:xfrm>
            <a:off x="2133605" y="2064165"/>
            <a:ext cx="1143000" cy="40626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2400" b="1">
                <a:solidFill>
                  <a:srgbClr val="FFA902"/>
                </a:solidFill>
                <a:latin typeface="Aptos"/>
              </a:rPr>
              <a:t>第５回</a:t>
            </a:r>
            <a:endParaRPr sz="2400" b="1" dirty="0">
              <a:solidFill>
                <a:srgbClr val="FFA902"/>
              </a:solidFill>
              <a:latin typeface="Aptos"/>
            </a:endParaRPr>
          </a:p>
        </p:txBody>
      </p:sp>
      <p:sp>
        <p:nvSpPr>
          <p:cNvPr id="30" name="TextBox 8">
            <a:extLst>
              <a:ext uri="{FF2B5EF4-FFF2-40B4-BE49-F238E27FC236}">
                <a16:creationId xmlns:a16="http://schemas.microsoft.com/office/drawing/2014/main" id="{EB15456F-E90E-7F15-90D3-32E1BDCA43E8}"/>
              </a:ext>
            </a:extLst>
          </p:cNvPr>
          <p:cNvSpPr txBox="1"/>
          <p:nvPr/>
        </p:nvSpPr>
        <p:spPr>
          <a:xfrm>
            <a:off x="2133605" y="2722533"/>
            <a:ext cx="1143000" cy="40626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lang="ja-JP" altLang="en-US" sz="2400" b="1">
                <a:solidFill>
                  <a:srgbClr val="FFA902"/>
                </a:solidFill>
                <a:latin typeface="Aptos"/>
              </a:rPr>
              <a:t>第６回</a:t>
            </a:r>
            <a:endParaRPr lang="ja-JP" altLang="en-US" sz="2400" b="1" dirty="0">
              <a:solidFill>
                <a:srgbClr val="FFA902"/>
              </a:solidFill>
              <a:latin typeface="Aptos"/>
            </a:endParaRPr>
          </a:p>
        </p:txBody>
      </p:sp>
      <p:sp>
        <p:nvSpPr>
          <p:cNvPr id="31" name="TextBox 11">
            <a:extLst>
              <a:ext uri="{FF2B5EF4-FFF2-40B4-BE49-F238E27FC236}">
                <a16:creationId xmlns:a16="http://schemas.microsoft.com/office/drawing/2014/main" id="{E90285F7-AD54-7AD3-12DA-D7126A1160C3}"/>
              </a:ext>
            </a:extLst>
          </p:cNvPr>
          <p:cNvSpPr txBox="1"/>
          <p:nvPr/>
        </p:nvSpPr>
        <p:spPr>
          <a:xfrm>
            <a:off x="2133605" y="3380901"/>
            <a:ext cx="1143000" cy="40626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lang="ja-JP" altLang="en-US" sz="2400" b="1">
                <a:solidFill>
                  <a:srgbClr val="FFA902"/>
                </a:solidFill>
                <a:latin typeface="Aptos"/>
              </a:rPr>
              <a:t>第７回</a:t>
            </a:r>
            <a:endParaRPr lang="ja-JP" altLang="en-US" sz="2400" b="1" dirty="0">
              <a:solidFill>
                <a:srgbClr val="FFA902"/>
              </a:solidFill>
              <a:latin typeface="Aptos"/>
            </a:endParaRPr>
          </a:p>
        </p:txBody>
      </p:sp>
      <p:sp>
        <p:nvSpPr>
          <p:cNvPr id="32" name="TextBox 14">
            <a:extLst>
              <a:ext uri="{FF2B5EF4-FFF2-40B4-BE49-F238E27FC236}">
                <a16:creationId xmlns:a16="http://schemas.microsoft.com/office/drawing/2014/main" id="{D9A029C2-62B3-13D7-894F-593F7F46DCBE}"/>
              </a:ext>
            </a:extLst>
          </p:cNvPr>
          <p:cNvSpPr txBox="1"/>
          <p:nvPr/>
        </p:nvSpPr>
        <p:spPr>
          <a:xfrm>
            <a:off x="2133605" y="4039269"/>
            <a:ext cx="1143000" cy="40626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lang="ja-JP" altLang="en-US" sz="2400" b="1">
                <a:solidFill>
                  <a:srgbClr val="FFA902"/>
                </a:solidFill>
                <a:latin typeface="Aptos"/>
              </a:rPr>
              <a:t>第８回</a:t>
            </a:r>
            <a:endParaRPr lang="ja-JP" altLang="en-US" sz="2400" b="1" dirty="0">
              <a:solidFill>
                <a:srgbClr val="FFA902"/>
              </a:solidFill>
              <a:latin typeface="Aptos"/>
            </a:endParaRPr>
          </a:p>
        </p:txBody>
      </p:sp>
      <p:sp>
        <p:nvSpPr>
          <p:cNvPr id="33" name="TextBox 17">
            <a:extLst>
              <a:ext uri="{FF2B5EF4-FFF2-40B4-BE49-F238E27FC236}">
                <a16:creationId xmlns:a16="http://schemas.microsoft.com/office/drawing/2014/main" id="{2EA40ACA-F0DA-BA41-2F30-D0021A4ECE56}"/>
              </a:ext>
            </a:extLst>
          </p:cNvPr>
          <p:cNvSpPr txBox="1"/>
          <p:nvPr/>
        </p:nvSpPr>
        <p:spPr>
          <a:xfrm>
            <a:off x="2133605" y="4697637"/>
            <a:ext cx="1143000" cy="40626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lang="ja-JP" altLang="en-US" sz="2400" b="1">
                <a:solidFill>
                  <a:srgbClr val="FFA902"/>
                </a:solidFill>
                <a:latin typeface="Aptos"/>
              </a:rPr>
              <a:t>第９回</a:t>
            </a:r>
          </a:p>
        </p:txBody>
      </p:sp>
      <p:sp>
        <p:nvSpPr>
          <p:cNvPr id="35" name="スライド番号プレースホルダー 34">
            <a:extLst>
              <a:ext uri="{FF2B5EF4-FFF2-40B4-BE49-F238E27FC236}">
                <a16:creationId xmlns:a16="http://schemas.microsoft.com/office/drawing/2014/main" id="{B80F4A55-84E4-CB88-3066-EA3944EBF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E7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D29A8809-0BAE-995D-06EA-2F866A383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F5C409BF-B201-1F8C-2AE4-E11BC261368C}"/>
              </a:ext>
            </a:extLst>
          </p:cNvPr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B26490EC-E672-59B2-9BE6-2C76DDFF61B4}"/>
              </a:ext>
            </a:extLst>
          </p:cNvPr>
          <p:cNvSpPr/>
          <p:nvPr/>
        </p:nvSpPr>
        <p:spPr>
          <a:xfrm>
            <a:off x="4297680" y="438912"/>
            <a:ext cx="7534656" cy="91440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C04BC77-3133-81FD-96B0-E997F75BA611}"/>
              </a:ext>
            </a:extLst>
          </p:cNvPr>
          <p:cNvSpPr txBox="1"/>
          <p:nvPr/>
        </p:nvSpPr>
        <p:spPr>
          <a:xfrm>
            <a:off x="4590288" y="718962"/>
            <a:ext cx="6949440" cy="39087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2300" b="1">
                <a:solidFill>
                  <a:srgbClr val="191919"/>
                </a:solidFill>
                <a:latin typeface="Aptos"/>
              </a:rPr>
              <a:t>モデルの入手と印刷設定</a:t>
            </a:r>
            <a:endParaRPr sz="23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25264673-FAA4-54C1-EA2A-97EBFFDC0A62}"/>
              </a:ext>
            </a:extLst>
          </p:cNvPr>
          <p:cNvSpPr txBox="1"/>
          <p:nvPr/>
        </p:nvSpPr>
        <p:spPr>
          <a:xfrm>
            <a:off x="713232" y="577398"/>
            <a:ext cx="4572000" cy="19851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 dirty="0">
                <a:solidFill>
                  <a:srgbClr val="FFA900"/>
                </a:solidFill>
                <a:latin typeface="Aptos"/>
              </a:rPr>
              <a:t>02 / 3D PRINTING</a:t>
            </a: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5BDB58CD-0AAC-3224-4B50-DBCC234ACE60}"/>
              </a:ext>
            </a:extLst>
          </p:cNvPr>
          <p:cNvSpPr txBox="1"/>
          <p:nvPr/>
        </p:nvSpPr>
        <p:spPr>
          <a:xfrm>
            <a:off x="713232" y="886453"/>
            <a:ext cx="3447288" cy="4216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2500" b="1">
                <a:solidFill>
                  <a:srgbClr val="191919"/>
                </a:solidFill>
                <a:latin typeface="Aptos"/>
              </a:rPr>
              <a:t>3Dプリント</a:t>
            </a:r>
            <a:endParaRPr sz="25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14" name="TextBox 91">
            <a:extLst>
              <a:ext uri="{FF2B5EF4-FFF2-40B4-BE49-F238E27FC236}">
                <a16:creationId xmlns:a16="http://schemas.microsoft.com/office/drawing/2014/main" id="{C8AC9721-8E1A-A733-BE8A-E3288D4B6EB4}"/>
              </a:ext>
            </a:extLst>
          </p:cNvPr>
          <p:cNvSpPr txBox="1"/>
          <p:nvPr/>
        </p:nvSpPr>
        <p:spPr>
          <a:xfrm>
            <a:off x="731520" y="1572768"/>
            <a:ext cx="5074920" cy="429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spcBef>
                <a:spcPts val="400"/>
              </a:spcBef>
              <a:spcAft>
                <a:spcPts val="300"/>
              </a:spcAft>
            </a:pPr>
            <a:r>
              <a:rPr sz="1200" b="1">
                <a:solidFill>
                  <a:srgbClr val="E89200"/>
                </a:solidFill>
                <a:latin typeface="Yu Gothic"/>
              </a:rPr>
              <a:t>進め方</a:t>
            </a:r>
            <a:endParaRPr sz="900" b="0" dirty="0">
              <a:solidFill>
                <a:srgbClr val="787873"/>
              </a:solidFill>
              <a:latin typeface="Aptos"/>
            </a:endParaR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1A"/>
                </a:solidFill>
                <a:latin typeface="Yu Gothic"/>
              </a:rPr>
              <a:t>① モデルを入手　→　② スライサーで配置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1A"/>
                </a:solidFill>
                <a:latin typeface="Yu Gothic"/>
              </a:rPr>
              <a:t>③ 印刷　→　④ バリ取り</a:t>
            </a:r>
          </a:p>
          <a:p>
            <a:pPr>
              <a:spcAft>
                <a:spcPts val="600"/>
              </a:spcAft>
            </a:pPr>
            <a:endParaRPr sz="1100">
              <a:solidFill>
                <a:srgbClr val="1A1A1A"/>
              </a:solidFill>
              <a:latin typeface="Yu Gothic"/>
            </a:endParaRPr>
          </a:p>
          <a:p>
            <a:pPr>
              <a:spcBef>
                <a:spcPts val="400"/>
              </a:spcBef>
              <a:spcAft>
                <a:spcPts val="300"/>
              </a:spcAft>
            </a:pPr>
            <a:r>
              <a:rPr sz="1200" b="1">
                <a:solidFill>
                  <a:srgbClr val="E89200"/>
                </a:solidFill>
                <a:latin typeface="Yu Gothic"/>
              </a:rPr>
              <a:t>印刷設定（公式推奨）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1A"/>
                </a:solidFill>
                <a:latin typeface="Yu Gothic"/>
              </a:rPr>
              <a:t>材料 PLA+ ／ ノズル0.4mm・積層0.2mm ／ インフィル15%</a:t>
            </a:r>
          </a:p>
          <a:p>
            <a:pPr>
              <a:spcAft>
                <a:spcPts val="600"/>
              </a:spcAft>
            </a:pPr>
            <a:endParaRPr sz="1100">
              <a:solidFill>
                <a:srgbClr val="1A1A1A"/>
              </a:solidFill>
              <a:latin typeface="Yu Gothic"/>
            </a:endParaRPr>
          </a:p>
          <a:p>
            <a:pPr>
              <a:spcBef>
                <a:spcPts val="400"/>
              </a:spcBef>
              <a:spcAft>
                <a:spcPts val="300"/>
              </a:spcAft>
            </a:pPr>
            <a:r>
              <a:rPr sz="1200" b="1">
                <a:solidFill>
                  <a:srgbClr val="E89200"/>
                </a:solidFill>
                <a:latin typeface="Yu Gothic"/>
              </a:rPr>
              <a:t>気をつけた点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1A"/>
                </a:solidFill>
                <a:latin typeface="Yu Gothic"/>
              </a:rPr>
              <a:t>・複数色の部品は一色ずつ印刷する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1A"/>
                </a:solidFill>
                <a:latin typeface="Yu Gothic"/>
              </a:rPr>
              <a:t>・組み立て前にバリをしっかり取る</a:t>
            </a:r>
          </a:p>
          <a:p>
            <a:pPr>
              <a:spcAft>
                <a:spcPts val="600"/>
              </a:spcAft>
            </a:pPr>
            <a:endParaRPr sz="1100">
              <a:solidFill>
                <a:srgbClr val="1A1A1A"/>
              </a:solidFill>
              <a:latin typeface="Yu Gothic"/>
            </a:endParaRPr>
          </a:p>
          <a:p>
            <a:pPr>
              <a:spcBef>
                <a:spcPts val="400"/>
              </a:spcBef>
              <a:spcAft>
                <a:spcPts val="300"/>
              </a:spcAft>
            </a:pPr>
            <a:r>
              <a:rPr sz="1200" b="1">
                <a:solidFill>
                  <a:srgbClr val="E89200"/>
                </a:solidFill>
                <a:latin typeface="Yu Gothic"/>
              </a:rPr>
              <a:t>モデルを変更した理由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1A"/>
                </a:solidFill>
                <a:latin typeface="Yu Gothic"/>
              </a:rPr>
              <a:t>Bambuライブラリのモデルではスパゲッティ印刷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1A"/>
                </a:solidFill>
                <a:latin typeface="Yu Gothic"/>
              </a:rPr>
              <a:t>エラーや印刷面の粗さが生じたため、途中で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1A"/>
                </a:solidFill>
                <a:latin typeface="Yu Gothic"/>
              </a:rPr>
              <a:t>公式推奨のモデルへ変更した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4C9AAC71-32BD-AB04-DDD1-05EC2A6690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509760" y="3767328"/>
            <a:ext cx="1737360" cy="1737360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45385A7-E924-0505-5C09-C4B2AAF20B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1572768"/>
            <a:ext cx="2432304" cy="1737360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19427FE6-1960-A64B-6667-1C1CA164E90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4543" t="38394" r="9363" b="12777"/>
          <a:stretch>
            <a:fillRect/>
          </a:stretch>
        </p:blipFill>
        <p:spPr>
          <a:xfrm>
            <a:off x="9052560" y="1645920"/>
            <a:ext cx="2651760" cy="1600200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45B3655A-45E6-1D32-204A-BEF51BF8EE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1960" t="12378" r="11808" b="22391"/>
          <a:stretch>
            <a:fillRect/>
          </a:stretch>
        </p:blipFill>
        <p:spPr>
          <a:xfrm rot="5400000">
            <a:off x="6537960" y="3767328"/>
            <a:ext cx="1389888" cy="1737360"/>
          </a:xfrm>
          <a:prstGeom prst="rect">
            <a:avLst/>
          </a:prstGeom>
        </p:spPr>
      </p:pic>
      <p:sp>
        <p:nvSpPr>
          <p:cNvPr id="22" name="TextBox 93">
            <a:extLst>
              <a:ext uri="{FF2B5EF4-FFF2-40B4-BE49-F238E27FC236}">
                <a16:creationId xmlns:a16="http://schemas.microsoft.com/office/drawing/2014/main" id="{84868345-2EEE-033B-16B9-182EF6D7A297}"/>
              </a:ext>
            </a:extLst>
          </p:cNvPr>
          <p:cNvSpPr txBox="1"/>
          <p:nvPr/>
        </p:nvSpPr>
        <p:spPr>
          <a:xfrm>
            <a:off x="6126480" y="3364992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>
                <a:solidFill>
                  <a:srgbClr val="666666"/>
                </a:solidFill>
                <a:latin typeface="Yu Gothic"/>
              </a:rPr>
              <a:t>使用したモデル</a:t>
            </a:r>
          </a:p>
        </p:txBody>
      </p:sp>
      <p:sp>
        <p:nvSpPr>
          <p:cNvPr id="23" name="TextBox 94">
            <a:extLst>
              <a:ext uri="{FF2B5EF4-FFF2-40B4-BE49-F238E27FC236}">
                <a16:creationId xmlns:a16="http://schemas.microsoft.com/office/drawing/2014/main" id="{0D5A048E-7127-8CCF-FB81-C1F1BE439CEA}"/>
              </a:ext>
            </a:extLst>
          </p:cNvPr>
          <p:cNvSpPr txBox="1"/>
          <p:nvPr/>
        </p:nvSpPr>
        <p:spPr>
          <a:xfrm>
            <a:off x="9052560" y="3364992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>
                <a:solidFill>
                  <a:srgbClr val="666666"/>
                </a:solidFill>
                <a:latin typeface="Yu Gothic"/>
              </a:rPr>
              <a:t>スライス結果</a:t>
            </a:r>
          </a:p>
        </p:txBody>
      </p:sp>
      <p:sp>
        <p:nvSpPr>
          <p:cNvPr id="24" name="TextBox 95">
            <a:extLst>
              <a:ext uri="{FF2B5EF4-FFF2-40B4-BE49-F238E27FC236}">
                <a16:creationId xmlns:a16="http://schemas.microsoft.com/office/drawing/2014/main" id="{43AC81C6-0C15-8165-7DD8-ED1699E2AD5C}"/>
              </a:ext>
            </a:extLst>
          </p:cNvPr>
          <p:cNvSpPr txBox="1"/>
          <p:nvPr/>
        </p:nvSpPr>
        <p:spPr>
          <a:xfrm>
            <a:off x="6126480" y="5559552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>
                <a:solidFill>
                  <a:srgbClr val="666666"/>
                </a:solidFill>
                <a:latin typeface="Yu Gothic"/>
              </a:rPr>
              <a:t>スライサーでの配置</a:t>
            </a:r>
          </a:p>
        </p:txBody>
      </p:sp>
      <p:sp>
        <p:nvSpPr>
          <p:cNvPr id="25" name="TextBox 96">
            <a:extLst>
              <a:ext uri="{FF2B5EF4-FFF2-40B4-BE49-F238E27FC236}">
                <a16:creationId xmlns:a16="http://schemas.microsoft.com/office/drawing/2014/main" id="{BDC4F53A-6040-588F-CDF9-6AEF91DA6950}"/>
              </a:ext>
            </a:extLst>
          </p:cNvPr>
          <p:cNvSpPr txBox="1"/>
          <p:nvPr/>
        </p:nvSpPr>
        <p:spPr>
          <a:xfrm>
            <a:off x="9052560" y="5559552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>
                <a:solidFill>
                  <a:srgbClr val="666666"/>
                </a:solidFill>
                <a:latin typeface="Yu Gothic"/>
              </a:rPr>
              <a:t>使用した3Dプリンタ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FEAEAB-3411-C1EB-E867-FBE3A4655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>
            <a:extLst>
              <a:ext uri="{FF2B5EF4-FFF2-40B4-BE49-F238E27FC236}">
                <a16:creationId xmlns:a16="http://schemas.microsoft.com/office/drawing/2014/main" id="{452B2AE4-2A54-8371-7F8B-F2B200181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732BAAE-3287-B8F7-24F4-CDD353421126}"/>
              </a:ext>
            </a:extLst>
          </p:cNvPr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12B8A1-64A1-8C36-DF8B-80A2F13767D1}"/>
              </a:ext>
            </a:extLst>
          </p:cNvPr>
          <p:cNvSpPr/>
          <p:nvPr/>
        </p:nvSpPr>
        <p:spPr>
          <a:xfrm>
            <a:off x="4297680" y="438912"/>
            <a:ext cx="7534656" cy="91440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7D3F3A-EA7B-3722-1F8B-EA1CA12EFC07}"/>
              </a:ext>
            </a:extLst>
          </p:cNvPr>
          <p:cNvSpPr txBox="1"/>
          <p:nvPr/>
        </p:nvSpPr>
        <p:spPr>
          <a:xfrm>
            <a:off x="4590288" y="718962"/>
            <a:ext cx="6949440" cy="39087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2300" b="1">
                <a:solidFill>
                  <a:srgbClr val="191919"/>
                </a:solidFill>
                <a:latin typeface="Aptos"/>
              </a:rPr>
              <a:t>担当パート</a:t>
            </a:r>
            <a:endParaRPr sz="23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3E006-7DAA-243B-49D6-C7B7564DA440}"/>
              </a:ext>
            </a:extLst>
          </p:cNvPr>
          <p:cNvSpPr txBox="1"/>
          <p:nvPr/>
        </p:nvSpPr>
        <p:spPr>
          <a:xfrm>
            <a:off x="713232" y="577398"/>
            <a:ext cx="4572000" cy="19851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 dirty="0">
                <a:solidFill>
                  <a:srgbClr val="FFA900"/>
                </a:solidFill>
                <a:latin typeface="Aptos"/>
              </a:rPr>
              <a:t>03 / BY THE NUMBERS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620B7B-C6FE-0F2E-0630-FDBE003FEDF6}"/>
              </a:ext>
            </a:extLst>
          </p:cNvPr>
          <p:cNvSpPr txBox="1"/>
          <p:nvPr/>
        </p:nvSpPr>
        <p:spPr>
          <a:xfrm>
            <a:off x="713232" y="886453"/>
            <a:ext cx="3447288" cy="4216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2500" b="1">
                <a:solidFill>
                  <a:srgbClr val="191919"/>
                </a:solidFill>
                <a:latin typeface="Aptos"/>
              </a:rPr>
              <a:t>数字で見る準備工程</a:t>
            </a:r>
            <a:endParaRPr sz="25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A9D07B-EB21-4BA8-D967-6C23D150CAE8}"/>
              </a:ext>
            </a:extLst>
          </p:cNvPr>
          <p:cNvSpPr/>
          <p:nvPr/>
        </p:nvSpPr>
        <p:spPr>
          <a:xfrm>
            <a:off x="777240" y="2240280"/>
            <a:ext cx="2331720" cy="228600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DF2141-5B6B-ADE8-9B7A-23A25CC3B16D}"/>
              </a:ext>
            </a:extLst>
          </p:cNvPr>
          <p:cNvSpPr txBox="1"/>
          <p:nvPr/>
        </p:nvSpPr>
        <p:spPr>
          <a:xfrm>
            <a:off x="868680" y="2560320"/>
            <a:ext cx="2148840" cy="685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900" b="1">
                <a:solidFill>
                  <a:srgbClr val="191919"/>
                </a:solidFill>
                <a:latin typeface="Aptos"/>
              </a:rPr>
              <a:t>1h40m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042287-3C3E-D2BC-2026-7C716827A719}"/>
              </a:ext>
            </a:extLst>
          </p:cNvPr>
          <p:cNvSpPr txBox="1"/>
          <p:nvPr/>
        </p:nvSpPr>
        <p:spPr>
          <a:xfrm>
            <a:off x="868680" y="3310128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787873"/>
                </a:solidFill>
                <a:latin typeface="Aptos"/>
              </a:rPr>
              <a:t>組み立て作業時間（第6回）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65CC0F7-D687-EFA4-3EB4-AE97B2F251BE}"/>
              </a:ext>
            </a:extLst>
          </p:cNvPr>
          <p:cNvSpPr/>
          <p:nvPr/>
        </p:nvSpPr>
        <p:spPr>
          <a:xfrm>
            <a:off x="3566160" y="2240280"/>
            <a:ext cx="2331720" cy="228600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C67CDDB-86CE-08CA-1092-70614B75C6AE}"/>
              </a:ext>
            </a:extLst>
          </p:cNvPr>
          <p:cNvSpPr txBox="1"/>
          <p:nvPr/>
        </p:nvSpPr>
        <p:spPr>
          <a:xfrm>
            <a:off x="3657600" y="2560320"/>
            <a:ext cx="2148840" cy="685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900" b="1">
                <a:solidFill>
                  <a:srgbClr val="191919"/>
                </a:solidFill>
                <a:latin typeface="Aptos"/>
              </a:rPr>
              <a:t>2件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3E5549D-6F85-FC9B-5688-190B96A0AEF8}"/>
              </a:ext>
            </a:extLst>
          </p:cNvPr>
          <p:cNvSpPr txBox="1"/>
          <p:nvPr/>
        </p:nvSpPr>
        <p:spPr>
          <a:xfrm>
            <a:off x="3657600" y="3310128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787873"/>
                </a:solidFill>
                <a:latin typeface="Aptos"/>
              </a:rPr>
              <a:t>3Dプリントのトラブル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BC146F1-0328-BE43-2CD6-7475AB3D3726}"/>
              </a:ext>
            </a:extLst>
          </p:cNvPr>
          <p:cNvSpPr/>
          <p:nvPr/>
        </p:nvSpPr>
        <p:spPr>
          <a:xfrm>
            <a:off x="6355079" y="2240280"/>
            <a:ext cx="2331720" cy="228600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F55D418-8EC6-4DBC-9A7D-ECED2FBB09F4}"/>
              </a:ext>
            </a:extLst>
          </p:cNvPr>
          <p:cNvSpPr txBox="1"/>
          <p:nvPr/>
        </p:nvSpPr>
        <p:spPr>
          <a:xfrm>
            <a:off x="6446519" y="2560320"/>
            <a:ext cx="2148840" cy="685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900" b="1">
                <a:solidFill>
                  <a:srgbClr val="191919"/>
                </a:solidFill>
                <a:latin typeface="Aptos"/>
              </a:rPr>
              <a:t>【　】点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05920F2-968E-DEDA-B906-FE6C098EA7E2}"/>
              </a:ext>
            </a:extLst>
          </p:cNvPr>
          <p:cNvSpPr txBox="1"/>
          <p:nvPr/>
        </p:nvSpPr>
        <p:spPr>
          <a:xfrm>
            <a:off x="6446519" y="3310128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787873"/>
                </a:solidFill>
                <a:latin typeface="Aptos"/>
              </a:rPr>
              <a:t>印刷した部品数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2B83BAD-7104-CD04-4928-D49253ED15FF}"/>
              </a:ext>
            </a:extLst>
          </p:cNvPr>
          <p:cNvSpPr/>
          <p:nvPr/>
        </p:nvSpPr>
        <p:spPr>
          <a:xfrm>
            <a:off x="9143999" y="2240280"/>
            <a:ext cx="2331720" cy="228600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9415D2D-448B-6C47-1A22-ABB1120DB1DD}"/>
              </a:ext>
            </a:extLst>
          </p:cNvPr>
          <p:cNvSpPr txBox="1"/>
          <p:nvPr/>
        </p:nvSpPr>
        <p:spPr>
          <a:xfrm>
            <a:off x="9235439" y="2560320"/>
            <a:ext cx="2148840" cy="685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900" b="1">
                <a:solidFill>
                  <a:srgbClr val="191919"/>
                </a:solidFill>
                <a:latin typeface="Aptos"/>
              </a:rPr>
              <a:t>【　】回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BFE3B0A-194B-DFD5-CAF9-FDCEE442442C}"/>
              </a:ext>
            </a:extLst>
          </p:cNvPr>
          <p:cNvSpPr txBox="1"/>
          <p:nvPr/>
        </p:nvSpPr>
        <p:spPr>
          <a:xfrm>
            <a:off x="9235439" y="3310128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787873"/>
                </a:solidFill>
                <a:latin typeface="Aptos"/>
              </a:rPr>
              <a:t>キャリブレーション実施回数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EDCC91B-1268-C795-3F04-902FD75BE701}"/>
              </a:ext>
            </a:extLst>
          </p:cNvPr>
          <p:cNvSpPr txBox="1"/>
          <p:nvPr/>
        </p:nvSpPr>
        <p:spPr>
          <a:xfrm>
            <a:off x="868680" y="5074920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0">
                <a:solidFill>
                  <a:srgbClr val="787873"/>
                </a:solidFill>
                <a:latin typeface="Aptos"/>
              </a:rPr>
              <a:t>※ 第5回〜第9回の作業実績</a:t>
            </a:r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4F717FCD-7BAD-58DF-974C-FE6D2A630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1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47472" y="438912"/>
            <a:ext cx="137160" cy="589788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742715"/>
            <a:ext cx="3657600" cy="2062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>
                <a:solidFill>
                  <a:srgbClr val="FFA900"/>
                </a:solidFill>
                <a:latin typeface="Aptos"/>
              </a:rPr>
              <a:t>04 /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51560"/>
            <a:ext cx="36576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3000" b="1">
                <a:solidFill>
                  <a:srgbClr val="191919"/>
                </a:solidFill>
                <a:latin typeface="Aptos"/>
              </a:rPr>
              <a:t>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347472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0">
                <a:solidFill>
                  <a:srgbClr val="787873"/>
                </a:solidFill>
                <a:latin typeface="Aptos"/>
              </a:rPr>
              <a:t>私が担当した工程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3200400"/>
            <a:ext cx="438912" cy="109728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257800" y="2560320"/>
            <a:ext cx="438912" cy="173736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43600" y="1920240"/>
            <a:ext cx="438912" cy="237744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0" y="2103120"/>
            <a:ext cx="2743200" cy="1828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500" b="1">
                <a:solidFill>
                  <a:srgbClr val="191919"/>
                </a:solidFill>
                <a:latin typeface="Aptos"/>
              </a:rPr>
              <a:t>部品の製作から
アームを動かせる
状態にするまでの
準備工程</a:t>
            </a:r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A9BD9A12-18F1-280D-AF6F-1CB833CEC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577398"/>
            <a:ext cx="4572000" cy="19851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>
                <a:solidFill>
                  <a:srgbClr val="FFA900"/>
                </a:solidFill>
                <a:latin typeface="Aptos"/>
              </a:rPr>
              <a:t>05 /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7899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500" b="1">
                <a:solidFill>
                  <a:srgbClr val="191919"/>
                </a:solidFill>
                <a:latin typeface="Aptos"/>
              </a:rPr>
              <a:t>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42416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0">
                <a:solidFill>
                  <a:srgbClr val="787873"/>
                </a:solidFill>
                <a:latin typeface="Aptos"/>
              </a:rPr>
              <a:t>担当した3つの工程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965960"/>
            <a:ext cx="3429000" cy="333756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9808" y="1965960"/>
            <a:ext cx="3429000" cy="164592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2331720"/>
            <a:ext cx="306324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3000" b="1">
                <a:solidFill>
                  <a:srgbClr val="191919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63240"/>
            <a:ext cx="306324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191919"/>
                </a:solidFill>
                <a:latin typeface="Aptos"/>
              </a:rPr>
              <a:t>組み立て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7" y="4617720"/>
            <a:ext cx="29718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787873"/>
                </a:solidFill>
                <a:latin typeface="Aptos"/>
              </a:rPr>
              <a:t>リーダー・フォロワーを組み上げる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4568" y="1965960"/>
            <a:ext cx="3429000" cy="333756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44568" y="1965960"/>
            <a:ext cx="3429000" cy="164592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27448" y="2331720"/>
            <a:ext cx="306324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3000" b="1">
                <a:solidFill>
                  <a:srgbClr val="191919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7448" y="3063240"/>
            <a:ext cx="306324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191919"/>
                </a:solidFill>
                <a:latin typeface="Aptos"/>
              </a:rPr>
              <a:t>3Dプリント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73168" y="4617720"/>
            <a:ext cx="29718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787873"/>
                </a:solidFill>
                <a:latin typeface="Aptos"/>
              </a:rPr>
              <a:t>アームの部品を製作する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39328" y="1965960"/>
            <a:ext cx="3429000" cy="333756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339328" y="1965960"/>
            <a:ext cx="3429000" cy="164592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22208" y="2331720"/>
            <a:ext cx="306324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3000" b="1">
                <a:solidFill>
                  <a:srgbClr val="191919"/>
                </a:solidFill>
                <a:latin typeface="Aptos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2208" y="3063240"/>
            <a:ext cx="306324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191919"/>
                </a:solidFill>
                <a:latin typeface="Aptos"/>
              </a:rPr>
              <a:t>キャリブレーション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67928" y="4617720"/>
            <a:ext cx="29718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787873"/>
                </a:solidFill>
                <a:latin typeface="Aptos"/>
              </a:rPr>
              <a:t>リーダーとフォロワーを対応づける</a:t>
            </a:r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F2DD8DEA-39CA-25E5-588B-757A99C3A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21792" y="713232"/>
            <a:ext cx="10936224" cy="5349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102412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700" b="1">
                <a:solidFill>
                  <a:srgbClr val="191919"/>
                </a:solidFill>
                <a:latin typeface="Aptos"/>
              </a:rPr>
              <a:t>組み立てのポイント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24128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787873"/>
                </a:solidFill>
                <a:latin typeface="Aptos"/>
              </a:rPr>
              <a:t>実際に手を動かして分かったこと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191919"/>
                </a:solidFill>
                <a:latin typeface="Aptos"/>
              </a:rPr>
              <a:t>ケーブル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187952"/>
            <a:ext cx="265176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>
                <a:solidFill>
                  <a:srgbClr val="787873"/>
                </a:solidFill>
                <a:latin typeface="Aptos"/>
              </a:rPr>
              <a:t>先にモーターへ挿しておく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657600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191919"/>
                </a:solidFill>
                <a:latin typeface="Aptos"/>
              </a:rPr>
              <a:t>取付順序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187952"/>
            <a:ext cx="265176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>
                <a:solidFill>
                  <a:srgbClr val="787873"/>
                </a:solidFill>
                <a:latin typeface="Aptos"/>
              </a:rPr>
              <a:t>後から挿せなくなる箇所がある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3657600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191919"/>
                </a:solidFill>
                <a:latin typeface="Aptos"/>
              </a:rPr>
              <a:t>バリ取り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4187952"/>
            <a:ext cx="265176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>
                <a:solidFill>
                  <a:srgbClr val="787873"/>
                </a:solidFill>
                <a:latin typeface="Aptos"/>
              </a:rPr>
              <a:t>3Dプリント部品は入念に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074920"/>
            <a:ext cx="101498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191919"/>
                </a:solidFill>
                <a:latin typeface="Aptos"/>
              </a:rPr>
              <a:t>組み上げてから気づくと分解が必要になるため、順序の確認が重要</a:t>
            </a:r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042E5624-58E5-51F9-4551-134818C1D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577398"/>
            <a:ext cx="4572000" cy="19851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 dirty="0">
                <a:solidFill>
                  <a:srgbClr val="FFA900"/>
                </a:solidFill>
                <a:latin typeface="Aptos"/>
              </a:rPr>
              <a:t>06 / CALIBRATION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7899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500" b="1">
                <a:solidFill>
                  <a:srgbClr val="191919"/>
                </a:solidFill>
                <a:latin typeface="Aptos"/>
              </a:rPr>
              <a:t>キャリブレーション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42416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0">
                <a:solidFill>
                  <a:srgbClr val="787873"/>
                </a:solidFill>
                <a:latin typeface="Aptos"/>
              </a:rPr>
              <a:t>リーダーとフォロワーを対応づける工程です。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77440"/>
            <a:ext cx="2331720" cy="210312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21488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A900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2148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191919"/>
                </a:solidFill>
                <a:latin typeface="Aptos"/>
              </a:rPr>
              <a:t>モーターID設定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3611880"/>
            <a:ext cx="21031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787873"/>
                </a:solidFill>
                <a:latin typeface="Aptos"/>
              </a:rPr>
              <a:t>1台ずつIDを割り当てる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44952" y="3429000"/>
            <a:ext cx="402336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538728" y="2377440"/>
            <a:ext cx="2331720" cy="210312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0168" y="2542032"/>
            <a:ext cx="21488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A900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3017520"/>
            <a:ext cx="2148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191919"/>
                </a:solidFill>
                <a:latin typeface="Aptos"/>
              </a:rPr>
              <a:t>初期姿勢に合わせる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3611880"/>
            <a:ext cx="21031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787873"/>
                </a:solidFill>
                <a:latin typeface="Aptos"/>
              </a:rPr>
              <a:t>規定の姿勢にしてから開始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97880" y="3429000"/>
            <a:ext cx="402336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391656" y="2377440"/>
            <a:ext cx="2331720" cy="210312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83096" y="2542032"/>
            <a:ext cx="21488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A900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3017520"/>
            <a:ext cx="2148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191919"/>
                </a:solidFill>
                <a:latin typeface="Aptos"/>
              </a:rPr>
              <a:t>可動域の記録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611880"/>
            <a:ext cx="21031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787873"/>
                </a:solidFill>
                <a:latin typeface="Aptos"/>
              </a:rPr>
              <a:t>各関節のMIN・MAXを記録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50808" y="3429000"/>
            <a:ext cx="402336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244584" y="2377440"/>
            <a:ext cx="2331720" cy="210312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36024" y="2542032"/>
            <a:ext cx="21488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A900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6024" y="3017520"/>
            <a:ext cx="2148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191919"/>
                </a:solidFill>
                <a:latin typeface="Aptos"/>
              </a:rPr>
              <a:t>動作確認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11" y="3611880"/>
            <a:ext cx="21031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787873"/>
                </a:solidFill>
                <a:latin typeface="Aptos"/>
              </a:rPr>
              <a:t>テレオペレーションで追従を確認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074920"/>
            <a:ext cx="1042416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>
                <a:solidFill>
                  <a:srgbClr val="787873"/>
                </a:solidFill>
                <a:latin typeface="Aptos"/>
              </a:rPr>
              <a:t>つまずいた点：初期姿勢を取らずに実施し、可動域の最大・最小がずれた</a:t>
            </a:r>
          </a:p>
        </p:txBody>
      </p:sp>
      <p:sp>
        <p:nvSpPr>
          <p:cNvPr id="30" name="スライド番号プレースホルダー 29">
            <a:extLst>
              <a:ext uri="{FF2B5EF4-FFF2-40B4-BE49-F238E27FC236}">
                <a16:creationId xmlns:a16="http://schemas.microsoft.com/office/drawing/2014/main" id="{54982393-90BF-98B3-FEF3-2C117B8B8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573551"/>
            <a:ext cx="4572000" cy="2062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>
                <a:solidFill>
                  <a:srgbClr val="FFA900"/>
                </a:solidFill>
                <a:latin typeface="Aptos"/>
              </a:rPr>
              <a:t>07 /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7899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500" b="1">
                <a:solidFill>
                  <a:srgbClr val="191919"/>
                </a:solidFill>
                <a:latin typeface="Aptos"/>
              </a:rPr>
              <a:t>3Dプリントのトラブル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42416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0">
                <a:solidFill>
                  <a:srgbClr val="787873"/>
                </a:solidFill>
                <a:latin typeface="Aptos"/>
              </a:rPr>
              <a:t>印刷時に発生した問題と対応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4800600" cy="3429000"/>
          </a:xfrm>
          <a:prstGeom prst="rect">
            <a:avLst/>
          </a:prstGeom>
          <a:solidFill>
            <a:srgbClr val="FAFAF7"/>
          </a:solidFill>
          <a:ln>
            <a:solidFill>
              <a:srgbClr val="DC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392" y="3451860"/>
            <a:ext cx="4654296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800" b="1">
                <a:solidFill>
                  <a:srgbClr val="787873"/>
                </a:solidFill>
                <a:latin typeface="Aptos"/>
              </a:rPr>
              <a:t>印刷の様子・失敗例の写真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920240"/>
            <a:ext cx="466344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900" b="1">
                <a:solidFill>
                  <a:srgbClr val="191919"/>
                </a:solidFill>
                <a:latin typeface="Aptos"/>
              </a:rPr>
              <a:t>モデルを公式推奨のものへ変更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6752" y="2560320"/>
            <a:ext cx="4663440" cy="1965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0">
                <a:solidFill>
                  <a:srgbClr val="787873"/>
                </a:solidFill>
                <a:latin typeface="Aptos"/>
              </a:rPr>
              <a:t>当初はBambuのライブラリにあるモデルで印刷していたが、スパゲッティ印刷エラーや印刷面の粗さが生じたため、公式推奨のモデルに変更した。
また、柱とオブジェクトが重なる不具合も発生し、再印刷となった。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4892040"/>
            <a:ext cx="4297680" cy="45720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4901184"/>
            <a:ext cx="402336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191919"/>
                </a:solidFill>
                <a:latin typeface="Aptos"/>
              </a:rPr>
              <a:t>複数色の部品は一色ずつ印刷する</a:t>
            </a:r>
          </a:p>
        </p:txBody>
      </p:sp>
      <p:sp>
        <p:nvSpPr>
          <p:cNvPr id="16" name="スライド番号プレースホルダー 15">
            <a:extLst>
              <a:ext uri="{FF2B5EF4-FFF2-40B4-BE49-F238E27FC236}">
                <a16:creationId xmlns:a16="http://schemas.microsoft.com/office/drawing/2014/main" id="{0699461B-2AC7-E39E-7320-4A7246761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47472" y="438912"/>
            <a:ext cx="137160" cy="589788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6400800" cy="822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3400" b="1">
                <a:solidFill>
                  <a:srgbClr val="191919"/>
                </a:solidFill>
                <a:latin typeface="Aptos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063240"/>
            <a:ext cx="64008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600" b="0">
                <a:solidFill>
                  <a:srgbClr val="787873"/>
                </a:solidFill>
                <a:latin typeface="Aptos"/>
              </a:rPr>
              <a:t>ご清聴ありがとうございました。</a:t>
            </a:r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55070560-060F-5745-063B-82E2FDCF8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528</Words>
  <Application>Microsoft Macintosh PowerPoint</Application>
  <PresentationFormat>ワイド画面</PresentationFormat>
  <Paragraphs>136</Paragraphs>
  <Slides>10</Slides>
  <Notes>8</Notes>
  <HiddenSlides>6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Yu Gothic</vt:lpstr>
      <vt:lpstr>Aptos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Orange Corporate Presentation Template</dc:title>
  <dc:subject/>
  <dc:creator>OpenAI</dc:creator>
  <cp:keywords/>
  <dc:description>generated using python-pptx</dc:description>
  <cp:lastModifiedBy>嶺田　あんず</cp:lastModifiedBy>
  <cp:revision>12</cp:revision>
  <dcterms:created xsi:type="dcterms:W3CDTF">2013-01-27T09:14:16Z</dcterms:created>
  <dcterms:modified xsi:type="dcterms:W3CDTF">2026-10-13T05:47:25Z</dcterms:modified>
  <cp:category/>
</cp:coreProperties>
</file>