
<file path=[Content_Types].xml><?xml version="1.0" encoding="utf-8"?>
<Types xmlns="http://schemas.openxmlformats.org/package/2006/content-types">
  <Default Extension="jpeg" ContentType="image/jpeg"/>
  <Default Extension="mov" ContentType="video/quicktime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67" r:id="rId5"/>
    <p:sldId id="266" r:id="rId6"/>
    <p:sldId id="265" r:id="rId7"/>
    <p:sldId id="259" r:id="rId8"/>
    <p:sldId id="260" r:id="rId9"/>
    <p:sldId id="261" r:id="rId10"/>
    <p:sldId id="262" r:id="rId11"/>
    <p:sldId id="263" r:id="rId12"/>
    <p:sldId id="264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392B"/>
    <a:srgbClr val="E7E7E7"/>
    <a:srgbClr val="FFA9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142"/>
    <p:restoredTop sz="80000"/>
  </p:normalViewPr>
  <p:slideViewPr>
    <p:cSldViewPr snapToGrid="0" snapToObjects="1">
      <p:cViewPr>
        <p:scale>
          <a:sx n="109" d="100"/>
          <a:sy n="109" d="100"/>
        </p:scale>
        <p:origin x="144" y="7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75668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中間報告のうち、私が担当した準備工程についてご報告します。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第5回から第9回にかけての流れです。組み立てと3Dプリントを並行して進め、キャリブレーションを経て学習のフェーズに入りました。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altLang="ja-JP" dirty="0"/>
              <a:t>3D</a:t>
            </a:r>
            <a:r>
              <a:rPr lang="ja-JP" altLang="en-US"/>
              <a:t>プリントの進め方と、途中でモデルを変更した経緯です。</a:t>
            </a:r>
          </a:p>
          <a:p>
            <a:r>
              <a:rPr lang="en-US" altLang="ja-JP" dirty="0"/>
              <a:t>STL</a:t>
            </a:r>
            <a:r>
              <a:rPr lang="ja-JP" altLang="en-US"/>
              <a:t>を入手し、スライサーで配置して印刷、組み立て前にバリを取る、という流れです。</a:t>
            </a:r>
          </a:p>
          <a:p>
            <a:r>
              <a:rPr lang="ja-JP" altLang="en-US"/>
              <a:t>当初は</a:t>
            </a:r>
            <a:r>
              <a:rPr lang="en-US" altLang="ja-JP" dirty="0"/>
              <a:t>Bambu</a:t>
            </a:r>
            <a:r>
              <a:rPr lang="ja-JP" altLang="en-US"/>
              <a:t>のライブラリにあるリミックス版を使っていましたが、印刷面が粗くなったり、スパゲッティ印刷エラーが起きたりしました。</a:t>
            </a:r>
          </a:p>
          <a:p>
            <a:r>
              <a:rPr lang="ja-JP" altLang="en-US"/>
              <a:t>設定はどちらも</a:t>
            </a:r>
            <a:r>
              <a:rPr lang="en-US" altLang="ja-JP" dirty="0"/>
              <a:t>P2S</a:t>
            </a:r>
            <a:r>
              <a:rPr lang="ja-JP" altLang="en-US"/>
              <a:t>用の標準プリセット（</a:t>
            </a:r>
            <a:r>
              <a:rPr lang="en-US" altLang="ja-JP" dirty="0"/>
              <a:t>0.20mm Standard @BBL P2S</a:t>
            </a:r>
            <a:r>
              <a:rPr lang="ja-JP" altLang="en-US"/>
              <a:t>、ノズル</a:t>
            </a:r>
            <a:r>
              <a:rPr lang="en-US" altLang="ja-JP" dirty="0"/>
              <a:t>0.4mm</a:t>
            </a:r>
            <a:r>
              <a:rPr lang="ja-JP" altLang="en-US"/>
              <a:t>）で同じです。</a:t>
            </a:r>
          </a:p>
          <a:p>
            <a:r>
              <a:rPr lang="ja-JP" altLang="en-US"/>
              <a:t>違いは構成で、リミックス版はフィラメント</a:t>
            </a:r>
            <a:r>
              <a:rPr lang="en-US" altLang="ja-JP" dirty="0"/>
              <a:t>3</a:t>
            </a:r>
            <a:r>
              <a:rPr lang="ja-JP" altLang="en-US"/>
              <a:t>本を使う</a:t>
            </a:r>
            <a:r>
              <a:rPr lang="en-US" altLang="ja-JP" dirty="0"/>
              <a:t>3</a:t>
            </a:r>
            <a:r>
              <a:rPr lang="ja-JP" altLang="en-US"/>
              <a:t>色構成でしたが、公式の</a:t>
            </a:r>
            <a:r>
              <a:rPr lang="en-US" altLang="ja-JP" dirty="0"/>
              <a:t>STL</a:t>
            </a:r>
            <a:r>
              <a:rPr lang="ja-JP" altLang="en-US"/>
              <a:t>は単色構成でした。色替えのたびに材料の入れ替えが入るため、造形が不安定になったのではないかと考えています。</a:t>
            </a:r>
          </a:p>
          <a:p>
            <a:r>
              <a:rPr lang="ja-JP" altLang="en-US"/>
              <a:t>ここから、複数色の部品は一色ずつ印刷するという方針にしました。</a:t>
            </a:r>
            <a:endParaRPr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ja-JP" altLang="en-US" dirty="0"/>
              <a:t>組み立ての手順です。</a:t>
            </a:r>
          </a:p>
          <a:p>
            <a:endParaRPr lang="ja-JP" altLang="en-US"/>
          </a:p>
          <a:p>
            <a:r>
              <a:rPr lang="ja-JP" altLang="en-US" dirty="0"/>
              <a:t>【1. モーターの準備】</a:t>
            </a:r>
          </a:p>
          <a:p>
            <a:r>
              <a:rPr lang="ja-JP" altLang="en-US" dirty="0"/>
              <a:t>フォロワーは同一のモーターを6個使いますが、リーダーは自重を支えつつ軽く動かせるよう、ギア比の異なる3種類を使い分けます。</a:t>
            </a:r>
          </a:p>
          <a:p>
            <a:r>
              <a:rPr lang="ja-JP" altLang="en-US" dirty="0"/>
              <a:t>・STS3215-C001（ギア比1/345、7.4V）×1</a:t>
            </a:r>
          </a:p>
          <a:p>
            <a:r>
              <a:rPr lang="ja-JP" altLang="en-US" dirty="0"/>
              <a:t>・STS3215-C044（ギア比1/191、7.4V）×2</a:t>
            </a:r>
          </a:p>
          <a:p>
            <a:r>
              <a:rPr lang="ja-JP" altLang="en-US" dirty="0"/>
              <a:t>・STS3215-C046（ギア比1/147、7.4V）×3</a:t>
            </a:r>
          </a:p>
          <a:p>
            <a:r>
              <a:rPr lang="ja-JP" altLang="en-US" dirty="0"/>
              <a:t>関節ごとの割り当ては、1番ベース/ショルダーヨー 1/191、2番ショルダーピッチ 1/345、3番エルボー 1/191、4番リストロール・5番リストピッチ・6番グリッパー 1/147です。</a:t>
            </a:r>
          </a:p>
          <a:p>
            <a:r>
              <a:rPr lang="ja-JP" altLang="en-US" dirty="0"/>
              <a:t>見分けがつかなくなるため、組み立て前にフォロワーをF1〜F6、リーダーをL1〜L6とラベル付けします。</a:t>
            </a:r>
          </a:p>
          <a:p>
            <a:endParaRPr lang="ja-JP" altLang="en-US"/>
          </a:p>
          <a:p>
            <a:r>
              <a:rPr lang="ja-JP" altLang="en-US" dirty="0"/>
              <a:t>【2. ID設定】</a:t>
            </a:r>
          </a:p>
          <a:p>
            <a:r>
              <a:rPr lang="ja-JP" altLang="en-US" dirty="0"/>
              <a:t>モーターごとにIDを設定します。1台ずつ接続して行う必要があります。</a:t>
            </a:r>
          </a:p>
          <a:p>
            <a:endParaRPr lang="ja-JP" altLang="en-US"/>
          </a:p>
          <a:p>
            <a:r>
              <a:rPr lang="ja-JP" altLang="en-US" dirty="0"/>
              <a:t>【3. 電源・USB接続】</a:t>
            </a:r>
          </a:p>
          <a:p>
            <a:r>
              <a:rPr lang="ja-JP" altLang="en-US" dirty="0"/>
              <a:t>モーターバスに電源を接続します。フォロワーは7.4Vモーターなら5V、12Vモーターなら12V、リーダーは常に5Vです。USBからは電力が供給されないため、電源とUSBの両方をつなぎます。</a:t>
            </a:r>
          </a:p>
          <a:p>
            <a:r>
              <a:rPr lang="ja-JP" altLang="en-US" dirty="0"/>
              <a:t>ここで、変換ケーブルの位置によって基板が検出されないことがありました。</a:t>
            </a:r>
          </a:p>
          <a:p>
            <a:endParaRPr lang="ja-JP" altLang="en-US"/>
          </a:p>
          <a:p>
            <a:r>
              <a:rPr lang="ja-JP" altLang="en-US" dirty="0"/>
              <a:t>【4. 組み立て】</a:t>
            </a:r>
          </a:p>
          <a:p>
            <a:r>
              <a:rPr lang="ja-JP" altLang="en-US" dirty="0"/>
              <a:t>ケーブルは先にモーターへ挿してから組み上げます。詳しくは次のスライドで説明します。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D03897-ADA4-67F3-0A1E-9164CED3DD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A22E26-56A2-531C-342B-0C369116027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DC5611-689D-3960-3D67-FF0BC4857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組み立てで特に重要だった3点です。</a:t>
            </a:r>
          </a:p>
          <a:p>
            <a:r>
              <a:t>1つ目、ケーブルは先にモーターへ挿しておくこと。あとから挿そうとすると入りません。</a:t>
            </a:r>
          </a:p>
          <a:p>
            <a:r>
              <a:t>2つ目、取り付け順序。ステップ2の最後の部品をつける前にケーブルを接続する必要があり、またフォロワーのモーター4の後に、モーター5の部品を先につけてしまうとケーブルが挿せなくなります。</a:t>
            </a:r>
          </a:p>
          <a:p>
            <a:r>
              <a:t>3つ目、3Dプリント部品のバリ取り。土台への差し込みが非常に硬く、バリが残っていると入りませんでした。</a:t>
            </a:r>
          </a:p>
          <a:p>
            <a:r>
              <a:t>L1は片側のみネジが必要で、下側はネジなしで固定できます。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24F237-1E59-5EA8-5F06-81D9CE35EB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0243931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2DD26F-FBD0-8CF6-369B-8046ABF6D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4D51A7-911B-1288-0784-D516F8B9889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703EA9-D643-55C0-1C7A-C00BC82D14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組み立ては1時間40分。3Dプリントではスパゲッティエラーと、柱とオブジェクトの重なりによる再印刷の2件のトラブルがありました。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29F594-0AC6-B9F2-F45D-C0C19D328E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312493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学習の前段にあたる、ハードウェア側の準備を担当しました。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組み立てで特に重要だった3点です。</a:t>
            </a:r>
          </a:p>
          <a:p>
            <a:r>
              <a:t>1つ目、ケーブルは先にモーターへ挿しておくこと。あとから挿そうとすると入りません。</a:t>
            </a:r>
          </a:p>
          <a:p>
            <a:r>
              <a:t>2つ目、取り付け順序。ステップ2の最後の部品をつける前にケーブルを接続する必要があり、またフォロワーのモーター4の後に、モーター5の部品を先につけてしまうとケーブルが挿せなくなります。</a:t>
            </a:r>
          </a:p>
          <a:p>
            <a:r>
              <a:t>3つ目、3Dプリント部品のバリ取り。土台への差し込みが非常に硬く、バリが残っていると入りませんでした。</a:t>
            </a:r>
          </a:p>
          <a:p>
            <a:r>
              <a:t>L1は片側のみネジが必要で、下側はネジなしで固定できます。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キャリブレーションの手順です。</a:t>
            </a:r>
          </a:p>
          <a:p>
            <a:r>
              <a:t>つまずいた点が2つありました。</a:t>
            </a:r>
          </a:p>
          <a:p>
            <a:r>
              <a:t>1つ目は、初期姿勢に合わせずにキャリブレーションを始めてしまい、可動域の最大・最小がずれたことです。</a:t>
            </a:r>
          </a:p>
          <a:p>
            <a:r>
              <a:t>2つ目は、ID割り振りのコマンドを誤って実行したことで、モーターIDの1番と6番が認識されなくなったことです。Missing motor IDs というエラーが出て、6台あるはずのモーターが4台しか見つからない状態になりました。</a:t>
            </a:r>
          </a:p>
          <a:p>
            <a:r>
              <a:t>動作確認には lerobot-teleoperate を使い、リーダーの動きにフォロワーが追従することを確認しています。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3Dプリントで発生したトラブルです。</a:t>
            </a:r>
          </a:p>
          <a:p>
            <a:r>
              <a:t>当初はBambuのライブラリにあるモデルを使っていましたが、スパゲッティ印刷エラーや印刷面の粗さが見られたため、公式推奨のモデルに切り替えました。</a:t>
            </a:r>
          </a:p>
          <a:p>
            <a:r>
              <a:t>そのほか、柱とオブジェクトが重なる不具合が起き、再印刷になっています。</a:t>
            </a:r>
          </a:p>
          <a:p>
            <a:r>
              <a:t>また、複数色の部品は一色ずつ印刷する必要がありました。</a:t>
            </a:r>
          </a:p>
          <a:p>
            <a:r>
              <a:t>なお公式ガイドでは、オプションとしてソフトグリッパーとカメラマウントブラケットインサートの印刷ファイルも提供されています。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02F1D-F893-4F40-A0A6-F56318020834}" type="datetime1">
              <a:rPr lang="ja-JP" altLang="en-US" smtClean="0"/>
              <a:t>2026/10/13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822873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239EC9-39FE-0042-A6C4-CC7CC68273A2}" type="datetime1">
              <a:rPr lang="ja-JP" altLang="en-US" smtClean="0"/>
              <a:t>2026/10/13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53484A32-C1EE-7A53-38DF-CEF64B3D6E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822873" y="6356350"/>
            <a:ext cx="2133600" cy="365125"/>
          </a:xfrm>
          <a:prstGeom prst="rect">
            <a:avLst/>
          </a:prstGeom>
        </p:spPr>
        <p:txBody>
          <a:bodyPr/>
          <a:lstStyle>
            <a:lvl1pPr algn="r">
              <a:defRPr sz="2400"/>
            </a:lvl1pPr>
          </a:lstStyle>
          <a:p>
            <a:pPr algn="r"/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15.png"/><Relationship Id="rId2" Type="http://schemas.microsoft.com/office/2007/relationships/media" Target="../media/media1.mov"/><Relationship Id="rId1" Type="http://schemas.openxmlformats.org/officeDocument/2006/relationships/video" Target="NULL" TargetMode="External"/><Relationship Id="rId6" Type="http://schemas.openxmlformats.org/officeDocument/2006/relationships/image" Target="../media/image14.png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5.xml"/><Relationship Id="rId9" Type="http://schemas.openxmlformats.org/officeDocument/2006/relationships/image" Target="../media/image10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paper_tex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47472" y="438912"/>
            <a:ext cx="11484864" cy="58978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47472" y="438912"/>
            <a:ext cx="137160" cy="5897880"/>
          </a:xfrm>
          <a:prstGeom prst="rect">
            <a:avLst/>
          </a:prstGeom>
          <a:solidFill>
            <a:srgbClr val="FFA900"/>
          </a:solidFill>
          <a:ln>
            <a:solidFill>
              <a:srgbClr val="FFA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138160" y="438912"/>
            <a:ext cx="3694176" cy="914400"/>
          </a:xfrm>
          <a:prstGeom prst="rect">
            <a:avLst/>
          </a:prstGeom>
          <a:solidFill>
            <a:srgbClr val="FFA900"/>
          </a:solidFill>
          <a:ln>
            <a:solidFill>
              <a:srgbClr val="FFA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339328" y="741784"/>
            <a:ext cx="3291840" cy="31393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b="1" dirty="0">
                <a:solidFill>
                  <a:srgbClr val="191919"/>
                </a:solidFill>
                <a:latin typeface="Aptos"/>
              </a:rPr>
              <a:t>SO-101 / </a:t>
            </a:r>
            <a:r>
              <a:rPr b="1" dirty="0" err="1">
                <a:solidFill>
                  <a:srgbClr val="191919"/>
                </a:solidFill>
                <a:latin typeface="Aptos"/>
              </a:rPr>
              <a:t>AIロボティクス</a:t>
            </a:r>
            <a:endParaRPr b="1" dirty="0">
              <a:solidFill>
                <a:srgbClr val="191919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2960" y="1005840"/>
            <a:ext cx="5486400" cy="274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900" b="1">
                <a:solidFill>
                  <a:srgbClr val="787873"/>
                </a:solidFill>
                <a:latin typeface="Aptos"/>
              </a:rPr>
              <a:t>INTERIM REPORT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272772"/>
            <a:ext cx="6583680" cy="52937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lang="ja-JP" altLang="en-US" sz="3200" b="1">
                <a:solidFill>
                  <a:srgbClr val="191919"/>
                </a:solidFill>
                <a:latin typeface="Aptos"/>
              </a:rPr>
              <a:t>中間発表</a:t>
            </a:r>
            <a:endParaRPr sz="3200" b="1" dirty="0">
              <a:solidFill>
                <a:srgbClr val="191919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68680" y="3474720"/>
            <a:ext cx="612648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300" b="0">
                <a:solidFill>
                  <a:srgbClr val="787873"/>
                </a:solidFill>
                <a:latin typeface="Aptos"/>
              </a:rPr>
              <a:t>SO-101を動かせる状態にするまでの準備工程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41248" y="5303520"/>
            <a:ext cx="2926080" cy="502920"/>
          </a:xfrm>
          <a:prstGeom prst="rect">
            <a:avLst/>
          </a:prstGeom>
          <a:solidFill>
            <a:srgbClr val="FFA900"/>
          </a:solidFill>
          <a:ln>
            <a:solidFill>
              <a:srgbClr val="FFA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87552" y="5424220"/>
            <a:ext cx="2651760" cy="252377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lang="ja-JP" altLang="en-US" sz="1400" b="1">
                <a:solidFill>
                  <a:srgbClr val="191919"/>
                </a:solidFill>
                <a:latin typeface="Aptos"/>
              </a:rPr>
              <a:t>嶺田・山村チーム</a:t>
            </a:r>
            <a:endParaRPr sz="1400" b="1" dirty="0">
              <a:solidFill>
                <a:srgbClr val="191919"/>
              </a:solidFill>
              <a:latin typeface="Aptos"/>
            </a:endParaRPr>
          </a:p>
        </p:txBody>
      </p:sp>
      <p:sp>
        <p:nvSpPr>
          <p:cNvPr id="10" name="スライド番号プレースホルダー 9">
            <a:extLst>
              <a:ext uri="{FF2B5EF4-FFF2-40B4-BE49-F238E27FC236}">
                <a16:creationId xmlns:a16="http://schemas.microsoft.com/office/drawing/2014/main" id="{2B2ABCAA-5370-7E31-D359-AA2FD8B4A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</a:t>
            </a:fld>
            <a:endParaRPr lang="en-US"/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24766B7C-C624-DFF3-F197-99C452C4D33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1237" t="5832" r="11477" b="16882"/>
          <a:stretch>
            <a:fillRect/>
          </a:stretch>
        </p:blipFill>
        <p:spPr>
          <a:xfrm>
            <a:off x="5792865" y="1920240"/>
            <a:ext cx="5263617" cy="394771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paper_tex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47472" y="438912"/>
            <a:ext cx="11484864" cy="58978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577398"/>
            <a:ext cx="4572000" cy="19851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 dirty="0">
                <a:solidFill>
                  <a:srgbClr val="FFA900"/>
                </a:solidFill>
                <a:latin typeface="Aptos"/>
              </a:rPr>
              <a:t>01 / TIMELINE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822960"/>
            <a:ext cx="1078992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500" b="1">
                <a:solidFill>
                  <a:srgbClr val="191919"/>
                </a:solidFill>
                <a:latin typeface="Aptos"/>
              </a:rPr>
              <a:t>これまでの流れ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58844" y="2094943"/>
            <a:ext cx="1143000" cy="34471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000" b="1" dirty="0">
                <a:solidFill>
                  <a:srgbClr val="191919"/>
                </a:solidFill>
                <a:latin typeface="Aptos"/>
              </a:rPr>
              <a:t>10.2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393284" y="2262726"/>
            <a:ext cx="365760" cy="0"/>
          </a:xfrm>
          <a:prstGeom prst="line">
            <a:avLst/>
          </a:prstGeom>
          <a:ln w="25400">
            <a:solidFill>
              <a:srgbClr val="FFA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941924" y="2110332"/>
            <a:ext cx="5394960" cy="31393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b="0" dirty="0">
                <a:solidFill>
                  <a:srgbClr val="191919"/>
                </a:solidFill>
                <a:latin typeface="Aptos"/>
              </a:rPr>
              <a:t>3Dプリント</a:t>
            </a:r>
            <a:r>
              <a:rPr lang="ja-JP" altLang="en-US" b="0">
                <a:solidFill>
                  <a:srgbClr val="191919"/>
                </a:solidFill>
                <a:latin typeface="Aptos"/>
              </a:rPr>
              <a:t>・モータの設定</a:t>
            </a:r>
            <a:endParaRPr b="0" dirty="0">
              <a:solidFill>
                <a:srgbClr val="191919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158844" y="2753311"/>
            <a:ext cx="1143000" cy="34471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000" b="1">
                <a:solidFill>
                  <a:srgbClr val="191919"/>
                </a:solidFill>
                <a:latin typeface="Aptos"/>
              </a:rPr>
              <a:t>10.6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393284" y="2921094"/>
            <a:ext cx="365760" cy="0"/>
          </a:xfrm>
          <a:prstGeom prst="line">
            <a:avLst/>
          </a:prstGeom>
          <a:ln w="25400">
            <a:solidFill>
              <a:srgbClr val="FFA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941924" y="2768700"/>
            <a:ext cx="5394960" cy="31393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r>
              <a:rPr b="0" dirty="0" err="1">
                <a:solidFill>
                  <a:srgbClr val="191919"/>
                </a:solidFill>
                <a:latin typeface="Aptos"/>
              </a:rPr>
              <a:t>アーム組み立て</a:t>
            </a:r>
            <a:r>
              <a:rPr lang="ja-JP" altLang="en-US">
                <a:solidFill>
                  <a:srgbClr val="191919"/>
                </a:solidFill>
                <a:latin typeface="Aptos"/>
              </a:rPr>
              <a:t>・キャリブレーション実施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58844" y="3411679"/>
            <a:ext cx="1143000" cy="34471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000" b="1" dirty="0">
                <a:solidFill>
                  <a:srgbClr val="191919"/>
                </a:solidFill>
                <a:latin typeface="Aptos"/>
              </a:rPr>
              <a:t>10.</a:t>
            </a:r>
            <a:r>
              <a:rPr lang="en-US" altLang="ja-JP" sz="2000" b="1" dirty="0">
                <a:solidFill>
                  <a:srgbClr val="191919"/>
                </a:solidFill>
                <a:latin typeface="Aptos"/>
              </a:rPr>
              <a:t>7</a:t>
            </a:r>
            <a:endParaRPr sz="2000" b="1" dirty="0">
              <a:solidFill>
                <a:srgbClr val="191919"/>
              </a:solidFill>
              <a:latin typeface="Aptos"/>
            </a:endParaRPr>
          </a:p>
        </p:txBody>
      </p:sp>
      <p:cxnSp>
        <p:nvCxnSpPr>
          <p:cNvPr id="13" name="Connector 12"/>
          <p:cNvCxnSpPr/>
          <p:nvPr/>
        </p:nvCxnSpPr>
        <p:spPr>
          <a:xfrm>
            <a:off x="4393284" y="3579462"/>
            <a:ext cx="365760" cy="0"/>
          </a:xfrm>
          <a:prstGeom prst="line">
            <a:avLst/>
          </a:prstGeom>
          <a:ln w="25400">
            <a:solidFill>
              <a:srgbClr val="FFA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941924" y="3427068"/>
            <a:ext cx="5394960" cy="31393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lang="ja-JP" altLang="en-US" b="0">
                <a:solidFill>
                  <a:srgbClr val="191919"/>
                </a:solidFill>
                <a:latin typeface="Aptos"/>
              </a:rPr>
              <a:t>カメラ一つで学習</a:t>
            </a:r>
            <a:endParaRPr b="0" dirty="0">
              <a:solidFill>
                <a:srgbClr val="191919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158844" y="4070047"/>
            <a:ext cx="1143000" cy="34471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000" b="1" dirty="0">
                <a:solidFill>
                  <a:srgbClr val="191919"/>
                </a:solidFill>
                <a:latin typeface="Aptos"/>
              </a:rPr>
              <a:t>10.</a:t>
            </a:r>
            <a:r>
              <a:rPr lang="en-US" altLang="ja-JP" sz="2000" b="1" dirty="0">
                <a:solidFill>
                  <a:srgbClr val="191919"/>
                </a:solidFill>
                <a:latin typeface="Aptos"/>
              </a:rPr>
              <a:t>8</a:t>
            </a:r>
            <a:endParaRPr sz="2000" b="1" dirty="0">
              <a:solidFill>
                <a:srgbClr val="191919"/>
              </a:solidFill>
              <a:latin typeface="Aptos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4393284" y="4237829"/>
            <a:ext cx="365760" cy="0"/>
          </a:xfrm>
          <a:prstGeom prst="line">
            <a:avLst/>
          </a:prstGeom>
          <a:ln w="25400">
            <a:solidFill>
              <a:srgbClr val="FFA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941924" y="4085436"/>
            <a:ext cx="5394960" cy="31393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lang="ja-JP" altLang="en-US" b="0">
                <a:solidFill>
                  <a:srgbClr val="191919"/>
                </a:solidFill>
                <a:latin typeface="Aptos"/>
              </a:rPr>
              <a:t>カメラ２つで学習</a:t>
            </a:r>
            <a:endParaRPr b="0" dirty="0">
              <a:solidFill>
                <a:srgbClr val="191919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158844" y="4728415"/>
            <a:ext cx="1143000" cy="34471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000" b="1" dirty="0">
                <a:solidFill>
                  <a:srgbClr val="191919"/>
                </a:solidFill>
                <a:latin typeface="Aptos"/>
              </a:rPr>
              <a:t>10.</a:t>
            </a:r>
            <a:r>
              <a:rPr lang="en-US" altLang="ja-JP" sz="2000" b="1" dirty="0">
                <a:solidFill>
                  <a:srgbClr val="191919"/>
                </a:solidFill>
                <a:latin typeface="Aptos"/>
              </a:rPr>
              <a:t>13</a:t>
            </a:r>
            <a:endParaRPr sz="2000" b="1" dirty="0">
              <a:solidFill>
                <a:srgbClr val="191919"/>
              </a:solidFill>
              <a:latin typeface="Aptos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4393284" y="4896198"/>
            <a:ext cx="365760" cy="0"/>
          </a:xfrm>
          <a:prstGeom prst="line">
            <a:avLst/>
          </a:prstGeom>
          <a:ln w="25400">
            <a:solidFill>
              <a:srgbClr val="FFA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941924" y="4743804"/>
            <a:ext cx="5394960" cy="31393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lang="ja-JP" altLang="en-US" b="0">
                <a:solidFill>
                  <a:srgbClr val="191919"/>
                </a:solidFill>
                <a:latin typeface="Aptos"/>
              </a:rPr>
              <a:t>モデルの比較</a:t>
            </a:r>
            <a:endParaRPr b="0" dirty="0">
              <a:solidFill>
                <a:srgbClr val="191919"/>
              </a:solidFill>
              <a:latin typeface="Aptos"/>
            </a:endParaRPr>
          </a:p>
        </p:txBody>
      </p:sp>
      <p:sp>
        <p:nvSpPr>
          <p:cNvPr id="29" name="TextBox 5">
            <a:extLst>
              <a:ext uri="{FF2B5EF4-FFF2-40B4-BE49-F238E27FC236}">
                <a16:creationId xmlns:a16="http://schemas.microsoft.com/office/drawing/2014/main" id="{A5B3D2C2-B4A8-50E9-F46A-FAF4C20D5A9E}"/>
              </a:ext>
            </a:extLst>
          </p:cNvPr>
          <p:cNvSpPr txBox="1"/>
          <p:nvPr/>
        </p:nvSpPr>
        <p:spPr>
          <a:xfrm>
            <a:off x="2133605" y="2064165"/>
            <a:ext cx="1143000" cy="406265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lang="ja-JP" altLang="en-US" sz="2400" b="1">
                <a:solidFill>
                  <a:srgbClr val="FFA902"/>
                </a:solidFill>
                <a:latin typeface="Aptos"/>
              </a:rPr>
              <a:t>第５回</a:t>
            </a:r>
            <a:endParaRPr sz="2400" b="1" dirty="0">
              <a:solidFill>
                <a:srgbClr val="FFA902"/>
              </a:solidFill>
              <a:latin typeface="Aptos"/>
            </a:endParaRPr>
          </a:p>
        </p:txBody>
      </p:sp>
      <p:sp>
        <p:nvSpPr>
          <p:cNvPr id="30" name="TextBox 8">
            <a:extLst>
              <a:ext uri="{FF2B5EF4-FFF2-40B4-BE49-F238E27FC236}">
                <a16:creationId xmlns:a16="http://schemas.microsoft.com/office/drawing/2014/main" id="{EB15456F-E90E-7F15-90D3-32E1BDCA43E8}"/>
              </a:ext>
            </a:extLst>
          </p:cNvPr>
          <p:cNvSpPr txBox="1"/>
          <p:nvPr/>
        </p:nvSpPr>
        <p:spPr>
          <a:xfrm>
            <a:off x="2133605" y="2722533"/>
            <a:ext cx="1143000" cy="406265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r>
              <a:rPr lang="ja-JP" altLang="en-US" sz="2400" b="1">
                <a:solidFill>
                  <a:srgbClr val="FFA902"/>
                </a:solidFill>
                <a:latin typeface="Aptos"/>
              </a:rPr>
              <a:t>第６回</a:t>
            </a:r>
            <a:endParaRPr lang="ja-JP" altLang="en-US" sz="2400" b="1" dirty="0">
              <a:solidFill>
                <a:srgbClr val="FFA902"/>
              </a:solidFill>
              <a:latin typeface="Aptos"/>
            </a:endParaRPr>
          </a:p>
        </p:txBody>
      </p:sp>
      <p:sp>
        <p:nvSpPr>
          <p:cNvPr id="31" name="TextBox 11">
            <a:extLst>
              <a:ext uri="{FF2B5EF4-FFF2-40B4-BE49-F238E27FC236}">
                <a16:creationId xmlns:a16="http://schemas.microsoft.com/office/drawing/2014/main" id="{E90285F7-AD54-7AD3-12DA-D7126A1160C3}"/>
              </a:ext>
            </a:extLst>
          </p:cNvPr>
          <p:cNvSpPr txBox="1"/>
          <p:nvPr/>
        </p:nvSpPr>
        <p:spPr>
          <a:xfrm>
            <a:off x="2133605" y="3380901"/>
            <a:ext cx="1143000" cy="406265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r>
              <a:rPr lang="ja-JP" altLang="en-US" sz="2400" b="1">
                <a:solidFill>
                  <a:srgbClr val="FFA902"/>
                </a:solidFill>
                <a:latin typeface="Aptos"/>
              </a:rPr>
              <a:t>第７回</a:t>
            </a:r>
            <a:endParaRPr lang="ja-JP" altLang="en-US" sz="2400" b="1" dirty="0">
              <a:solidFill>
                <a:srgbClr val="FFA902"/>
              </a:solidFill>
              <a:latin typeface="Aptos"/>
            </a:endParaRPr>
          </a:p>
        </p:txBody>
      </p:sp>
      <p:sp>
        <p:nvSpPr>
          <p:cNvPr id="32" name="TextBox 14">
            <a:extLst>
              <a:ext uri="{FF2B5EF4-FFF2-40B4-BE49-F238E27FC236}">
                <a16:creationId xmlns:a16="http://schemas.microsoft.com/office/drawing/2014/main" id="{D9A029C2-62B3-13D7-894F-593F7F46DCBE}"/>
              </a:ext>
            </a:extLst>
          </p:cNvPr>
          <p:cNvSpPr txBox="1"/>
          <p:nvPr/>
        </p:nvSpPr>
        <p:spPr>
          <a:xfrm>
            <a:off x="2133605" y="4039269"/>
            <a:ext cx="1143000" cy="406265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r>
              <a:rPr lang="ja-JP" altLang="en-US" sz="2400" b="1">
                <a:solidFill>
                  <a:srgbClr val="FFA902"/>
                </a:solidFill>
                <a:latin typeface="Aptos"/>
              </a:rPr>
              <a:t>第８回</a:t>
            </a:r>
            <a:endParaRPr lang="ja-JP" altLang="en-US" sz="2400" b="1" dirty="0">
              <a:solidFill>
                <a:srgbClr val="FFA902"/>
              </a:solidFill>
              <a:latin typeface="Aptos"/>
            </a:endParaRPr>
          </a:p>
        </p:txBody>
      </p:sp>
      <p:sp>
        <p:nvSpPr>
          <p:cNvPr id="33" name="TextBox 17">
            <a:extLst>
              <a:ext uri="{FF2B5EF4-FFF2-40B4-BE49-F238E27FC236}">
                <a16:creationId xmlns:a16="http://schemas.microsoft.com/office/drawing/2014/main" id="{2EA40ACA-F0DA-BA41-2F30-D0021A4ECE56}"/>
              </a:ext>
            </a:extLst>
          </p:cNvPr>
          <p:cNvSpPr txBox="1"/>
          <p:nvPr/>
        </p:nvSpPr>
        <p:spPr>
          <a:xfrm>
            <a:off x="2133605" y="4697637"/>
            <a:ext cx="1143000" cy="406265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r>
              <a:rPr lang="ja-JP" altLang="en-US" sz="2400" b="1">
                <a:solidFill>
                  <a:srgbClr val="FFA902"/>
                </a:solidFill>
                <a:latin typeface="Aptos"/>
              </a:rPr>
              <a:t>第９回</a:t>
            </a:r>
          </a:p>
        </p:txBody>
      </p:sp>
      <p:sp>
        <p:nvSpPr>
          <p:cNvPr id="35" name="スライド番号プレースホルダー 34">
            <a:extLst>
              <a:ext uri="{FF2B5EF4-FFF2-40B4-BE49-F238E27FC236}">
                <a16:creationId xmlns:a16="http://schemas.microsoft.com/office/drawing/2014/main" id="{B80F4A55-84E4-CB88-3066-EA3944EBF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7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スライド番号プレースホルダー 10">
            <a:extLst>
              <a:ext uri="{FF2B5EF4-FFF2-40B4-BE49-F238E27FC236}">
                <a16:creationId xmlns:a16="http://schemas.microsoft.com/office/drawing/2014/main" id="{D29A8809-0BAE-995D-06EA-2F866A383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/>
          </a:p>
        </p:txBody>
      </p:sp>
      <p:sp>
        <p:nvSpPr>
          <p:cNvPr id="85" name="Rectangle 2">
            <a:extLst>
              <a:ext uri="{FF2B5EF4-FFF2-40B4-BE49-F238E27FC236}">
                <a16:creationId xmlns:a16="http://schemas.microsoft.com/office/drawing/2014/main" id="{1517B5F9-39DA-A053-FA8A-2312E54EA957}"/>
              </a:ext>
            </a:extLst>
          </p:cNvPr>
          <p:cNvSpPr/>
          <p:nvPr/>
        </p:nvSpPr>
        <p:spPr>
          <a:xfrm>
            <a:off x="347472" y="438912"/>
            <a:ext cx="11484864" cy="58978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6" name="Rectangle 3">
            <a:extLst>
              <a:ext uri="{FF2B5EF4-FFF2-40B4-BE49-F238E27FC236}">
                <a16:creationId xmlns:a16="http://schemas.microsoft.com/office/drawing/2014/main" id="{8691E16B-4C66-1301-A389-AE7B6BC57DCC}"/>
              </a:ext>
            </a:extLst>
          </p:cNvPr>
          <p:cNvSpPr/>
          <p:nvPr/>
        </p:nvSpPr>
        <p:spPr>
          <a:xfrm>
            <a:off x="4297680" y="438912"/>
            <a:ext cx="7534656" cy="914400"/>
          </a:xfrm>
          <a:prstGeom prst="rect">
            <a:avLst/>
          </a:prstGeom>
          <a:solidFill>
            <a:srgbClr val="FFA900"/>
          </a:solidFill>
          <a:ln>
            <a:solidFill>
              <a:srgbClr val="FFA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4">
            <a:extLst>
              <a:ext uri="{FF2B5EF4-FFF2-40B4-BE49-F238E27FC236}">
                <a16:creationId xmlns:a16="http://schemas.microsoft.com/office/drawing/2014/main" id="{98370165-0781-B644-C754-00279895642E}"/>
              </a:ext>
            </a:extLst>
          </p:cNvPr>
          <p:cNvSpPr txBox="1"/>
          <p:nvPr/>
        </p:nvSpPr>
        <p:spPr>
          <a:xfrm>
            <a:off x="4590288" y="718962"/>
            <a:ext cx="6949440" cy="39087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lang="ja-JP" altLang="en-US" sz="2300" b="1">
                <a:solidFill>
                  <a:srgbClr val="191919"/>
                </a:solidFill>
                <a:latin typeface="Aptos"/>
              </a:rPr>
              <a:t>モデルの入手と印刷設定</a:t>
            </a:r>
            <a:endParaRPr sz="2300" b="1" dirty="0">
              <a:solidFill>
                <a:srgbClr val="191919"/>
              </a:solidFill>
              <a:latin typeface="Aptos"/>
            </a:endParaRPr>
          </a:p>
        </p:txBody>
      </p:sp>
      <p:sp>
        <p:nvSpPr>
          <p:cNvPr id="88" name="TextBox 5">
            <a:extLst>
              <a:ext uri="{FF2B5EF4-FFF2-40B4-BE49-F238E27FC236}">
                <a16:creationId xmlns:a16="http://schemas.microsoft.com/office/drawing/2014/main" id="{C2DA9D23-A115-0C28-9DF3-D5F5CDD41BFF}"/>
              </a:ext>
            </a:extLst>
          </p:cNvPr>
          <p:cNvSpPr txBox="1"/>
          <p:nvPr/>
        </p:nvSpPr>
        <p:spPr>
          <a:xfrm>
            <a:off x="713232" y="577398"/>
            <a:ext cx="4572000" cy="19851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 dirty="0">
                <a:solidFill>
                  <a:srgbClr val="FFA900"/>
                </a:solidFill>
                <a:latin typeface="Aptos"/>
              </a:rPr>
              <a:t>02 / 3D PRINTING</a:t>
            </a:r>
          </a:p>
        </p:txBody>
      </p:sp>
      <p:sp>
        <p:nvSpPr>
          <p:cNvPr id="89" name="TextBox 6">
            <a:extLst>
              <a:ext uri="{FF2B5EF4-FFF2-40B4-BE49-F238E27FC236}">
                <a16:creationId xmlns:a16="http://schemas.microsoft.com/office/drawing/2014/main" id="{579E30CF-4508-5731-C45A-B581F8FD4B07}"/>
              </a:ext>
            </a:extLst>
          </p:cNvPr>
          <p:cNvSpPr txBox="1"/>
          <p:nvPr/>
        </p:nvSpPr>
        <p:spPr>
          <a:xfrm>
            <a:off x="713232" y="886453"/>
            <a:ext cx="3447288" cy="42165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lang="ja-JP" altLang="en-US" sz="2500" b="1">
                <a:solidFill>
                  <a:srgbClr val="191919"/>
                </a:solidFill>
                <a:latin typeface="Aptos"/>
              </a:rPr>
              <a:t>3Dプリント</a:t>
            </a:r>
            <a:endParaRPr sz="2500" b="1" dirty="0">
              <a:solidFill>
                <a:srgbClr val="191919"/>
              </a:solidFill>
              <a:latin typeface="Aptos"/>
            </a:endParaRPr>
          </a:p>
        </p:txBody>
      </p:sp>
      <p:sp>
        <p:nvSpPr>
          <p:cNvPr id="90" name="Rectangle 6">
            <a:extLst>
              <a:ext uri="{FF2B5EF4-FFF2-40B4-BE49-F238E27FC236}">
                <a16:creationId xmlns:a16="http://schemas.microsoft.com/office/drawing/2014/main" id="{3BC8848C-EB5A-CEA3-AFB6-B065398957DB}"/>
              </a:ext>
            </a:extLst>
          </p:cNvPr>
          <p:cNvSpPr/>
          <p:nvPr/>
        </p:nvSpPr>
        <p:spPr>
          <a:xfrm>
            <a:off x="638289" y="3423799"/>
            <a:ext cx="5361433" cy="2518013"/>
          </a:xfrm>
          <a:prstGeom prst="rect">
            <a:avLst/>
          </a:prstGeom>
          <a:solidFill>
            <a:srgbClr val="F6F6F2"/>
          </a:solidFill>
          <a:ln>
            <a:solidFill>
              <a:srgbClr val="F6F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ectangle 7">
            <a:extLst>
              <a:ext uri="{FF2B5EF4-FFF2-40B4-BE49-F238E27FC236}">
                <a16:creationId xmlns:a16="http://schemas.microsoft.com/office/drawing/2014/main" id="{C2C4D7D5-1DBC-9504-C258-54621FFD41E7}"/>
              </a:ext>
            </a:extLst>
          </p:cNvPr>
          <p:cNvSpPr/>
          <p:nvPr/>
        </p:nvSpPr>
        <p:spPr>
          <a:xfrm>
            <a:off x="638289" y="3423129"/>
            <a:ext cx="5361433" cy="233248"/>
          </a:xfrm>
          <a:prstGeom prst="rect">
            <a:avLst/>
          </a:prstGeom>
          <a:solidFill>
            <a:srgbClr val="FFA900"/>
          </a:solidFill>
          <a:ln>
            <a:solidFill>
              <a:srgbClr val="FFA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1">
            <a:extLst>
              <a:ext uri="{FF2B5EF4-FFF2-40B4-BE49-F238E27FC236}">
                <a16:creationId xmlns:a16="http://schemas.microsoft.com/office/drawing/2014/main" id="{9366A8FC-3593-7E9D-DA5F-DA3B429F131C}"/>
              </a:ext>
            </a:extLst>
          </p:cNvPr>
          <p:cNvSpPr txBox="1"/>
          <p:nvPr/>
        </p:nvSpPr>
        <p:spPr>
          <a:xfrm>
            <a:off x="855238" y="4013198"/>
            <a:ext cx="5074920" cy="159633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>
              <a:spcBef>
                <a:spcPts val="400"/>
              </a:spcBef>
              <a:spcAft>
                <a:spcPts val="300"/>
              </a:spcAft>
            </a:pPr>
            <a:r>
              <a:rPr lang="ja-JP" altLang="en-US" sz="1600" b="1">
                <a:solidFill>
                  <a:srgbClr val="E89200"/>
                </a:solidFill>
                <a:latin typeface="Yu Gothic"/>
              </a:rPr>
              <a:t>●気をつけた点</a:t>
            </a:r>
            <a:endParaRPr sz="1600" b="1" dirty="0">
              <a:solidFill>
                <a:srgbClr val="E89200"/>
              </a:solidFill>
              <a:latin typeface="Yu Gothic"/>
            </a:endParaRPr>
          </a:p>
          <a:p>
            <a:pPr>
              <a:spcAft>
                <a:spcPts val="200"/>
              </a:spcAft>
            </a:pPr>
            <a:r>
              <a:rPr sz="1400" dirty="0">
                <a:solidFill>
                  <a:srgbClr val="1A1A1A"/>
                </a:solidFill>
                <a:latin typeface="Yu Gothic"/>
              </a:rPr>
              <a:t>・複数色の部品は一色ずつ印刷する</a:t>
            </a:r>
          </a:p>
          <a:p>
            <a:pPr>
              <a:spcAft>
                <a:spcPts val="200"/>
              </a:spcAft>
            </a:pPr>
            <a:r>
              <a:rPr sz="1400" dirty="0">
                <a:solidFill>
                  <a:srgbClr val="1A1A1A"/>
                </a:solidFill>
                <a:latin typeface="Yu Gothic"/>
              </a:rPr>
              <a:t>・組み立て前にバリをしっかり取る</a:t>
            </a:r>
          </a:p>
          <a:p>
            <a:pPr>
              <a:spcBef>
                <a:spcPts val="400"/>
              </a:spcBef>
              <a:spcAft>
                <a:spcPts val="300"/>
              </a:spcAft>
            </a:pPr>
            <a:r>
              <a:rPr lang="ja-JP" altLang="en-US" sz="1600" b="1">
                <a:solidFill>
                  <a:srgbClr val="E89200"/>
                </a:solidFill>
                <a:latin typeface="Yu Gothic"/>
              </a:rPr>
              <a:t>●途中モデルを変更した理由</a:t>
            </a:r>
            <a:endParaRPr sz="1600" b="1" dirty="0">
              <a:solidFill>
                <a:srgbClr val="E89200"/>
              </a:solidFill>
              <a:latin typeface="Yu Gothic"/>
            </a:endParaRPr>
          </a:p>
          <a:p>
            <a:pPr>
              <a:spcAft>
                <a:spcPts val="200"/>
              </a:spcAft>
            </a:pPr>
            <a:r>
              <a:rPr sz="1400" dirty="0" err="1">
                <a:solidFill>
                  <a:srgbClr val="1A1A1A"/>
                </a:solidFill>
                <a:latin typeface="Yu Gothic"/>
              </a:rPr>
              <a:t>ライブラリ版は、印刷面の粗さやスパゲッティエラーが発生</a:t>
            </a:r>
            <a:r>
              <a:rPr sz="1400" dirty="0">
                <a:solidFill>
                  <a:srgbClr val="1A1A1A"/>
                </a:solidFill>
                <a:latin typeface="Yu Gothic"/>
              </a:rPr>
              <a:t>。</a:t>
            </a:r>
          </a:p>
          <a:p>
            <a:pPr>
              <a:spcAft>
                <a:spcPts val="200"/>
              </a:spcAft>
            </a:pPr>
            <a:r>
              <a:rPr sz="1400" dirty="0" err="1">
                <a:solidFill>
                  <a:srgbClr val="1A1A1A"/>
                </a:solidFill>
                <a:latin typeface="Yu Gothic"/>
              </a:rPr>
              <a:t>公式モデルへ変更したところ安定した。</a:t>
            </a:r>
            <a:endParaRPr sz="1400" dirty="0">
              <a:solidFill>
                <a:srgbClr val="1A1A1A"/>
              </a:solidFill>
              <a:latin typeface="Yu Gothic"/>
            </a:endParaRPr>
          </a:p>
        </p:txBody>
      </p:sp>
      <p:pic>
        <p:nvPicPr>
          <p:cNvPr id="99" name="図 98">
            <a:extLst>
              <a:ext uri="{FF2B5EF4-FFF2-40B4-BE49-F238E27FC236}">
                <a16:creationId xmlns:a16="http://schemas.microsoft.com/office/drawing/2014/main" id="{5CB8023A-962F-6BF5-AFC5-C36AEAF7158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9030335" y="3588324"/>
            <a:ext cx="2524552" cy="2524552"/>
          </a:xfrm>
          <a:prstGeom prst="rect">
            <a:avLst/>
          </a:prstGeom>
        </p:spPr>
      </p:pic>
      <p:pic>
        <p:nvPicPr>
          <p:cNvPr id="100" name="図 99">
            <a:extLst>
              <a:ext uri="{FF2B5EF4-FFF2-40B4-BE49-F238E27FC236}">
                <a16:creationId xmlns:a16="http://schemas.microsoft.com/office/drawing/2014/main" id="{3C5B7770-192E-F923-FCD7-58682B4E624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4543" t="38394" r="9363" b="12777"/>
          <a:stretch>
            <a:fillRect/>
          </a:stretch>
        </p:blipFill>
        <p:spPr>
          <a:xfrm>
            <a:off x="6294733" y="1813318"/>
            <a:ext cx="2651760" cy="1600200"/>
          </a:xfrm>
          <a:prstGeom prst="rect">
            <a:avLst/>
          </a:prstGeom>
        </p:spPr>
      </p:pic>
      <p:pic>
        <p:nvPicPr>
          <p:cNvPr id="101" name="図 100">
            <a:extLst>
              <a:ext uri="{FF2B5EF4-FFF2-40B4-BE49-F238E27FC236}">
                <a16:creationId xmlns:a16="http://schemas.microsoft.com/office/drawing/2014/main" id="{BEFD7DA0-E091-CABA-C01F-C0A4CCD02F7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7301" t="18692" r="20314" b="24426"/>
          <a:stretch>
            <a:fillRect/>
          </a:stretch>
        </p:blipFill>
        <p:spPr>
          <a:xfrm rot="5400000">
            <a:off x="9494637" y="1368427"/>
            <a:ext cx="1600200" cy="2489982"/>
          </a:xfrm>
          <a:prstGeom prst="rect">
            <a:avLst/>
          </a:prstGeom>
        </p:spPr>
      </p:pic>
      <p:pic>
        <p:nvPicPr>
          <p:cNvPr id="102" name="図 101">
            <a:extLst>
              <a:ext uri="{FF2B5EF4-FFF2-40B4-BE49-F238E27FC236}">
                <a16:creationId xmlns:a16="http://schemas.microsoft.com/office/drawing/2014/main" id="{55E398F4-3FDE-86EE-45F8-C9730F5515B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2512" y="2249424"/>
            <a:ext cx="1325880" cy="950976"/>
          </a:xfrm>
          <a:prstGeom prst="rect">
            <a:avLst/>
          </a:prstGeom>
        </p:spPr>
      </p:pic>
      <p:sp>
        <p:nvSpPr>
          <p:cNvPr id="103" name="TextBox 93">
            <a:extLst>
              <a:ext uri="{FF2B5EF4-FFF2-40B4-BE49-F238E27FC236}">
                <a16:creationId xmlns:a16="http://schemas.microsoft.com/office/drawing/2014/main" id="{8102116F-96B9-D7E5-2AC9-8F1751F83CFB}"/>
              </a:ext>
            </a:extLst>
          </p:cNvPr>
          <p:cNvSpPr txBox="1"/>
          <p:nvPr/>
        </p:nvSpPr>
        <p:spPr>
          <a:xfrm>
            <a:off x="7688230" y="3511986"/>
            <a:ext cx="1361516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ja-JP" sz="900" dirty="0">
                <a:latin typeface="Yu Gothic"/>
              </a:rPr>
              <a:t>Bambu</a:t>
            </a:r>
            <a:r>
              <a:rPr lang="ja-JP" altLang="en-US" sz="900">
                <a:latin typeface="Yu Gothic"/>
              </a:rPr>
              <a:t>ライブラリのモデル</a:t>
            </a:r>
            <a:endParaRPr sz="900" dirty="0">
              <a:latin typeface="Yu Gothic"/>
            </a:endParaRPr>
          </a:p>
        </p:txBody>
      </p:sp>
      <p:sp>
        <p:nvSpPr>
          <p:cNvPr id="104" name="TextBox 94">
            <a:extLst>
              <a:ext uri="{FF2B5EF4-FFF2-40B4-BE49-F238E27FC236}">
                <a16:creationId xmlns:a16="http://schemas.microsoft.com/office/drawing/2014/main" id="{1FD42D76-73A7-0F3B-D4FD-F1FF17745739}"/>
              </a:ext>
            </a:extLst>
          </p:cNvPr>
          <p:cNvSpPr txBox="1"/>
          <p:nvPr/>
        </p:nvSpPr>
        <p:spPr>
          <a:xfrm>
            <a:off x="10194171" y="3510183"/>
            <a:ext cx="1345557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ja-JP" altLang="en-US" sz="900">
                <a:latin typeface="Yu Gothic"/>
              </a:rPr>
              <a:t>公式ライブラリのモデル</a:t>
            </a:r>
            <a:endParaRPr lang="ja-JP" altLang="en-US" sz="900" dirty="0">
              <a:latin typeface="Yu Gothic"/>
            </a:endParaRPr>
          </a:p>
        </p:txBody>
      </p:sp>
      <p:sp>
        <p:nvSpPr>
          <p:cNvPr id="105" name="TextBox 95">
            <a:extLst>
              <a:ext uri="{FF2B5EF4-FFF2-40B4-BE49-F238E27FC236}">
                <a16:creationId xmlns:a16="http://schemas.microsoft.com/office/drawing/2014/main" id="{73060B22-3A38-6947-9BB6-2BAB33B34783}"/>
              </a:ext>
            </a:extLst>
          </p:cNvPr>
          <p:cNvSpPr txBox="1"/>
          <p:nvPr/>
        </p:nvSpPr>
        <p:spPr>
          <a:xfrm>
            <a:off x="7983415" y="5914694"/>
            <a:ext cx="891567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ja-JP" altLang="en-US" sz="900">
                <a:latin typeface="Yu Gothic"/>
              </a:rPr>
              <a:t>実際の印刷</a:t>
            </a:r>
            <a:endParaRPr sz="900" dirty="0">
              <a:latin typeface="Yu Gothic"/>
            </a:endParaRPr>
          </a:p>
        </p:txBody>
      </p:sp>
      <p:sp>
        <p:nvSpPr>
          <p:cNvPr id="106" name="TextBox 96">
            <a:extLst>
              <a:ext uri="{FF2B5EF4-FFF2-40B4-BE49-F238E27FC236}">
                <a16:creationId xmlns:a16="http://schemas.microsoft.com/office/drawing/2014/main" id="{CAB5BF82-9BDE-13D6-9C9E-5386547D34D2}"/>
              </a:ext>
            </a:extLst>
          </p:cNvPr>
          <p:cNvSpPr txBox="1"/>
          <p:nvPr/>
        </p:nvSpPr>
        <p:spPr>
          <a:xfrm>
            <a:off x="10373642" y="5937146"/>
            <a:ext cx="1166086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ja-JP" sz="900" dirty="0"/>
              <a:t>Bambu Lab </a:t>
            </a:r>
            <a:r>
              <a:rPr lang="ja-JP" altLang="ja-JP" sz="900"/>
              <a:t>P2S</a:t>
            </a:r>
            <a:endParaRPr sz="900" dirty="0">
              <a:latin typeface="Yu Gothic"/>
            </a:endParaRPr>
          </a:p>
        </p:txBody>
      </p:sp>
      <p:sp>
        <p:nvSpPr>
          <p:cNvPr id="107" name="Rectangle 6">
            <a:extLst>
              <a:ext uri="{FF2B5EF4-FFF2-40B4-BE49-F238E27FC236}">
                <a16:creationId xmlns:a16="http://schemas.microsoft.com/office/drawing/2014/main" id="{D5705711-72C4-3EDF-D145-BFB52E3715D3}"/>
              </a:ext>
            </a:extLst>
          </p:cNvPr>
          <p:cNvSpPr/>
          <p:nvPr/>
        </p:nvSpPr>
        <p:spPr>
          <a:xfrm>
            <a:off x="548639" y="1855397"/>
            <a:ext cx="1207008" cy="1088674"/>
          </a:xfrm>
          <a:prstGeom prst="rect">
            <a:avLst/>
          </a:prstGeom>
          <a:solidFill>
            <a:srgbClr val="F6F6F2"/>
          </a:solidFill>
          <a:ln>
            <a:solidFill>
              <a:srgbClr val="F6F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108" name="TextBox 7">
            <a:extLst>
              <a:ext uri="{FF2B5EF4-FFF2-40B4-BE49-F238E27FC236}">
                <a16:creationId xmlns:a16="http://schemas.microsoft.com/office/drawing/2014/main" id="{7A63010A-0CED-F03A-4F37-1B32AE69B565}"/>
              </a:ext>
            </a:extLst>
          </p:cNvPr>
          <p:cNvSpPr txBox="1"/>
          <p:nvPr/>
        </p:nvSpPr>
        <p:spPr>
          <a:xfrm>
            <a:off x="594359" y="2023845"/>
            <a:ext cx="1112341" cy="190821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 dirty="0">
                <a:solidFill>
                  <a:srgbClr val="FFA900"/>
                </a:solidFill>
                <a:latin typeface="Aptos"/>
              </a:rPr>
              <a:t>01</a:t>
            </a:r>
          </a:p>
        </p:txBody>
      </p:sp>
      <p:sp>
        <p:nvSpPr>
          <p:cNvPr id="109" name="TextBox 8">
            <a:extLst>
              <a:ext uri="{FF2B5EF4-FFF2-40B4-BE49-F238E27FC236}">
                <a16:creationId xmlns:a16="http://schemas.microsoft.com/office/drawing/2014/main" id="{5EE8471B-F091-22A1-C77F-1B0D57A98AD4}"/>
              </a:ext>
            </a:extLst>
          </p:cNvPr>
          <p:cNvSpPr txBox="1"/>
          <p:nvPr/>
        </p:nvSpPr>
        <p:spPr>
          <a:xfrm>
            <a:off x="594359" y="2278014"/>
            <a:ext cx="1112341" cy="19851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lang="ja-JP" altLang="en-US" sz="1050" b="1">
                <a:solidFill>
                  <a:srgbClr val="191919"/>
                </a:solidFill>
                <a:latin typeface="Aptos"/>
              </a:rPr>
              <a:t>モデルを入手</a:t>
            </a:r>
            <a:endParaRPr sz="1050" b="1" dirty="0">
              <a:solidFill>
                <a:srgbClr val="191919"/>
              </a:solidFill>
              <a:latin typeface="Aptos"/>
            </a:endParaRPr>
          </a:p>
        </p:txBody>
      </p:sp>
      <p:sp>
        <p:nvSpPr>
          <p:cNvPr id="110" name="TextBox 9">
            <a:extLst>
              <a:ext uri="{FF2B5EF4-FFF2-40B4-BE49-F238E27FC236}">
                <a16:creationId xmlns:a16="http://schemas.microsoft.com/office/drawing/2014/main" id="{2829DB81-2859-66AE-FC31-F2314A0D8BD9}"/>
              </a:ext>
            </a:extLst>
          </p:cNvPr>
          <p:cNvSpPr txBox="1"/>
          <p:nvPr/>
        </p:nvSpPr>
        <p:spPr>
          <a:xfrm>
            <a:off x="621791" y="2647938"/>
            <a:ext cx="1088674" cy="113877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500" b="0" dirty="0">
                <a:solidFill>
                  <a:srgbClr val="787873"/>
                </a:solidFill>
                <a:latin typeface="Aptos"/>
              </a:rPr>
              <a:t>STLを入手</a:t>
            </a:r>
          </a:p>
        </p:txBody>
      </p:sp>
      <p:sp>
        <p:nvSpPr>
          <p:cNvPr id="111" name="Rectangle 6">
            <a:extLst>
              <a:ext uri="{FF2B5EF4-FFF2-40B4-BE49-F238E27FC236}">
                <a16:creationId xmlns:a16="http://schemas.microsoft.com/office/drawing/2014/main" id="{8A1F2F7A-1ED3-0157-A054-9DAC63661540}"/>
              </a:ext>
            </a:extLst>
          </p:cNvPr>
          <p:cNvSpPr/>
          <p:nvPr/>
        </p:nvSpPr>
        <p:spPr>
          <a:xfrm>
            <a:off x="1983640" y="1855397"/>
            <a:ext cx="1207008" cy="1088674"/>
          </a:xfrm>
          <a:prstGeom prst="rect">
            <a:avLst/>
          </a:prstGeom>
          <a:solidFill>
            <a:srgbClr val="F6F6F2"/>
          </a:solidFill>
          <a:ln>
            <a:solidFill>
              <a:srgbClr val="F6F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112" name="TextBox 7">
            <a:extLst>
              <a:ext uri="{FF2B5EF4-FFF2-40B4-BE49-F238E27FC236}">
                <a16:creationId xmlns:a16="http://schemas.microsoft.com/office/drawing/2014/main" id="{6EC89D14-C815-9500-C0B4-51FBD63F6856}"/>
              </a:ext>
            </a:extLst>
          </p:cNvPr>
          <p:cNvSpPr txBox="1"/>
          <p:nvPr/>
        </p:nvSpPr>
        <p:spPr>
          <a:xfrm>
            <a:off x="2029360" y="2026098"/>
            <a:ext cx="1112341" cy="190821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 dirty="0">
                <a:solidFill>
                  <a:srgbClr val="FFA900"/>
                </a:solidFill>
                <a:latin typeface="Aptos"/>
              </a:rPr>
              <a:t>0</a:t>
            </a:r>
            <a:r>
              <a:rPr lang="en-US" altLang="ja-JP" sz="1000" b="1" dirty="0">
                <a:solidFill>
                  <a:srgbClr val="FFA900"/>
                </a:solidFill>
                <a:latin typeface="Aptos"/>
              </a:rPr>
              <a:t>2</a:t>
            </a:r>
            <a:endParaRPr sz="1000" b="1" dirty="0">
              <a:solidFill>
                <a:srgbClr val="FFA900"/>
              </a:solidFill>
              <a:latin typeface="Aptos"/>
            </a:endParaRPr>
          </a:p>
        </p:txBody>
      </p:sp>
      <p:sp>
        <p:nvSpPr>
          <p:cNvPr id="113" name="TextBox 8">
            <a:extLst>
              <a:ext uri="{FF2B5EF4-FFF2-40B4-BE49-F238E27FC236}">
                <a16:creationId xmlns:a16="http://schemas.microsoft.com/office/drawing/2014/main" id="{BA79E23F-F3B9-8C0B-6B53-96697146CAB3}"/>
              </a:ext>
            </a:extLst>
          </p:cNvPr>
          <p:cNvSpPr txBox="1"/>
          <p:nvPr/>
        </p:nvSpPr>
        <p:spPr>
          <a:xfrm>
            <a:off x="2029360" y="2286673"/>
            <a:ext cx="1112341" cy="19851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lang="ja-JP" altLang="en-US" sz="1050" b="1">
                <a:solidFill>
                  <a:srgbClr val="191919"/>
                </a:solidFill>
                <a:latin typeface="Aptos"/>
              </a:rPr>
              <a:t>配置・設定</a:t>
            </a:r>
            <a:endParaRPr sz="1050" b="1" dirty="0">
              <a:solidFill>
                <a:srgbClr val="191919"/>
              </a:solidFill>
              <a:latin typeface="Aptos"/>
            </a:endParaRPr>
          </a:p>
        </p:txBody>
      </p:sp>
      <p:sp>
        <p:nvSpPr>
          <p:cNvPr id="114" name="TextBox 9">
            <a:extLst>
              <a:ext uri="{FF2B5EF4-FFF2-40B4-BE49-F238E27FC236}">
                <a16:creationId xmlns:a16="http://schemas.microsoft.com/office/drawing/2014/main" id="{704B528D-E595-7064-5ADF-E21F2A52033C}"/>
              </a:ext>
            </a:extLst>
          </p:cNvPr>
          <p:cNvSpPr txBox="1"/>
          <p:nvPr/>
        </p:nvSpPr>
        <p:spPr>
          <a:xfrm>
            <a:off x="2056285" y="2647938"/>
            <a:ext cx="1088674" cy="113877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500" b="0" dirty="0">
                <a:solidFill>
                  <a:srgbClr val="787873"/>
                </a:solidFill>
                <a:latin typeface="Aptos"/>
              </a:rPr>
              <a:t>部品を並べる</a:t>
            </a:r>
          </a:p>
        </p:txBody>
      </p:sp>
      <p:grpSp>
        <p:nvGrpSpPr>
          <p:cNvPr id="115" name="グループ化 114">
            <a:extLst>
              <a:ext uri="{FF2B5EF4-FFF2-40B4-BE49-F238E27FC236}">
                <a16:creationId xmlns:a16="http://schemas.microsoft.com/office/drawing/2014/main" id="{531646E4-C256-C38D-DE0A-AA231722CDB8}"/>
              </a:ext>
            </a:extLst>
          </p:cNvPr>
          <p:cNvGrpSpPr/>
          <p:nvPr/>
        </p:nvGrpSpPr>
        <p:grpSpPr>
          <a:xfrm>
            <a:off x="3418641" y="1856795"/>
            <a:ext cx="1207008" cy="1088674"/>
            <a:chOff x="3612022" y="1574166"/>
            <a:chExt cx="1207008" cy="1088674"/>
          </a:xfrm>
        </p:grpSpPr>
        <p:sp>
          <p:nvSpPr>
            <p:cNvPr id="116" name="Rectangle 6">
              <a:extLst>
                <a:ext uri="{FF2B5EF4-FFF2-40B4-BE49-F238E27FC236}">
                  <a16:creationId xmlns:a16="http://schemas.microsoft.com/office/drawing/2014/main" id="{51DDD535-D95B-1342-3A47-AC90C8A3A277}"/>
                </a:ext>
              </a:extLst>
            </p:cNvPr>
            <p:cNvSpPr/>
            <p:nvPr/>
          </p:nvSpPr>
          <p:spPr>
            <a:xfrm>
              <a:off x="3612022" y="1574166"/>
              <a:ext cx="1207008" cy="1088674"/>
            </a:xfrm>
            <a:prstGeom prst="rect">
              <a:avLst/>
            </a:prstGeom>
            <a:solidFill>
              <a:srgbClr val="F6F6F2"/>
            </a:solidFill>
            <a:ln>
              <a:solidFill>
                <a:srgbClr val="F6F6F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100"/>
            </a:p>
          </p:txBody>
        </p:sp>
        <p:sp>
          <p:nvSpPr>
            <p:cNvPr id="117" name="TextBox 7">
              <a:extLst>
                <a:ext uri="{FF2B5EF4-FFF2-40B4-BE49-F238E27FC236}">
                  <a16:creationId xmlns:a16="http://schemas.microsoft.com/office/drawing/2014/main" id="{B0DB67C9-E3EE-68E5-7B7E-C6912819BFC4}"/>
                </a:ext>
              </a:extLst>
            </p:cNvPr>
            <p:cNvSpPr txBox="1"/>
            <p:nvPr/>
          </p:nvSpPr>
          <p:spPr>
            <a:xfrm>
              <a:off x="3657742" y="1742614"/>
              <a:ext cx="1112341" cy="190821"/>
            </a:xfrm>
            <a:prstGeom prst="rect">
              <a:avLst/>
            </a:prstGeom>
            <a:noFill/>
          </p:spPr>
          <p:txBody>
            <a:bodyPr wrap="square" lIns="45720" tIns="18288" rIns="45720" bIns="18288" anchor="ctr">
              <a:spAutoFit/>
            </a:bodyPr>
            <a:lstStyle/>
            <a:p>
              <a:pPr algn="ctr"/>
              <a:r>
                <a:rPr sz="1000" b="1" dirty="0">
                  <a:solidFill>
                    <a:srgbClr val="FFA900"/>
                  </a:solidFill>
                  <a:latin typeface="Aptos"/>
                </a:rPr>
                <a:t>0</a:t>
              </a:r>
              <a:r>
                <a:rPr lang="en-US" altLang="ja-JP" sz="1000" b="1" dirty="0">
                  <a:solidFill>
                    <a:srgbClr val="FFA900"/>
                  </a:solidFill>
                  <a:latin typeface="Aptos"/>
                </a:rPr>
                <a:t>3</a:t>
              </a:r>
              <a:endParaRPr sz="1000" b="1" dirty="0">
                <a:solidFill>
                  <a:srgbClr val="FFA900"/>
                </a:solidFill>
                <a:latin typeface="Aptos"/>
              </a:endParaRPr>
            </a:p>
          </p:txBody>
        </p:sp>
        <p:sp>
          <p:nvSpPr>
            <p:cNvPr id="118" name="TextBox 8">
              <a:extLst>
                <a:ext uri="{FF2B5EF4-FFF2-40B4-BE49-F238E27FC236}">
                  <a16:creationId xmlns:a16="http://schemas.microsoft.com/office/drawing/2014/main" id="{F3C141D8-7C49-86E4-A98B-72FDBEF8A970}"/>
                </a:ext>
              </a:extLst>
            </p:cNvPr>
            <p:cNvSpPr txBox="1"/>
            <p:nvPr/>
          </p:nvSpPr>
          <p:spPr>
            <a:xfrm>
              <a:off x="3657742" y="1996783"/>
              <a:ext cx="1112341" cy="198516"/>
            </a:xfrm>
            <a:prstGeom prst="rect">
              <a:avLst/>
            </a:prstGeom>
            <a:noFill/>
          </p:spPr>
          <p:txBody>
            <a:bodyPr wrap="square" lIns="45720" tIns="18288" rIns="45720" bIns="18288" anchor="ctr">
              <a:spAutoFit/>
            </a:bodyPr>
            <a:lstStyle/>
            <a:p>
              <a:pPr algn="ctr"/>
              <a:r>
                <a:rPr lang="ja-JP" altLang="en-US" sz="1050" b="1">
                  <a:solidFill>
                    <a:srgbClr val="191919"/>
                  </a:solidFill>
                  <a:latin typeface="Aptos"/>
                </a:rPr>
                <a:t>印刷</a:t>
              </a:r>
              <a:endParaRPr sz="1050" b="1" dirty="0">
                <a:solidFill>
                  <a:srgbClr val="191919"/>
                </a:solidFill>
                <a:latin typeface="Aptos"/>
              </a:endParaRPr>
            </a:p>
          </p:txBody>
        </p:sp>
        <p:sp>
          <p:nvSpPr>
            <p:cNvPr id="119" name="TextBox 9">
              <a:extLst>
                <a:ext uri="{FF2B5EF4-FFF2-40B4-BE49-F238E27FC236}">
                  <a16:creationId xmlns:a16="http://schemas.microsoft.com/office/drawing/2014/main" id="{C6008245-EFB3-BAA6-6202-A42352AD2566}"/>
                </a:ext>
              </a:extLst>
            </p:cNvPr>
            <p:cNvSpPr txBox="1"/>
            <p:nvPr/>
          </p:nvSpPr>
          <p:spPr>
            <a:xfrm>
              <a:off x="3685174" y="2366707"/>
              <a:ext cx="1088674" cy="113877"/>
            </a:xfrm>
            <a:prstGeom prst="rect">
              <a:avLst/>
            </a:prstGeom>
            <a:noFill/>
          </p:spPr>
          <p:txBody>
            <a:bodyPr wrap="square" lIns="45720" tIns="18288" rIns="45720" bIns="18288" anchor="ctr">
              <a:spAutoFit/>
            </a:bodyPr>
            <a:lstStyle/>
            <a:p>
              <a:pPr algn="ctr"/>
              <a:r>
                <a:rPr sz="500" b="0" dirty="0">
                  <a:solidFill>
                    <a:srgbClr val="787873"/>
                  </a:solidFill>
                  <a:latin typeface="Aptos"/>
                </a:rPr>
                <a:t>一色ずつ印刷</a:t>
              </a:r>
            </a:p>
          </p:txBody>
        </p:sp>
      </p:grpSp>
      <p:grpSp>
        <p:nvGrpSpPr>
          <p:cNvPr id="120" name="グループ化 119">
            <a:extLst>
              <a:ext uri="{FF2B5EF4-FFF2-40B4-BE49-F238E27FC236}">
                <a16:creationId xmlns:a16="http://schemas.microsoft.com/office/drawing/2014/main" id="{AB552D19-2789-409C-C890-1D393CE19FFA}"/>
              </a:ext>
            </a:extLst>
          </p:cNvPr>
          <p:cNvGrpSpPr/>
          <p:nvPr/>
        </p:nvGrpSpPr>
        <p:grpSpPr>
          <a:xfrm>
            <a:off x="4853643" y="1856795"/>
            <a:ext cx="1207008" cy="1088674"/>
            <a:chOff x="5154091" y="1574166"/>
            <a:chExt cx="1207008" cy="1088674"/>
          </a:xfrm>
        </p:grpSpPr>
        <p:sp>
          <p:nvSpPr>
            <p:cNvPr id="121" name="Rectangle 6">
              <a:extLst>
                <a:ext uri="{FF2B5EF4-FFF2-40B4-BE49-F238E27FC236}">
                  <a16:creationId xmlns:a16="http://schemas.microsoft.com/office/drawing/2014/main" id="{2BF04195-CDAB-17F5-AAA8-0767D2411A52}"/>
                </a:ext>
              </a:extLst>
            </p:cNvPr>
            <p:cNvSpPr/>
            <p:nvPr/>
          </p:nvSpPr>
          <p:spPr>
            <a:xfrm>
              <a:off x="5154091" y="1574166"/>
              <a:ext cx="1207008" cy="1088674"/>
            </a:xfrm>
            <a:prstGeom prst="rect">
              <a:avLst/>
            </a:prstGeom>
            <a:solidFill>
              <a:srgbClr val="F6F6F2"/>
            </a:solidFill>
            <a:ln>
              <a:solidFill>
                <a:srgbClr val="F6F6F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100" dirty="0"/>
            </a:p>
          </p:txBody>
        </p:sp>
        <p:sp>
          <p:nvSpPr>
            <p:cNvPr id="122" name="TextBox 7">
              <a:extLst>
                <a:ext uri="{FF2B5EF4-FFF2-40B4-BE49-F238E27FC236}">
                  <a16:creationId xmlns:a16="http://schemas.microsoft.com/office/drawing/2014/main" id="{E7BF1517-3758-7315-D1AB-F356462491E9}"/>
                </a:ext>
              </a:extLst>
            </p:cNvPr>
            <p:cNvSpPr txBox="1"/>
            <p:nvPr/>
          </p:nvSpPr>
          <p:spPr>
            <a:xfrm>
              <a:off x="5215409" y="1742614"/>
              <a:ext cx="1112341" cy="190821"/>
            </a:xfrm>
            <a:prstGeom prst="rect">
              <a:avLst/>
            </a:prstGeom>
            <a:noFill/>
          </p:spPr>
          <p:txBody>
            <a:bodyPr wrap="square" lIns="45720" tIns="18288" rIns="45720" bIns="18288" anchor="ctr">
              <a:spAutoFit/>
            </a:bodyPr>
            <a:lstStyle/>
            <a:p>
              <a:pPr algn="ctr"/>
              <a:r>
                <a:rPr sz="1000" b="1" dirty="0">
                  <a:solidFill>
                    <a:srgbClr val="FFA900"/>
                  </a:solidFill>
                  <a:latin typeface="Aptos"/>
                </a:rPr>
                <a:t>04</a:t>
              </a:r>
            </a:p>
          </p:txBody>
        </p:sp>
        <p:sp>
          <p:nvSpPr>
            <p:cNvPr id="123" name="TextBox 8">
              <a:extLst>
                <a:ext uri="{FF2B5EF4-FFF2-40B4-BE49-F238E27FC236}">
                  <a16:creationId xmlns:a16="http://schemas.microsoft.com/office/drawing/2014/main" id="{FAA9655E-8E3D-7A0A-5625-2CAF8033E6FD}"/>
                </a:ext>
              </a:extLst>
            </p:cNvPr>
            <p:cNvSpPr txBox="1"/>
            <p:nvPr/>
          </p:nvSpPr>
          <p:spPr>
            <a:xfrm>
              <a:off x="5199811" y="1996783"/>
              <a:ext cx="1112341" cy="198516"/>
            </a:xfrm>
            <a:prstGeom prst="rect">
              <a:avLst/>
            </a:prstGeom>
            <a:noFill/>
          </p:spPr>
          <p:txBody>
            <a:bodyPr wrap="square" lIns="45720" tIns="18288" rIns="45720" bIns="18288" anchor="ctr">
              <a:spAutoFit/>
            </a:bodyPr>
            <a:lstStyle/>
            <a:p>
              <a:pPr algn="ctr"/>
              <a:r>
                <a:rPr lang="ja-JP" altLang="en-US" sz="1050" b="1">
                  <a:solidFill>
                    <a:srgbClr val="191919"/>
                  </a:solidFill>
                  <a:latin typeface="Aptos"/>
                </a:rPr>
                <a:t>バリ取り</a:t>
              </a:r>
              <a:endParaRPr sz="1050" b="1" dirty="0">
                <a:solidFill>
                  <a:srgbClr val="191919"/>
                </a:solidFill>
                <a:latin typeface="Aptos"/>
              </a:endParaRPr>
            </a:p>
          </p:txBody>
        </p:sp>
        <p:sp>
          <p:nvSpPr>
            <p:cNvPr id="124" name="TextBox 9">
              <a:extLst>
                <a:ext uri="{FF2B5EF4-FFF2-40B4-BE49-F238E27FC236}">
                  <a16:creationId xmlns:a16="http://schemas.microsoft.com/office/drawing/2014/main" id="{9321A801-87FA-581D-ECC2-6D06E142F010}"/>
                </a:ext>
              </a:extLst>
            </p:cNvPr>
            <p:cNvSpPr txBox="1"/>
            <p:nvPr/>
          </p:nvSpPr>
          <p:spPr>
            <a:xfrm>
              <a:off x="5227243" y="2366707"/>
              <a:ext cx="1088674" cy="113877"/>
            </a:xfrm>
            <a:prstGeom prst="rect">
              <a:avLst/>
            </a:prstGeom>
            <a:noFill/>
          </p:spPr>
          <p:txBody>
            <a:bodyPr wrap="square" lIns="45720" tIns="18288" rIns="45720" bIns="18288" anchor="ctr">
              <a:spAutoFit/>
            </a:bodyPr>
            <a:lstStyle/>
            <a:p>
              <a:pPr algn="ctr"/>
              <a:r>
                <a:rPr sz="500" b="0" dirty="0">
                  <a:solidFill>
                    <a:srgbClr val="787873"/>
                  </a:solidFill>
                  <a:latin typeface="Aptos"/>
                </a:rPr>
                <a:t>組み立て前に処理</a:t>
              </a:r>
            </a:p>
          </p:txBody>
        </p:sp>
      </p:grpSp>
      <p:cxnSp>
        <p:nvCxnSpPr>
          <p:cNvPr id="125" name="Connector 10">
            <a:extLst>
              <a:ext uri="{FF2B5EF4-FFF2-40B4-BE49-F238E27FC236}">
                <a16:creationId xmlns:a16="http://schemas.microsoft.com/office/drawing/2014/main" id="{F6E34F46-5E74-02A6-078F-B1D8AE065C48}"/>
              </a:ext>
            </a:extLst>
          </p:cNvPr>
          <p:cNvCxnSpPr>
            <a:cxnSpLocks/>
            <a:stCxn id="107" idx="3"/>
            <a:endCxn id="111" idx="1"/>
          </p:cNvCxnSpPr>
          <p:nvPr/>
        </p:nvCxnSpPr>
        <p:spPr>
          <a:xfrm>
            <a:off x="1755647" y="2399734"/>
            <a:ext cx="227993" cy="0"/>
          </a:xfrm>
          <a:prstGeom prst="line">
            <a:avLst/>
          </a:prstGeom>
          <a:ln w="25400">
            <a:solidFill>
              <a:srgbClr val="FFA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0">
            <a:extLst>
              <a:ext uri="{FF2B5EF4-FFF2-40B4-BE49-F238E27FC236}">
                <a16:creationId xmlns:a16="http://schemas.microsoft.com/office/drawing/2014/main" id="{BD71E381-356C-AA4E-B25D-85F31DB31D31}"/>
              </a:ext>
            </a:extLst>
          </p:cNvPr>
          <p:cNvCxnSpPr>
            <a:cxnSpLocks/>
            <a:stCxn id="111" idx="3"/>
            <a:endCxn id="116" idx="1"/>
          </p:cNvCxnSpPr>
          <p:nvPr/>
        </p:nvCxnSpPr>
        <p:spPr>
          <a:xfrm>
            <a:off x="3190648" y="2399734"/>
            <a:ext cx="227993" cy="1398"/>
          </a:xfrm>
          <a:prstGeom prst="line">
            <a:avLst/>
          </a:prstGeom>
          <a:ln w="25400">
            <a:solidFill>
              <a:srgbClr val="FFA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0">
            <a:extLst>
              <a:ext uri="{FF2B5EF4-FFF2-40B4-BE49-F238E27FC236}">
                <a16:creationId xmlns:a16="http://schemas.microsoft.com/office/drawing/2014/main" id="{EDB81F0C-2D37-5518-A43D-4F3E50C298BB}"/>
              </a:ext>
            </a:extLst>
          </p:cNvPr>
          <p:cNvCxnSpPr>
            <a:cxnSpLocks/>
            <a:stCxn id="116" idx="3"/>
            <a:endCxn id="121" idx="1"/>
          </p:cNvCxnSpPr>
          <p:nvPr/>
        </p:nvCxnSpPr>
        <p:spPr>
          <a:xfrm>
            <a:off x="4625649" y="2401132"/>
            <a:ext cx="227994" cy="0"/>
          </a:xfrm>
          <a:prstGeom prst="line">
            <a:avLst/>
          </a:prstGeom>
          <a:ln w="25400">
            <a:solidFill>
              <a:srgbClr val="FFA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8" name="図 127">
            <a:extLst>
              <a:ext uri="{FF2B5EF4-FFF2-40B4-BE49-F238E27FC236}">
                <a16:creationId xmlns:a16="http://schemas.microsoft.com/office/drawing/2014/main" id="{EFCCE8AF-6165-322D-BD43-895014B7213E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5714" t="8283" r="15384" b="3905"/>
          <a:stretch>
            <a:fillRect/>
          </a:stretch>
        </p:blipFill>
        <p:spPr>
          <a:xfrm>
            <a:off x="6401740" y="4084491"/>
            <a:ext cx="2432304" cy="174107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paper_tex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046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47472" y="438912"/>
            <a:ext cx="11484864" cy="58978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577398"/>
            <a:ext cx="4572000" cy="19851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 dirty="0">
                <a:solidFill>
                  <a:srgbClr val="FFA900"/>
                </a:solidFill>
                <a:latin typeface="Aptos"/>
              </a:rPr>
              <a:t>03 / ASSEMBLY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822960"/>
            <a:ext cx="1078992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500" b="1">
                <a:solidFill>
                  <a:srgbClr val="191919"/>
                </a:solidFill>
                <a:latin typeface="Aptos"/>
              </a:rPr>
              <a:t>組み立ての手順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70702"/>
            <a:ext cx="10424160" cy="28315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600" b="0" dirty="0" err="1">
                <a:solidFill>
                  <a:srgbClr val="787873"/>
                </a:solidFill>
                <a:latin typeface="Aptos"/>
              </a:rPr>
              <a:t>モーターの準備から組み上げまで</a:t>
            </a:r>
            <a:endParaRPr sz="1600" b="0" dirty="0">
              <a:solidFill>
                <a:srgbClr val="787873"/>
              </a:solidFill>
              <a:latin typeface="Apto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85800" y="2066888"/>
            <a:ext cx="2331720" cy="2103120"/>
          </a:xfrm>
          <a:prstGeom prst="rect">
            <a:avLst/>
          </a:prstGeom>
          <a:solidFill>
            <a:srgbClr val="F6F6F2"/>
          </a:solidFill>
          <a:ln>
            <a:solidFill>
              <a:srgbClr val="F6F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219145"/>
            <a:ext cx="2148840" cy="34471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2000" b="1" dirty="0">
                <a:solidFill>
                  <a:srgbClr val="FFA900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06968"/>
            <a:ext cx="2148840" cy="4114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600" b="1">
                <a:solidFill>
                  <a:srgbClr val="191919"/>
                </a:solidFill>
                <a:latin typeface="Aptos"/>
              </a:rPr>
              <a:t>モーターの準備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3341739"/>
            <a:ext cx="2103120" cy="4678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400" b="0" dirty="0">
                <a:solidFill>
                  <a:srgbClr val="787873"/>
                </a:solidFill>
                <a:latin typeface="Aptos"/>
              </a:rPr>
              <a:t>F1〜F6・L1〜L6に</a:t>
            </a:r>
            <a:endParaRPr lang="en-US" sz="1400" b="0" dirty="0">
              <a:solidFill>
                <a:srgbClr val="787873"/>
              </a:solidFill>
              <a:latin typeface="Aptos"/>
            </a:endParaRPr>
          </a:p>
          <a:p>
            <a:pPr algn="ctr"/>
            <a:r>
              <a:rPr sz="1400" b="0" dirty="0" err="1">
                <a:solidFill>
                  <a:srgbClr val="787873"/>
                </a:solidFill>
                <a:latin typeface="Aptos"/>
              </a:rPr>
              <a:t>ラベル付け</a:t>
            </a:r>
            <a:endParaRPr sz="1400" b="0" dirty="0">
              <a:solidFill>
                <a:srgbClr val="787873"/>
              </a:solidFill>
              <a:latin typeface="Aptos"/>
            </a:endParaRPr>
          </a:p>
        </p:txBody>
      </p:sp>
      <p:cxnSp>
        <p:nvCxnSpPr>
          <p:cNvPr id="11" name="Connector 10"/>
          <p:cNvCxnSpPr>
            <a:cxnSpLocks/>
            <a:stCxn id="7" idx="3"/>
            <a:endCxn id="12" idx="1"/>
          </p:cNvCxnSpPr>
          <p:nvPr/>
        </p:nvCxnSpPr>
        <p:spPr>
          <a:xfrm>
            <a:off x="3017520" y="3118448"/>
            <a:ext cx="521208" cy="0"/>
          </a:xfrm>
          <a:prstGeom prst="line">
            <a:avLst/>
          </a:prstGeom>
          <a:ln w="25400">
            <a:solidFill>
              <a:srgbClr val="FFA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3538728" y="2066888"/>
            <a:ext cx="2331720" cy="2103120"/>
          </a:xfrm>
          <a:prstGeom prst="rect">
            <a:avLst/>
          </a:prstGeom>
          <a:solidFill>
            <a:srgbClr val="F6F6F2"/>
          </a:solidFill>
          <a:ln>
            <a:solidFill>
              <a:srgbClr val="F6F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30168" y="2219145"/>
            <a:ext cx="2148840" cy="34471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2000" b="1">
                <a:solidFill>
                  <a:srgbClr val="FFA900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0168" y="2706968"/>
            <a:ext cx="2148840" cy="4114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600" b="1">
                <a:solidFill>
                  <a:srgbClr val="191919"/>
                </a:solidFill>
                <a:latin typeface="Aptos"/>
              </a:rPr>
              <a:t>ID設定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48456" y="3341739"/>
            <a:ext cx="2103120" cy="4678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400" b="0" dirty="0">
                <a:solidFill>
                  <a:srgbClr val="787873"/>
                </a:solidFill>
                <a:latin typeface="Aptos"/>
              </a:rPr>
              <a:t>1台ずつ接続して</a:t>
            </a:r>
            <a:endParaRPr lang="en-US" sz="1400" b="0" dirty="0">
              <a:solidFill>
                <a:srgbClr val="787873"/>
              </a:solidFill>
              <a:latin typeface="Aptos"/>
            </a:endParaRPr>
          </a:p>
          <a:p>
            <a:pPr algn="ctr"/>
            <a:r>
              <a:rPr sz="1400" b="0" dirty="0" err="1">
                <a:solidFill>
                  <a:srgbClr val="787873"/>
                </a:solidFill>
                <a:latin typeface="Aptos"/>
              </a:rPr>
              <a:t>IDを設定</a:t>
            </a:r>
            <a:endParaRPr sz="1400" b="0" dirty="0">
              <a:solidFill>
                <a:srgbClr val="787873"/>
              </a:solidFill>
              <a:latin typeface="Aptos"/>
            </a:endParaRPr>
          </a:p>
        </p:txBody>
      </p:sp>
      <p:cxnSp>
        <p:nvCxnSpPr>
          <p:cNvPr id="16" name="Connector 15"/>
          <p:cNvCxnSpPr>
            <a:cxnSpLocks/>
            <a:stCxn id="12" idx="3"/>
          </p:cNvCxnSpPr>
          <p:nvPr/>
        </p:nvCxnSpPr>
        <p:spPr>
          <a:xfrm>
            <a:off x="5870448" y="3118448"/>
            <a:ext cx="521208" cy="0"/>
          </a:xfrm>
          <a:prstGeom prst="line">
            <a:avLst/>
          </a:prstGeom>
          <a:ln w="25400">
            <a:solidFill>
              <a:srgbClr val="FFA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6391656" y="2066888"/>
            <a:ext cx="2331720" cy="2103120"/>
          </a:xfrm>
          <a:prstGeom prst="rect">
            <a:avLst/>
          </a:prstGeom>
          <a:solidFill>
            <a:srgbClr val="F6F6F2"/>
          </a:solidFill>
          <a:ln>
            <a:solidFill>
              <a:srgbClr val="F6F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83096" y="2219145"/>
            <a:ext cx="2148840" cy="34471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2000" b="1">
                <a:solidFill>
                  <a:srgbClr val="FFA900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3096" y="2706968"/>
            <a:ext cx="2148840" cy="4114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600" b="1">
                <a:solidFill>
                  <a:srgbClr val="191919"/>
                </a:solidFill>
                <a:latin typeface="Aptos"/>
              </a:rPr>
              <a:t>電源・USB接続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01384" y="3449460"/>
            <a:ext cx="2103120" cy="252377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400" b="0">
                <a:solidFill>
                  <a:srgbClr val="787873"/>
                </a:solidFill>
                <a:latin typeface="Aptos"/>
              </a:rPr>
              <a:t>電源とUSBの両方が必要</a:t>
            </a:r>
          </a:p>
        </p:txBody>
      </p:sp>
      <p:cxnSp>
        <p:nvCxnSpPr>
          <p:cNvPr id="21" name="Connector 20"/>
          <p:cNvCxnSpPr>
            <a:cxnSpLocks/>
            <a:stCxn id="17" idx="3"/>
            <a:endCxn id="22" idx="1"/>
          </p:cNvCxnSpPr>
          <p:nvPr/>
        </p:nvCxnSpPr>
        <p:spPr>
          <a:xfrm>
            <a:off x="8723376" y="3118448"/>
            <a:ext cx="521208" cy="0"/>
          </a:xfrm>
          <a:prstGeom prst="line">
            <a:avLst/>
          </a:prstGeom>
          <a:ln w="25400">
            <a:solidFill>
              <a:srgbClr val="FFA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9244584" y="2066888"/>
            <a:ext cx="2331720" cy="2103120"/>
          </a:xfrm>
          <a:prstGeom prst="rect">
            <a:avLst/>
          </a:prstGeom>
          <a:solidFill>
            <a:srgbClr val="F6F6F2"/>
          </a:solidFill>
          <a:ln>
            <a:solidFill>
              <a:srgbClr val="F6F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336024" y="2219145"/>
            <a:ext cx="2148840" cy="34471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2000" b="1">
                <a:solidFill>
                  <a:srgbClr val="FFA900"/>
                </a:solidFill>
                <a:latin typeface="Apto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36024" y="2706968"/>
            <a:ext cx="2148840" cy="4114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600" b="1">
                <a:solidFill>
                  <a:srgbClr val="191919"/>
                </a:solidFill>
                <a:latin typeface="Aptos"/>
              </a:rPr>
              <a:t>アームの組み立て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54311" y="3341739"/>
            <a:ext cx="2103120" cy="4678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400" b="0" dirty="0" err="1">
                <a:solidFill>
                  <a:srgbClr val="787873"/>
                </a:solidFill>
                <a:latin typeface="Aptos"/>
              </a:rPr>
              <a:t>ケーブルを先に</a:t>
            </a:r>
            <a:endParaRPr lang="en-US" sz="1400" b="0" dirty="0">
              <a:solidFill>
                <a:srgbClr val="787873"/>
              </a:solidFill>
              <a:latin typeface="Aptos"/>
            </a:endParaRPr>
          </a:p>
          <a:p>
            <a:pPr algn="ctr"/>
            <a:r>
              <a:rPr sz="1400" b="0" dirty="0" err="1">
                <a:solidFill>
                  <a:srgbClr val="787873"/>
                </a:solidFill>
                <a:latin typeface="Aptos"/>
              </a:rPr>
              <a:t>挿してから組む</a:t>
            </a:r>
            <a:endParaRPr sz="1400" b="0" dirty="0">
              <a:solidFill>
                <a:srgbClr val="787873"/>
              </a:solidFill>
              <a:latin typeface="Apto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852600" y="5552165"/>
            <a:ext cx="7772046" cy="590931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r>
              <a:rPr b="0" dirty="0" err="1">
                <a:latin typeface="Aptos"/>
              </a:rPr>
              <a:t>リーダーアームは自重を支えつつ軽く動かせるよう</a:t>
            </a:r>
            <a:r>
              <a:rPr b="0" dirty="0">
                <a:latin typeface="Aptos"/>
              </a:rPr>
              <a:t>、</a:t>
            </a:r>
            <a:endParaRPr lang="en-US" b="0" dirty="0">
              <a:latin typeface="Aptos"/>
            </a:endParaRPr>
          </a:p>
          <a:p>
            <a:r>
              <a:rPr b="0" dirty="0">
                <a:latin typeface="Aptos"/>
              </a:rPr>
              <a:t>ギア比の異なる3種類のモーター（1/345・1/191・1/147）を使い分ける</a:t>
            </a:r>
          </a:p>
        </p:txBody>
      </p:sp>
      <p:sp>
        <p:nvSpPr>
          <p:cNvPr id="30" name="スライド番号プレースホルダー 29">
            <a:extLst>
              <a:ext uri="{FF2B5EF4-FFF2-40B4-BE49-F238E27FC236}">
                <a16:creationId xmlns:a16="http://schemas.microsoft.com/office/drawing/2014/main" id="{54982393-90BF-98B3-FEF3-2C117B8B8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 dirty="0"/>
          </a:p>
        </p:txBody>
      </p:sp>
      <p:pic>
        <p:nvPicPr>
          <p:cNvPr id="27" name="図 26">
            <a:extLst>
              <a:ext uri="{FF2B5EF4-FFF2-40B4-BE49-F238E27FC236}">
                <a16:creationId xmlns:a16="http://schemas.microsoft.com/office/drawing/2014/main" id="{E80932CF-BE53-8966-3104-F112E748535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892" t="24976" r="44631" b="37402"/>
          <a:stretch>
            <a:fillRect/>
          </a:stretch>
        </p:blipFill>
        <p:spPr>
          <a:xfrm>
            <a:off x="777240" y="3731276"/>
            <a:ext cx="2081173" cy="1464164"/>
          </a:xfrm>
          <a:prstGeom prst="rect">
            <a:avLst/>
          </a:prstGeom>
        </p:spPr>
      </p:pic>
      <p:pic>
        <p:nvPicPr>
          <p:cNvPr id="28" name="図 27">
            <a:extLst>
              <a:ext uri="{FF2B5EF4-FFF2-40B4-BE49-F238E27FC236}">
                <a16:creationId xmlns:a16="http://schemas.microsoft.com/office/drawing/2014/main" id="{57DE09B6-B186-CBF5-4B8F-79C4644BEC5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350" t="27698" r="82488" b="57855"/>
          <a:stretch>
            <a:fillRect/>
          </a:stretch>
        </p:blipFill>
        <p:spPr>
          <a:xfrm>
            <a:off x="5259154" y="4114689"/>
            <a:ext cx="773143" cy="736702"/>
          </a:xfrm>
          <a:prstGeom prst="rect">
            <a:avLst/>
          </a:prstGeom>
        </p:spPr>
      </p:pic>
      <p:pic>
        <p:nvPicPr>
          <p:cNvPr id="31" name="グラフィックス 30" descr="ノート PC 単色塗りつぶし">
            <a:extLst>
              <a:ext uri="{FF2B5EF4-FFF2-40B4-BE49-F238E27FC236}">
                <a16:creationId xmlns:a16="http://schemas.microsoft.com/office/drawing/2014/main" id="{9C58D6D4-1CAD-181C-6F3D-85139A4F940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88181" y="4170008"/>
            <a:ext cx="758805" cy="758805"/>
          </a:xfrm>
          <a:prstGeom prst="rect">
            <a:avLst/>
          </a:prstGeom>
        </p:spPr>
      </p:pic>
      <p:pic>
        <p:nvPicPr>
          <p:cNvPr id="33" name="図 32">
            <a:extLst>
              <a:ext uri="{FF2B5EF4-FFF2-40B4-BE49-F238E27FC236}">
                <a16:creationId xmlns:a16="http://schemas.microsoft.com/office/drawing/2014/main" id="{3851C3CD-37AF-B0AC-9C77-F38FEC41E0D3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 rot="19800000">
            <a:off x="4281262" y="4234844"/>
            <a:ext cx="837380" cy="627090"/>
          </a:xfrm>
          <a:prstGeom prst="rect">
            <a:avLst/>
          </a:prstGeom>
        </p:spPr>
      </p:pic>
      <p:cxnSp>
        <p:nvCxnSpPr>
          <p:cNvPr id="40" name="Connector 10">
            <a:extLst>
              <a:ext uri="{FF2B5EF4-FFF2-40B4-BE49-F238E27FC236}">
                <a16:creationId xmlns:a16="http://schemas.microsoft.com/office/drawing/2014/main" id="{2E557B96-7945-C2C3-4358-EF2E3E640E4D}"/>
              </a:ext>
            </a:extLst>
          </p:cNvPr>
          <p:cNvCxnSpPr>
            <a:cxnSpLocks/>
          </p:cNvCxnSpPr>
          <p:nvPr/>
        </p:nvCxnSpPr>
        <p:spPr>
          <a:xfrm>
            <a:off x="4073512" y="4548389"/>
            <a:ext cx="214142" cy="0"/>
          </a:xfrm>
          <a:prstGeom prst="line">
            <a:avLst/>
          </a:prstGeom>
          <a:ln w="25400">
            <a:solidFill>
              <a:srgbClr val="FFA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10">
            <a:extLst>
              <a:ext uri="{FF2B5EF4-FFF2-40B4-BE49-F238E27FC236}">
                <a16:creationId xmlns:a16="http://schemas.microsoft.com/office/drawing/2014/main" id="{8E3B86F6-D1A1-A5C5-3CB6-3155FE76A4CC}"/>
              </a:ext>
            </a:extLst>
          </p:cNvPr>
          <p:cNvCxnSpPr>
            <a:cxnSpLocks/>
          </p:cNvCxnSpPr>
          <p:nvPr/>
        </p:nvCxnSpPr>
        <p:spPr>
          <a:xfrm>
            <a:off x="5045012" y="4548389"/>
            <a:ext cx="214142" cy="0"/>
          </a:xfrm>
          <a:prstGeom prst="line">
            <a:avLst/>
          </a:prstGeom>
          <a:ln w="25400">
            <a:solidFill>
              <a:srgbClr val="FFA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7">
            <a:extLst>
              <a:ext uri="{FF2B5EF4-FFF2-40B4-BE49-F238E27FC236}">
                <a16:creationId xmlns:a16="http://schemas.microsoft.com/office/drawing/2014/main" id="{B11679EE-58E2-8DBC-5C7C-CFA439C9627E}"/>
              </a:ext>
            </a:extLst>
          </p:cNvPr>
          <p:cNvSpPr txBox="1"/>
          <p:nvPr/>
        </p:nvSpPr>
        <p:spPr>
          <a:xfrm>
            <a:off x="685800" y="5219301"/>
            <a:ext cx="1047192" cy="221599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lang="en-US" altLang="ja-JP" sz="1200" b="1" dirty="0">
                <a:solidFill>
                  <a:srgbClr val="FFA900"/>
                </a:solidFill>
                <a:latin typeface="Aptos"/>
              </a:rPr>
              <a:t>Follower</a:t>
            </a:r>
            <a:endParaRPr sz="1200" b="1" dirty="0">
              <a:solidFill>
                <a:srgbClr val="FFA900"/>
              </a:solidFill>
              <a:latin typeface="Aptos"/>
            </a:endParaRPr>
          </a:p>
        </p:txBody>
      </p:sp>
      <p:sp>
        <p:nvSpPr>
          <p:cNvPr id="45" name="TextBox 7">
            <a:extLst>
              <a:ext uri="{FF2B5EF4-FFF2-40B4-BE49-F238E27FC236}">
                <a16:creationId xmlns:a16="http://schemas.microsoft.com/office/drawing/2014/main" id="{386583B3-29ED-BA86-B8A7-A219089DBE80}"/>
              </a:ext>
            </a:extLst>
          </p:cNvPr>
          <p:cNvSpPr txBox="1"/>
          <p:nvPr/>
        </p:nvSpPr>
        <p:spPr>
          <a:xfrm>
            <a:off x="1873105" y="5224016"/>
            <a:ext cx="1047192" cy="221599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lang="en-US" altLang="ja-JP" sz="1200" b="1" dirty="0">
                <a:solidFill>
                  <a:srgbClr val="FFA900"/>
                </a:solidFill>
                <a:latin typeface="Aptos"/>
              </a:rPr>
              <a:t>Leader</a:t>
            </a:r>
            <a:endParaRPr sz="1200" b="1" dirty="0">
              <a:solidFill>
                <a:srgbClr val="FFA900"/>
              </a:solidFill>
              <a:latin typeface="Aptos"/>
            </a:endParaRPr>
          </a:p>
        </p:txBody>
      </p:sp>
      <p:pic>
        <p:nvPicPr>
          <p:cNvPr id="46" name="図 45">
            <a:extLst>
              <a:ext uri="{FF2B5EF4-FFF2-40B4-BE49-F238E27FC236}">
                <a16:creationId xmlns:a16="http://schemas.microsoft.com/office/drawing/2014/main" id="{FFD63CD9-782A-4AB1-87B3-95DAA80EB56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350" t="27698" r="82488" b="57855"/>
          <a:stretch>
            <a:fillRect/>
          </a:stretch>
        </p:blipFill>
        <p:spPr>
          <a:xfrm>
            <a:off x="8143251" y="4146715"/>
            <a:ext cx="773143" cy="736702"/>
          </a:xfrm>
          <a:prstGeom prst="rect">
            <a:avLst/>
          </a:prstGeom>
        </p:spPr>
      </p:pic>
      <p:pic>
        <p:nvPicPr>
          <p:cNvPr id="47" name="グラフィックス 46" descr="ノート PC 単色塗りつぶし">
            <a:extLst>
              <a:ext uri="{FF2B5EF4-FFF2-40B4-BE49-F238E27FC236}">
                <a16:creationId xmlns:a16="http://schemas.microsoft.com/office/drawing/2014/main" id="{D9E87FAC-50DF-029D-F399-F27DEFBD8F6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72278" y="4202034"/>
            <a:ext cx="758805" cy="758805"/>
          </a:xfrm>
          <a:prstGeom prst="rect">
            <a:avLst/>
          </a:prstGeom>
        </p:spPr>
      </p:pic>
      <p:pic>
        <p:nvPicPr>
          <p:cNvPr id="48" name="図 47">
            <a:extLst>
              <a:ext uri="{FF2B5EF4-FFF2-40B4-BE49-F238E27FC236}">
                <a16:creationId xmlns:a16="http://schemas.microsoft.com/office/drawing/2014/main" id="{DD2A1DC5-CA56-BBF5-5728-CE64508C922C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 rot="19800000">
            <a:off x="7165359" y="4266870"/>
            <a:ext cx="837380" cy="627090"/>
          </a:xfrm>
          <a:prstGeom prst="rect">
            <a:avLst/>
          </a:prstGeom>
        </p:spPr>
      </p:pic>
      <p:cxnSp>
        <p:nvCxnSpPr>
          <p:cNvPr id="49" name="Connector 10">
            <a:extLst>
              <a:ext uri="{FF2B5EF4-FFF2-40B4-BE49-F238E27FC236}">
                <a16:creationId xmlns:a16="http://schemas.microsoft.com/office/drawing/2014/main" id="{CCF9D022-ADFA-6DB0-994F-00F325932881}"/>
              </a:ext>
            </a:extLst>
          </p:cNvPr>
          <p:cNvCxnSpPr>
            <a:cxnSpLocks/>
          </p:cNvCxnSpPr>
          <p:nvPr/>
        </p:nvCxnSpPr>
        <p:spPr>
          <a:xfrm>
            <a:off x="6957609" y="4580415"/>
            <a:ext cx="214142" cy="0"/>
          </a:xfrm>
          <a:prstGeom prst="line">
            <a:avLst/>
          </a:prstGeom>
          <a:ln w="25400">
            <a:solidFill>
              <a:srgbClr val="FFA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10">
            <a:extLst>
              <a:ext uri="{FF2B5EF4-FFF2-40B4-BE49-F238E27FC236}">
                <a16:creationId xmlns:a16="http://schemas.microsoft.com/office/drawing/2014/main" id="{5E599A9A-8BBE-970B-F15B-A5A1339A9596}"/>
              </a:ext>
            </a:extLst>
          </p:cNvPr>
          <p:cNvCxnSpPr>
            <a:cxnSpLocks/>
          </p:cNvCxnSpPr>
          <p:nvPr/>
        </p:nvCxnSpPr>
        <p:spPr>
          <a:xfrm>
            <a:off x="7929109" y="4580415"/>
            <a:ext cx="214142" cy="0"/>
          </a:xfrm>
          <a:prstGeom prst="line">
            <a:avLst/>
          </a:prstGeom>
          <a:ln w="25400">
            <a:solidFill>
              <a:srgbClr val="FFA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2" name="グラフィックス 51" descr="電気自動車 単色塗りつぶし">
            <a:extLst>
              <a:ext uri="{FF2B5EF4-FFF2-40B4-BE49-F238E27FC236}">
                <a16:creationId xmlns:a16="http://schemas.microsoft.com/office/drawing/2014/main" id="{BF772555-AA81-425E-FA99-3569B6F71CF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r="84667"/>
          <a:stretch>
            <a:fillRect/>
          </a:stretch>
        </p:blipFill>
        <p:spPr>
          <a:xfrm rot="16200000">
            <a:off x="7429489" y="4213770"/>
            <a:ext cx="246909" cy="1610275"/>
          </a:xfrm>
          <a:prstGeom prst="rect">
            <a:avLst/>
          </a:prstGeom>
        </p:spPr>
      </p:pic>
      <p:pic>
        <p:nvPicPr>
          <p:cNvPr id="54" name="図 53">
            <a:extLst>
              <a:ext uri="{FF2B5EF4-FFF2-40B4-BE49-F238E27FC236}">
                <a16:creationId xmlns:a16="http://schemas.microsoft.com/office/drawing/2014/main" id="{E8CD2829-499B-72A5-43C7-CC83119DAA3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91242" y="3994862"/>
            <a:ext cx="1853338" cy="139000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D5571B-8648-6988-0A08-9549FE6FBF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paper_texture.png">
            <a:extLst>
              <a:ext uri="{FF2B5EF4-FFF2-40B4-BE49-F238E27FC236}">
                <a16:creationId xmlns:a16="http://schemas.microsoft.com/office/drawing/2014/main" id="{91559450-5DF7-1B20-B803-DC3F30F853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FC15E1F-80FF-77A3-62C6-C27A7FF29C6B}"/>
              </a:ext>
            </a:extLst>
          </p:cNvPr>
          <p:cNvSpPr/>
          <p:nvPr/>
        </p:nvSpPr>
        <p:spPr>
          <a:xfrm>
            <a:off x="347472" y="438912"/>
            <a:ext cx="11484864" cy="58978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FEC914B-00A2-D015-F94B-B848B00B741E}"/>
              </a:ext>
            </a:extLst>
          </p:cNvPr>
          <p:cNvSpPr/>
          <p:nvPr/>
        </p:nvSpPr>
        <p:spPr>
          <a:xfrm>
            <a:off x="347472" y="438912"/>
            <a:ext cx="11484864" cy="5897880"/>
          </a:xfrm>
          <a:prstGeom prst="rect">
            <a:avLst/>
          </a:prstGeom>
          <a:solidFill>
            <a:srgbClr val="FFA900"/>
          </a:solidFill>
          <a:ln>
            <a:solidFill>
              <a:srgbClr val="FFA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788BD6B-4520-9014-0BB4-2372E3B30C35}"/>
              </a:ext>
            </a:extLst>
          </p:cNvPr>
          <p:cNvSpPr/>
          <p:nvPr/>
        </p:nvSpPr>
        <p:spPr>
          <a:xfrm>
            <a:off x="621792" y="713232"/>
            <a:ext cx="10936224" cy="53492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D3476A0-5DA5-30BA-040A-D7B2F445DA2B}"/>
              </a:ext>
            </a:extLst>
          </p:cNvPr>
          <p:cNvSpPr txBox="1"/>
          <p:nvPr/>
        </p:nvSpPr>
        <p:spPr>
          <a:xfrm>
            <a:off x="6977942" y="909850"/>
            <a:ext cx="265176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2000" b="1" dirty="0" err="1">
                <a:solidFill>
                  <a:srgbClr val="191919"/>
                </a:solidFill>
                <a:latin typeface="Aptos"/>
              </a:rPr>
              <a:t>取付順序</a:t>
            </a:r>
            <a:endParaRPr sz="2000" b="1" dirty="0">
              <a:solidFill>
                <a:srgbClr val="191919"/>
              </a:solidFill>
              <a:latin typeface="Apto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972D780-0096-3BCD-465E-F27584BC594C}"/>
              </a:ext>
            </a:extLst>
          </p:cNvPr>
          <p:cNvSpPr txBox="1"/>
          <p:nvPr/>
        </p:nvSpPr>
        <p:spPr>
          <a:xfrm>
            <a:off x="8938188" y="966475"/>
            <a:ext cx="2651760" cy="68326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r>
              <a:rPr lang="ja-JP" altLang="en-US" sz="1400">
                <a:solidFill>
                  <a:srgbClr val="787873"/>
                </a:solidFill>
                <a:latin typeface="Aptos"/>
              </a:rPr>
              <a:t>先にモーターへ挿しておく</a:t>
            </a:r>
            <a:br>
              <a:rPr lang="en-US" sz="1400" b="0" dirty="0">
                <a:solidFill>
                  <a:srgbClr val="787873"/>
                </a:solidFill>
                <a:latin typeface="Aptos"/>
              </a:rPr>
            </a:br>
            <a:r>
              <a:rPr sz="1400" b="0" dirty="0" err="1">
                <a:solidFill>
                  <a:srgbClr val="787873"/>
                </a:solidFill>
                <a:latin typeface="Aptos"/>
              </a:rPr>
              <a:t>後から挿せなくなる箇所がある</a:t>
            </a:r>
            <a:endParaRPr lang="en-US" sz="1400" b="0" dirty="0">
              <a:solidFill>
                <a:srgbClr val="787873"/>
              </a:solidFill>
              <a:latin typeface="Aptos"/>
            </a:endParaRPr>
          </a:p>
          <a:p>
            <a:r>
              <a:rPr lang="ja-JP" altLang="en-US" sz="1400">
                <a:solidFill>
                  <a:srgbClr val="787873"/>
                </a:solidFill>
                <a:latin typeface="Aptos"/>
              </a:rPr>
              <a:t>バリ取りを入念に</a:t>
            </a:r>
            <a:endParaRPr sz="1400" b="0" dirty="0">
              <a:solidFill>
                <a:srgbClr val="787873"/>
              </a:solidFill>
              <a:latin typeface="Aptos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8DB218A-FE24-190F-7FC3-9C25EED3B3F5}"/>
              </a:ext>
            </a:extLst>
          </p:cNvPr>
          <p:cNvSpPr txBox="1"/>
          <p:nvPr/>
        </p:nvSpPr>
        <p:spPr>
          <a:xfrm>
            <a:off x="8526211" y="5551327"/>
            <a:ext cx="2206981" cy="252377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r>
              <a:rPr lang="ja-JP" altLang="en-US" sz="1400" b="1">
                <a:solidFill>
                  <a:srgbClr val="191919"/>
                </a:solidFill>
                <a:latin typeface="Aptos"/>
              </a:rPr>
              <a:t>テレオペレーションの様子</a:t>
            </a:r>
            <a:endParaRPr sz="1400" b="1" dirty="0">
              <a:solidFill>
                <a:srgbClr val="191919"/>
              </a:solidFill>
              <a:latin typeface="Aptos"/>
            </a:endParaRPr>
          </a:p>
        </p:txBody>
      </p:sp>
      <p:sp>
        <p:nvSpPr>
          <p:cNvPr id="8" name="スライド番号プレースホルダー 7">
            <a:extLst>
              <a:ext uri="{FF2B5EF4-FFF2-40B4-BE49-F238E27FC236}">
                <a16:creationId xmlns:a16="http://schemas.microsoft.com/office/drawing/2014/main" id="{A60863B8-DCE6-67E5-1498-FA37FBC8A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/>
          </a:p>
        </p:txBody>
      </p:sp>
      <p:sp>
        <p:nvSpPr>
          <p:cNvPr id="10" name="TextBox 6">
            <a:extLst>
              <a:ext uri="{FF2B5EF4-FFF2-40B4-BE49-F238E27FC236}">
                <a16:creationId xmlns:a16="http://schemas.microsoft.com/office/drawing/2014/main" id="{663FFFA4-E54F-EA25-5B9A-BE2B8D550980}"/>
              </a:ext>
            </a:extLst>
          </p:cNvPr>
          <p:cNvSpPr txBox="1"/>
          <p:nvPr/>
        </p:nvSpPr>
        <p:spPr>
          <a:xfrm>
            <a:off x="713232" y="886453"/>
            <a:ext cx="3447288" cy="42165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lang="ja-JP" altLang="en-US" sz="2500" b="1">
                <a:solidFill>
                  <a:srgbClr val="191919"/>
                </a:solidFill>
                <a:latin typeface="Aptos"/>
              </a:rPr>
              <a:t>組み立てのポイント</a:t>
            </a:r>
          </a:p>
        </p:txBody>
      </p:sp>
      <p:pic>
        <p:nvPicPr>
          <p:cNvPr id="11" name="ビデオ-20261006-075837-3e1f797b_7687">
            <a:hlinkClick r:id="" action="ppaction://media"/>
            <a:extLst>
              <a:ext uri="{FF2B5EF4-FFF2-40B4-BE49-F238E27FC236}">
                <a16:creationId xmlns:a16="http://schemas.microsoft.com/office/drawing/2014/main" id="{72BD33BC-5A1A-E45C-3906-4FCADBCB2C47}"/>
              </a:ext>
            </a:extLst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>
                  <p14:trim st="5469.4306" end="11365.0926"/>
                </p14:media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7667200" y="3318854"/>
            <a:ext cx="3637223" cy="2045938"/>
          </a:xfrm>
          <a:prstGeom prst="rect">
            <a:avLst/>
          </a:prstGeom>
        </p:spPr>
      </p:pic>
      <p:sp>
        <p:nvSpPr>
          <p:cNvPr id="6" name="TextBox 21">
            <a:extLst>
              <a:ext uri="{FF2B5EF4-FFF2-40B4-BE49-F238E27FC236}">
                <a16:creationId xmlns:a16="http://schemas.microsoft.com/office/drawing/2014/main" id="{68E96994-0C74-8F79-A621-3454F76679EE}"/>
              </a:ext>
            </a:extLst>
          </p:cNvPr>
          <p:cNvSpPr txBox="1"/>
          <p:nvPr/>
        </p:nvSpPr>
        <p:spPr>
          <a:xfrm>
            <a:off x="2407686" y="4545628"/>
            <a:ext cx="2651760" cy="34471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lang="ja-JP" altLang="en-US" sz="2000" b="1">
                <a:solidFill>
                  <a:srgbClr val="191919"/>
                </a:solidFill>
                <a:latin typeface="Aptos"/>
              </a:rPr>
              <a:t>コード？</a:t>
            </a:r>
            <a:endParaRPr sz="2000" b="1" dirty="0">
              <a:solidFill>
                <a:srgbClr val="191919"/>
              </a:solidFill>
              <a:latin typeface="Aptos"/>
            </a:endParaRPr>
          </a:p>
        </p:txBody>
      </p:sp>
      <p:sp>
        <p:nvSpPr>
          <p:cNvPr id="7" name="TextBox 22">
            <a:extLst>
              <a:ext uri="{FF2B5EF4-FFF2-40B4-BE49-F238E27FC236}">
                <a16:creationId xmlns:a16="http://schemas.microsoft.com/office/drawing/2014/main" id="{50CF9B4A-D6DD-E8F1-5783-7DEF408FD6C7}"/>
              </a:ext>
            </a:extLst>
          </p:cNvPr>
          <p:cNvSpPr txBox="1"/>
          <p:nvPr/>
        </p:nvSpPr>
        <p:spPr>
          <a:xfrm>
            <a:off x="2745409" y="5022592"/>
            <a:ext cx="2651760" cy="4678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r>
              <a:rPr lang="en-US" altLang="ja-JP" sz="1400" dirty="0">
                <a:solidFill>
                  <a:srgbClr val="787873"/>
                </a:solidFill>
                <a:latin typeface="Aptos"/>
              </a:rPr>
              <a:t>USB</a:t>
            </a:r>
            <a:r>
              <a:rPr lang="ja-JP" altLang="en-US" sz="1400">
                <a:solidFill>
                  <a:srgbClr val="787873"/>
                </a:solidFill>
                <a:latin typeface="Aptos"/>
              </a:rPr>
              <a:t>変換アダプターの位置が違うと</a:t>
            </a:r>
            <a:endParaRPr sz="1400" b="0" dirty="0">
              <a:solidFill>
                <a:srgbClr val="787873"/>
              </a:solidFill>
              <a:latin typeface="Aptos"/>
            </a:endParaRPr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A8AE537A-54EB-5401-4D3B-588809376CE7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 rot="19800000">
            <a:off x="888689" y="2290038"/>
            <a:ext cx="1343539" cy="1061830"/>
          </a:xfrm>
          <a:prstGeom prst="rect">
            <a:avLst/>
          </a:prstGeom>
        </p:spPr>
      </p:pic>
      <p:pic>
        <p:nvPicPr>
          <p:cNvPr id="16" name="図 15">
            <a:extLst>
              <a:ext uri="{FF2B5EF4-FFF2-40B4-BE49-F238E27FC236}">
                <a16:creationId xmlns:a16="http://schemas.microsoft.com/office/drawing/2014/main" id="{429ABC8B-EE6D-8A00-21A9-04137332F7A7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 rot="900000">
            <a:off x="1985267" y="2023466"/>
            <a:ext cx="1781270" cy="1333942"/>
          </a:xfrm>
          <a:prstGeom prst="rect">
            <a:avLst/>
          </a:prstGeom>
        </p:spPr>
      </p:pic>
      <p:pic>
        <p:nvPicPr>
          <p:cNvPr id="18" name="グラフィックス 17" descr="ノート PC 単色塗りつぶし">
            <a:extLst>
              <a:ext uri="{FF2B5EF4-FFF2-40B4-BE49-F238E27FC236}">
                <a16:creationId xmlns:a16="http://schemas.microsoft.com/office/drawing/2014/main" id="{09C244C0-9F2B-0E1D-D089-36F052F349A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40076" y="3350425"/>
            <a:ext cx="1167610" cy="1167610"/>
          </a:xfrm>
          <a:prstGeom prst="rect">
            <a:avLst/>
          </a:prstGeom>
        </p:spPr>
      </p:pic>
      <p:cxnSp>
        <p:nvCxnSpPr>
          <p:cNvPr id="19" name="Connector 10">
            <a:extLst>
              <a:ext uri="{FF2B5EF4-FFF2-40B4-BE49-F238E27FC236}">
                <a16:creationId xmlns:a16="http://schemas.microsoft.com/office/drawing/2014/main" id="{C4DDF2E0-FDB0-DA68-C7E7-67BB3F9FDCA2}"/>
              </a:ext>
            </a:extLst>
          </p:cNvPr>
          <p:cNvCxnSpPr>
            <a:cxnSpLocks/>
          </p:cNvCxnSpPr>
          <p:nvPr/>
        </p:nvCxnSpPr>
        <p:spPr>
          <a:xfrm>
            <a:off x="1667455" y="3015012"/>
            <a:ext cx="175534" cy="601612"/>
          </a:xfrm>
          <a:prstGeom prst="line">
            <a:avLst/>
          </a:prstGeom>
          <a:ln w="38100">
            <a:solidFill>
              <a:srgbClr val="FFA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10">
            <a:extLst>
              <a:ext uri="{FF2B5EF4-FFF2-40B4-BE49-F238E27FC236}">
                <a16:creationId xmlns:a16="http://schemas.microsoft.com/office/drawing/2014/main" id="{293143D1-D2D9-44E4-7419-02EDE5B3CB03}"/>
              </a:ext>
            </a:extLst>
          </p:cNvPr>
          <p:cNvCxnSpPr>
            <a:cxnSpLocks/>
            <a:stCxn id="16" idx="1"/>
          </p:cNvCxnSpPr>
          <p:nvPr/>
        </p:nvCxnSpPr>
        <p:spPr>
          <a:xfrm flipV="1">
            <a:off x="2015615" y="2441019"/>
            <a:ext cx="354219" cy="18905"/>
          </a:xfrm>
          <a:prstGeom prst="line">
            <a:avLst/>
          </a:prstGeom>
          <a:ln w="38100">
            <a:solidFill>
              <a:srgbClr val="FFA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十字形 26">
            <a:extLst>
              <a:ext uri="{FF2B5EF4-FFF2-40B4-BE49-F238E27FC236}">
                <a16:creationId xmlns:a16="http://schemas.microsoft.com/office/drawing/2014/main" id="{5C689F2A-6E7E-9003-547F-44CF6427C768}"/>
              </a:ext>
            </a:extLst>
          </p:cNvPr>
          <p:cNvSpPr/>
          <p:nvPr/>
        </p:nvSpPr>
        <p:spPr>
          <a:xfrm rot="2700000">
            <a:off x="865763" y="1703026"/>
            <a:ext cx="582306" cy="582306"/>
          </a:xfrm>
          <a:prstGeom prst="plus">
            <a:avLst>
              <a:gd name="adj" fmla="val 44651"/>
            </a:avLst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8" name="図 27">
            <a:extLst>
              <a:ext uri="{FF2B5EF4-FFF2-40B4-BE49-F238E27FC236}">
                <a16:creationId xmlns:a16="http://schemas.microsoft.com/office/drawing/2014/main" id="{95DC14DC-ED01-4027-84AC-E88392926F06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 rot="19800000">
            <a:off x="4393481" y="2273782"/>
            <a:ext cx="1343539" cy="1061830"/>
          </a:xfrm>
          <a:prstGeom prst="rect">
            <a:avLst/>
          </a:prstGeom>
        </p:spPr>
      </p:pic>
      <p:pic>
        <p:nvPicPr>
          <p:cNvPr id="29" name="図 28">
            <a:extLst>
              <a:ext uri="{FF2B5EF4-FFF2-40B4-BE49-F238E27FC236}">
                <a16:creationId xmlns:a16="http://schemas.microsoft.com/office/drawing/2014/main" id="{0F87EFC2-B900-8927-E4EB-33D2F0706D5C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 rot="900000">
            <a:off x="4772902" y="3206543"/>
            <a:ext cx="1781270" cy="1333942"/>
          </a:xfrm>
          <a:prstGeom prst="rect">
            <a:avLst/>
          </a:prstGeom>
        </p:spPr>
      </p:pic>
      <p:pic>
        <p:nvPicPr>
          <p:cNvPr id="33" name="グラフィックス 32" descr="ノート PC 単色塗りつぶし">
            <a:extLst>
              <a:ext uri="{FF2B5EF4-FFF2-40B4-BE49-F238E27FC236}">
                <a16:creationId xmlns:a16="http://schemas.microsoft.com/office/drawing/2014/main" id="{224ACD3A-C48E-A00B-639A-554678A1C49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810332" y="1777456"/>
            <a:ext cx="1167610" cy="1167610"/>
          </a:xfrm>
          <a:prstGeom prst="rect">
            <a:avLst/>
          </a:prstGeom>
        </p:spPr>
      </p:pic>
      <p:cxnSp>
        <p:nvCxnSpPr>
          <p:cNvPr id="34" name="Connector 10">
            <a:extLst>
              <a:ext uri="{FF2B5EF4-FFF2-40B4-BE49-F238E27FC236}">
                <a16:creationId xmlns:a16="http://schemas.microsoft.com/office/drawing/2014/main" id="{B0B0C07A-D892-CAB3-8F17-B74C06AA5B01}"/>
              </a:ext>
            </a:extLst>
          </p:cNvPr>
          <p:cNvCxnSpPr>
            <a:cxnSpLocks/>
          </p:cNvCxnSpPr>
          <p:nvPr/>
        </p:nvCxnSpPr>
        <p:spPr>
          <a:xfrm flipH="1">
            <a:off x="5076525" y="2998756"/>
            <a:ext cx="95722" cy="617868"/>
          </a:xfrm>
          <a:prstGeom prst="line">
            <a:avLst/>
          </a:prstGeom>
          <a:ln w="38100">
            <a:solidFill>
              <a:srgbClr val="FFA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10">
            <a:extLst>
              <a:ext uri="{FF2B5EF4-FFF2-40B4-BE49-F238E27FC236}">
                <a16:creationId xmlns:a16="http://schemas.microsoft.com/office/drawing/2014/main" id="{084B9170-3FEB-6324-0C66-6B18113226AE}"/>
              </a:ext>
            </a:extLst>
          </p:cNvPr>
          <p:cNvCxnSpPr>
            <a:cxnSpLocks/>
          </p:cNvCxnSpPr>
          <p:nvPr/>
        </p:nvCxnSpPr>
        <p:spPr>
          <a:xfrm flipV="1">
            <a:off x="5633223" y="2422114"/>
            <a:ext cx="354219" cy="18905"/>
          </a:xfrm>
          <a:prstGeom prst="line">
            <a:avLst/>
          </a:prstGeom>
          <a:ln w="38100">
            <a:solidFill>
              <a:srgbClr val="FFA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円/楕円 36">
            <a:extLst>
              <a:ext uri="{FF2B5EF4-FFF2-40B4-BE49-F238E27FC236}">
                <a16:creationId xmlns:a16="http://schemas.microsoft.com/office/drawing/2014/main" id="{169BEA9C-BBA1-59E2-B39C-1324921FCD03}"/>
              </a:ext>
            </a:extLst>
          </p:cNvPr>
          <p:cNvSpPr/>
          <p:nvPr/>
        </p:nvSpPr>
        <p:spPr>
          <a:xfrm>
            <a:off x="4208082" y="1682597"/>
            <a:ext cx="511084" cy="511084"/>
          </a:xfrm>
          <a:prstGeom prst="ellipse">
            <a:avLst/>
          </a:prstGeom>
          <a:noFill/>
          <a:ln w="762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33673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587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>
                <p:cTn id="7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2FEAEAB-3411-C1EB-E867-FBE3A46552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paper_texture.png">
            <a:extLst>
              <a:ext uri="{FF2B5EF4-FFF2-40B4-BE49-F238E27FC236}">
                <a16:creationId xmlns:a16="http://schemas.microsoft.com/office/drawing/2014/main" id="{452B2AE4-2A54-8371-7F8B-F2B2001819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732BAAE-3287-B8F7-24F4-CDD353421126}"/>
              </a:ext>
            </a:extLst>
          </p:cNvPr>
          <p:cNvSpPr/>
          <p:nvPr/>
        </p:nvSpPr>
        <p:spPr>
          <a:xfrm>
            <a:off x="347472" y="438912"/>
            <a:ext cx="11484864" cy="58978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412B8A1-64A1-8C36-DF8B-80A2F13767D1}"/>
              </a:ext>
            </a:extLst>
          </p:cNvPr>
          <p:cNvSpPr/>
          <p:nvPr/>
        </p:nvSpPr>
        <p:spPr>
          <a:xfrm>
            <a:off x="4297680" y="438912"/>
            <a:ext cx="7534656" cy="914400"/>
          </a:xfrm>
          <a:prstGeom prst="rect">
            <a:avLst/>
          </a:prstGeom>
          <a:solidFill>
            <a:srgbClr val="FFA900"/>
          </a:solidFill>
          <a:ln>
            <a:solidFill>
              <a:srgbClr val="FFA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7D3F3A-EA7B-3722-1F8B-EA1CA12EFC07}"/>
              </a:ext>
            </a:extLst>
          </p:cNvPr>
          <p:cNvSpPr txBox="1"/>
          <p:nvPr/>
        </p:nvSpPr>
        <p:spPr>
          <a:xfrm>
            <a:off x="4590288" y="718962"/>
            <a:ext cx="6949440" cy="39087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lang="ja-JP" altLang="en-US" sz="2300" b="1">
                <a:solidFill>
                  <a:srgbClr val="191919"/>
                </a:solidFill>
                <a:latin typeface="Aptos"/>
              </a:rPr>
              <a:t>担当パート</a:t>
            </a:r>
            <a:endParaRPr sz="2300" b="1" dirty="0">
              <a:solidFill>
                <a:srgbClr val="191919"/>
              </a:solidFill>
              <a:latin typeface="Apto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23E006-7DAA-243B-49D6-C7B7564DA440}"/>
              </a:ext>
            </a:extLst>
          </p:cNvPr>
          <p:cNvSpPr txBox="1"/>
          <p:nvPr/>
        </p:nvSpPr>
        <p:spPr>
          <a:xfrm>
            <a:off x="713232" y="577398"/>
            <a:ext cx="4572000" cy="19851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 dirty="0">
                <a:solidFill>
                  <a:srgbClr val="FFA900"/>
                </a:solidFill>
                <a:latin typeface="Aptos"/>
              </a:rPr>
              <a:t>04 / BY THE NUMBERS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620B7B-C6FE-0F2E-0630-FDBE003FEDF6}"/>
              </a:ext>
            </a:extLst>
          </p:cNvPr>
          <p:cNvSpPr txBox="1"/>
          <p:nvPr/>
        </p:nvSpPr>
        <p:spPr>
          <a:xfrm>
            <a:off x="713232" y="886453"/>
            <a:ext cx="3447288" cy="42165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lang="ja-JP" altLang="en-US" sz="2500" b="1">
                <a:solidFill>
                  <a:srgbClr val="191919"/>
                </a:solidFill>
                <a:latin typeface="Aptos"/>
              </a:rPr>
              <a:t>数字で見る準備工程</a:t>
            </a:r>
            <a:endParaRPr sz="2500" b="1" dirty="0">
              <a:solidFill>
                <a:srgbClr val="191919"/>
              </a:solidFill>
              <a:latin typeface="Apto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3A9D07B-EB21-4BA8-D967-6C23D150CAE8}"/>
              </a:ext>
            </a:extLst>
          </p:cNvPr>
          <p:cNvSpPr/>
          <p:nvPr/>
        </p:nvSpPr>
        <p:spPr>
          <a:xfrm>
            <a:off x="777240" y="2240280"/>
            <a:ext cx="2331720" cy="2286000"/>
          </a:xfrm>
          <a:prstGeom prst="rect">
            <a:avLst/>
          </a:prstGeom>
          <a:solidFill>
            <a:srgbClr val="F6F6F2"/>
          </a:solidFill>
          <a:ln>
            <a:solidFill>
              <a:srgbClr val="F6F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DDF2141-5B6B-ADE8-9B7A-23A25CC3B16D}"/>
              </a:ext>
            </a:extLst>
          </p:cNvPr>
          <p:cNvSpPr txBox="1"/>
          <p:nvPr/>
        </p:nvSpPr>
        <p:spPr>
          <a:xfrm>
            <a:off x="868680" y="2560320"/>
            <a:ext cx="2148840" cy="6858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2900" b="1">
                <a:solidFill>
                  <a:srgbClr val="191919"/>
                </a:solidFill>
                <a:latin typeface="Aptos"/>
              </a:rPr>
              <a:t>1h40m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042287-3C3E-D2BC-2026-7C716827A719}"/>
              </a:ext>
            </a:extLst>
          </p:cNvPr>
          <p:cNvSpPr txBox="1"/>
          <p:nvPr/>
        </p:nvSpPr>
        <p:spPr>
          <a:xfrm>
            <a:off x="868680" y="3310128"/>
            <a:ext cx="214884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100" b="1">
                <a:solidFill>
                  <a:srgbClr val="787873"/>
                </a:solidFill>
                <a:latin typeface="Aptos"/>
              </a:rPr>
              <a:t>組み立て作業時間（第6回）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65CC0F7-D687-EFA4-3EB4-AE97B2F251BE}"/>
              </a:ext>
            </a:extLst>
          </p:cNvPr>
          <p:cNvSpPr/>
          <p:nvPr/>
        </p:nvSpPr>
        <p:spPr>
          <a:xfrm>
            <a:off x="3566160" y="2240280"/>
            <a:ext cx="2331720" cy="2286000"/>
          </a:xfrm>
          <a:prstGeom prst="rect">
            <a:avLst/>
          </a:prstGeom>
          <a:solidFill>
            <a:srgbClr val="F6F6F2"/>
          </a:solidFill>
          <a:ln>
            <a:solidFill>
              <a:srgbClr val="F6F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C67CDDB-86CE-08CA-1092-70614B75C6AE}"/>
              </a:ext>
            </a:extLst>
          </p:cNvPr>
          <p:cNvSpPr txBox="1"/>
          <p:nvPr/>
        </p:nvSpPr>
        <p:spPr>
          <a:xfrm>
            <a:off x="3657600" y="2560320"/>
            <a:ext cx="2148840" cy="6858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2900" b="1">
                <a:solidFill>
                  <a:srgbClr val="191919"/>
                </a:solidFill>
                <a:latin typeface="Aptos"/>
              </a:rPr>
              <a:t>2件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3E5549D-6F85-FC9B-5688-190B96A0AEF8}"/>
              </a:ext>
            </a:extLst>
          </p:cNvPr>
          <p:cNvSpPr txBox="1"/>
          <p:nvPr/>
        </p:nvSpPr>
        <p:spPr>
          <a:xfrm>
            <a:off x="3657600" y="3310128"/>
            <a:ext cx="214884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100" b="1">
                <a:solidFill>
                  <a:srgbClr val="787873"/>
                </a:solidFill>
                <a:latin typeface="Aptos"/>
              </a:rPr>
              <a:t>3Dプリントのトラブル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9BC146F1-0328-BE43-2CD6-7475AB3D3726}"/>
              </a:ext>
            </a:extLst>
          </p:cNvPr>
          <p:cNvSpPr/>
          <p:nvPr/>
        </p:nvSpPr>
        <p:spPr>
          <a:xfrm>
            <a:off x="6355079" y="2240280"/>
            <a:ext cx="2331720" cy="2286000"/>
          </a:xfrm>
          <a:prstGeom prst="rect">
            <a:avLst/>
          </a:prstGeom>
          <a:solidFill>
            <a:srgbClr val="F6F6F2"/>
          </a:solidFill>
          <a:ln>
            <a:solidFill>
              <a:srgbClr val="F6F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F55D418-8EC6-4DBC-9A7D-ECED2FBB09F4}"/>
              </a:ext>
            </a:extLst>
          </p:cNvPr>
          <p:cNvSpPr txBox="1"/>
          <p:nvPr/>
        </p:nvSpPr>
        <p:spPr>
          <a:xfrm>
            <a:off x="6446519" y="2560320"/>
            <a:ext cx="2148840" cy="6858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2900" b="1">
                <a:solidFill>
                  <a:srgbClr val="191919"/>
                </a:solidFill>
                <a:latin typeface="Aptos"/>
              </a:rPr>
              <a:t>【　】点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05920F2-968E-DEDA-B906-FE6C098EA7E2}"/>
              </a:ext>
            </a:extLst>
          </p:cNvPr>
          <p:cNvSpPr txBox="1"/>
          <p:nvPr/>
        </p:nvSpPr>
        <p:spPr>
          <a:xfrm>
            <a:off x="6446519" y="3310128"/>
            <a:ext cx="214884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100" b="1">
                <a:solidFill>
                  <a:srgbClr val="787873"/>
                </a:solidFill>
                <a:latin typeface="Aptos"/>
              </a:rPr>
              <a:t>印刷した部品数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C2B83BAD-7104-CD04-4928-D49253ED15FF}"/>
              </a:ext>
            </a:extLst>
          </p:cNvPr>
          <p:cNvSpPr/>
          <p:nvPr/>
        </p:nvSpPr>
        <p:spPr>
          <a:xfrm>
            <a:off x="9143999" y="2240280"/>
            <a:ext cx="2331720" cy="2286000"/>
          </a:xfrm>
          <a:prstGeom prst="rect">
            <a:avLst/>
          </a:prstGeom>
          <a:solidFill>
            <a:srgbClr val="F6F6F2"/>
          </a:solidFill>
          <a:ln>
            <a:solidFill>
              <a:srgbClr val="F6F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9415D2D-448B-6C47-1A22-ABB1120DB1DD}"/>
              </a:ext>
            </a:extLst>
          </p:cNvPr>
          <p:cNvSpPr txBox="1"/>
          <p:nvPr/>
        </p:nvSpPr>
        <p:spPr>
          <a:xfrm>
            <a:off x="9235439" y="2560320"/>
            <a:ext cx="2148840" cy="6858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2900" b="1">
                <a:solidFill>
                  <a:srgbClr val="191919"/>
                </a:solidFill>
                <a:latin typeface="Aptos"/>
              </a:rPr>
              <a:t>【　】回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9BFE3B0A-194B-DFD5-CAF9-FDCEE442442C}"/>
              </a:ext>
            </a:extLst>
          </p:cNvPr>
          <p:cNvSpPr txBox="1"/>
          <p:nvPr/>
        </p:nvSpPr>
        <p:spPr>
          <a:xfrm>
            <a:off x="9235439" y="3310128"/>
            <a:ext cx="214884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100" b="1">
                <a:solidFill>
                  <a:srgbClr val="787873"/>
                </a:solidFill>
                <a:latin typeface="Aptos"/>
              </a:rPr>
              <a:t>キャリブレーション実施回数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5EDCC91B-1268-C795-3F04-902FD75BE701}"/>
              </a:ext>
            </a:extLst>
          </p:cNvPr>
          <p:cNvSpPr txBox="1"/>
          <p:nvPr/>
        </p:nvSpPr>
        <p:spPr>
          <a:xfrm>
            <a:off x="868680" y="5074920"/>
            <a:ext cx="1005840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900" b="0">
                <a:solidFill>
                  <a:srgbClr val="787873"/>
                </a:solidFill>
                <a:latin typeface="Aptos"/>
              </a:rPr>
              <a:t>※ 第5回〜第9回の作業実績</a:t>
            </a:r>
          </a:p>
        </p:txBody>
      </p:sp>
      <p:sp>
        <p:nvSpPr>
          <p:cNvPr id="11" name="スライド番号プレースホルダー 10">
            <a:extLst>
              <a:ext uri="{FF2B5EF4-FFF2-40B4-BE49-F238E27FC236}">
                <a16:creationId xmlns:a16="http://schemas.microsoft.com/office/drawing/2014/main" id="{4F717FCD-7BAD-58DF-974C-FE6D2A630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1717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paper_tex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47472" y="438912"/>
            <a:ext cx="11484864" cy="58978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47472" y="438912"/>
            <a:ext cx="137160" cy="5897880"/>
          </a:xfrm>
          <a:prstGeom prst="rect">
            <a:avLst/>
          </a:prstGeom>
          <a:solidFill>
            <a:srgbClr val="FFA900"/>
          </a:solidFill>
          <a:ln>
            <a:solidFill>
              <a:srgbClr val="FFA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742715"/>
            <a:ext cx="3657600" cy="20621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1">
                <a:solidFill>
                  <a:srgbClr val="FFA900"/>
                </a:solidFill>
                <a:latin typeface="Aptos"/>
              </a:rPr>
              <a:t>05 / 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051560"/>
            <a:ext cx="3657600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3000" b="1">
                <a:solidFill>
                  <a:srgbClr val="191919"/>
                </a:solidFill>
                <a:latin typeface="Aptos"/>
              </a:rPr>
              <a:t>Scope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91640"/>
            <a:ext cx="3474720" cy="274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00" b="0">
                <a:solidFill>
                  <a:srgbClr val="787873"/>
                </a:solidFill>
                <a:latin typeface="Aptos"/>
              </a:rPr>
              <a:t>私が担当した工程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3200400"/>
            <a:ext cx="438912" cy="1097280"/>
          </a:xfrm>
          <a:prstGeom prst="rect">
            <a:avLst/>
          </a:prstGeom>
          <a:solidFill>
            <a:srgbClr val="FFA900"/>
          </a:solidFill>
          <a:ln>
            <a:solidFill>
              <a:srgbClr val="FFA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257800" y="2560320"/>
            <a:ext cx="438912" cy="1737360"/>
          </a:xfrm>
          <a:prstGeom prst="rect">
            <a:avLst/>
          </a:prstGeom>
          <a:solidFill>
            <a:srgbClr val="FFA900"/>
          </a:solidFill>
          <a:ln>
            <a:solidFill>
              <a:srgbClr val="FFA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943600" y="1920240"/>
            <a:ext cx="438912" cy="2377440"/>
          </a:xfrm>
          <a:prstGeom prst="rect">
            <a:avLst/>
          </a:prstGeom>
          <a:solidFill>
            <a:srgbClr val="FFA900"/>
          </a:solidFill>
          <a:ln>
            <a:solidFill>
              <a:srgbClr val="FFA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0" y="2103120"/>
            <a:ext cx="2743200" cy="18288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500" b="1">
                <a:solidFill>
                  <a:srgbClr val="191919"/>
                </a:solidFill>
                <a:latin typeface="Aptos"/>
              </a:rPr>
              <a:t>部品の製作から
アームを動かせる
状態にするまでの
準備工程</a:t>
            </a:r>
          </a:p>
        </p:txBody>
      </p:sp>
      <p:sp>
        <p:nvSpPr>
          <p:cNvPr id="11" name="スライド番号プレースホルダー 10">
            <a:extLst>
              <a:ext uri="{FF2B5EF4-FFF2-40B4-BE49-F238E27FC236}">
                <a16:creationId xmlns:a16="http://schemas.microsoft.com/office/drawing/2014/main" id="{A9BD9A12-18F1-280D-AF6F-1CB833CEC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paper_tex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47472" y="438912"/>
            <a:ext cx="11484864" cy="58978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577398"/>
            <a:ext cx="4572000" cy="19851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A900"/>
                </a:solidFill>
                <a:latin typeface="Aptos"/>
              </a:rPr>
              <a:t>06 /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822960"/>
            <a:ext cx="1078992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500" b="1">
                <a:solidFill>
                  <a:srgbClr val="191919"/>
                </a:solidFill>
                <a:latin typeface="Aptos"/>
              </a:rPr>
              <a:t>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424160" cy="274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00" b="0">
                <a:solidFill>
                  <a:srgbClr val="787873"/>
                </a:solidFill>
                <a:latin typeface="Aptos"/>
              </a:rPr>
              <a:t>担当した3つの工程</a:t>
            </a:r>
          </a:p>
        </p:txBody>
      </p:sp>
      <p:sp>
        <p:nvSpPr>
          <p:cNvPr id="7" name="Rectangle 6"/>
          <p:cNvSpPr/>
          <p:nvPr/>
        </p:nvSpPr>
        <p:spPr>
          <a:xfrm>
            <a:off x="749808" y="1965960"/>
            <a:ext cx="3429000" cy="3337560"/>
          </a:xfrm>
          <a:prstGeom prst="rect">
            <a:avLst/>
          </a:prstGeom>
          <a:solidFill>
            <a:srgbClr val="F6F6F2"/>
          </a:solidFill>
          <a:ln>
            <a:solidFill>
              <a:srgbClr val="F6F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49808" y="1965960"/>
            <a:ext cx="3429000" cy="164592"/>
          </a:xfrm>
          <a:prstGeom prst="rect">
            <a:avLst/>
          </a:prstGeom>
          <a:solidFill>
            <a:srgbClr val="FFA900"/>
          </a:solidFill>
          <a:ln>
            <a:solidFill>
              <a:srgbClr val="FFA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2331720"/>
            <a:ext cx="3063240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3000" b="1">
                <a:solidFill>
                  <a:srgbClr val="191919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3063240"/>
            <a:ext cx="306324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400" b="1">
                <a:solidFill>
                  <a:srgbClr val="191919"/>
                </a:solidFill>
                <a:latin typeface="Aptos"/>
              </a:rPr>
              <a:t>組み立て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7" y="4617720"/>
            <a:ext cx="2971800" cy="4114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900" b="0">
                <a:solidFill>
                  <a:srgbClr val="787873"/>
                </a:solidFill>
                <a:latin typeface="Aptos"/>
              </a:rPr>
              <a:t>リーダー・フォロワーを組み上げる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44568" y="1965960"/>
            <a:ext cx="3429000" cy="3337560"/>
          </a:xfrm>
          <a:prstGeom prst="rect">
            <a:avLst/>
          </a:prstGeom>
          <a:solidFill>
            <a:srgbClr val="F6F6F2"/>
          </a:solidFill>
          <a:ln>
            <a:solidFill>
              <a:srgbClr val="F6F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544568" y="1965960"/>
            <a:ext cx="3429000" cy="164592"/>
          </a:xfrm>
          <a:prstGeom prst="rect">
            <a:avLst/>
          </a:prstGeom>
          <a:solidFill>
            <a:srgbClr val="FFA900"/>
          </a:solidFill>
          <a:ln>
            <a:solidFill>
              <a:srgbClr val="FFA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727448" y="2331720"/>
            <a:ext cx="3063240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3000" b="1">
                <a:solidFill>
                  <a:srgbClr val="191919"/>
                </a:solidFill>
                <a:latin typeface="Aptos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27448" y="3063240"/>
            <a:ext cx="306324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400" b="1">
                <a:solidFill>
                  <a:srgbClr val="191919"/>
                </a:solidFill>
                <a:latin typeface="Aptos"/>
              </a:rPr>
              <a:t>3Dプリント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73168" y="4617720"/>
            <a:ext cx="2971800" cy="4114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900" b="0">
                <a:solidFill>
                  <a:srgbClr val="787873"/>
                </a:solidFill>
                <a:latin typeface="Aptos"/>
              </a:rPr>
              <a:t>アームの部品を製作する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339328" y="1965960"/>
            <a:ext cx="3429000" cy="3337560"/>
          </a:xfrm>
          <a:prstGeom prst="rect">
            <a:avLst/>
          </a:prstGeom>
          <a:solidFill>
            <a:srgbClr val="F6F6F2"/>
          </a:solidFill>
          <a:ln>
            <a:solidFill>
              <a:srgbClr val="F6F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339328" y="1965960"/>
            <a:ext cx="3429000" cy="164592"/>
          </a:xfrm>
          <a:prstGeom prst="rect">
            <a:avLst/>
          </a:prstGeom>
          <a:solidFill>
            <a:srgbClr val="FFA900"/>
          </a:solidFill>
          <a:ln>
            <a:solidFill>
              <a:srgbClr val="FFA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522208" y="2331720"/>
            <a:ext cx="3063240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3000" b="1">
                <a:solidFill>
                  <a:srgbClr val="191919"/>
                </a:solidFill>
                <a:latin typeface="Aptos"/>
              </a:rPr>
              <a:t>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22208" y="3063240"/>
            <a:ext cx="306324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400" b="1">
                <a:solidFill>
                  <a:srgbClr val="191919"/>
                </a:solidFill>
                <a:latin typeface="Aptos"/>
              </a:rPr>
              <a:t>キャリブレーション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67928" y="4617720"/>
            <a:ext cx="2971800" cy="4114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900" b="0">
                <a:solidFill>
                  <a:srgbClr val="787873"/>
                </a:solidFill>
                <a:latin typeface="Aptos"/>
              </a:rPr>
              <a:t>リーダーとフォロワーを対応づける</a:t>
            </a:r>
          </a:p>
        </p:txBody>
      </p:sp>
      <p:sp>
        <p:nvSpPr>
          <p:cNvPr id="11" name="スライド番号プレースホルダー 10">
            <a:extLst>
              <a:ext uri="{FF2B5EF4-FFF2-40B4-BE49-F238E27FC236}">
                <a16:creationId xmlns:a16="http://schemas.microsoft.com/office/drawing/2014/main" id="{F2DD8DEA-39CA-25E5-588B-757A99C3A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paper_tex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47472" y="438912"/>
            <a:ext cx="11484864" cy="58978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47472" y="438912"/>
            <a:ext cx="11484864" cy="5897880"/>
          </a:xfrm>
          <a:prstGeom prst="rect">
            <a:avLst/>
          </a:prstGeom>
          <a:solidFill>
            <a:srgbClr val="FFA900"/>
          </a:solidFill>
          <a:ln>
            <a:solidFill>
              <a:srgbClr val="FFA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21792" y="713232"/>
            <a:ext cx="10936224" cy="53492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005840"/>
            <a:ext cx="1024128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2700" b="1">
                <a:solidFill>
                  <a:srgbClr val="191919"/>
                </a:solidFill>
                <a:latin typeface="Aptos"/>
              </a:rPr>
              <a:t>組み立てのポイント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1024128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100" b="0">
                <a:solidFill>
                  <a:srgbClr val="787873"/>
                </a:solidFill>
                <a:latin typeface="Aptos"/>
              </a:rPr>
              <a:t>実際に手を動かして分かったこと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3657600"/>
            <a:ext cx="265176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2000" b="1">
                <a:solidFill>
                  <a:srgbClr val="191919"/>
                </a:solidFill>
                <a:latin typeface="Aptos"/>
              </a:rPr>
              <a:t>ケーブル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4187952"/>
            <a:ext cx="2651760" cy="4114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0">
                <a:solidFill>
                  <a:srgbClr val="787873"/>
                </a:solidFill>
                <a:latin typeface="Aptos"/>
              </a:rPr>
              <a:t>先にモーターへ挿しておく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3657600"/>
            <a:ext cx="265176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2000" b="1">
                <a:solidFill>
                  <a:srgbClr val="191919"/>
                </a:solidFill>
                <a:latin typeface="Aptos"/>
              </a:rPr>
              <a:t>取付順序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4187952"/>
            <a:ext cx="2651760" cy="4114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0">
                <a:solidFill>
                  <a:srgbClr val="787873"/>
                </a:solidFill>
                <a:latin typeface="Aptos"/>
              </a:rPr>
              <a:t>後から挿せなくなる箇所がある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18120" y="3657600"/>
            <a:ext cx="265176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2000" b="1">
                <a:solidFill>
                  <a:srgbClr val="191919"/>
                </a:solidFill>
                <a:latin typeface="Aptos"/>
              </a:rPr>
              <a:t>バリ取り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18120" y="4187952"/>
            <a:ext cx="2651760" cy="4114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0">
                <a:solidFill>
                  <a:srgbClr val="787873"/>
                </a:solidFill>
                <a:latin typeface="Aptos"/>
              </a:rPr>
              <a:t>3Dプリント部品は入念に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" y="5074920"/>
            <a:ext cx="1014984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100" b="1">
                <a:solidFill>
                  <a:srgbClr val="191919"/>
                </a:solidFill>
                <a:latin typeface="Aptos"/>
              </a:rPr>
              <a:t>組み上げてから気づくと分解が必要になるため、順序の確認が重要</a:t>
            </a:r>
          </a:p>
        </p:txBody>
      </p:sp>
      <p:sp>
        <p:nvSpPr>
          <p:cNvPr id="8" name="スライド番号プレースホルダー 7">
            <a:extLst>
              <a:ext uri="{FF2B5EF4-FFF2-40B4-BE49-F238E27FC236}">
                <a16:creationId xmlns:a16="http://schemas.microsoft.com/office/drawing/2014/main" id="{042E5624-58E5-51F9-4551-134818C1D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paper_tex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47472" y="438912"/>
            <a:ext cx="11484864" cy="58978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577398"/>
            <a:ext cx="4572000" cy="19851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 dirty="0">
                <a:solidFill>
                  <a:srgbClr val="FFA900"/>
                </a:solidFill>
                <a:latin typeface="Aptos"/>
              </a:rPr>
              <a:t>07 / CALIBRATION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822960"/>
            <a:ext cx="1078992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500" b="1">
                <a:solidFill>
                  <a:srgbClr val="191919"/>
                </a:solidFill>
                <a:latin typeface="Aptos"/>
              </a:rPr>
              <a:t>キャリブレーション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424160" cy="274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00" b="0">
                <a:solidFill>
                  <a:srgbClr val="787873"/>
                </a:solidFill>
                <a:latin typeface="Aptos"/>
              </a:rPr>
              <a:t>リーダーとフォロワーを対応づける工程です。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377440"/>
            <a:ext cx="2331720" cy="2103120"/>
          </a:xfrm>
          <a:prstGeom prst="rect">
            <a:avLst/>
          </a:prstGeom>
          <a:solidFill>
            <a:srgbClr val="F6F6F2"/>
          </a:solidFill>
          <a:ln>
            <a:solidFill>
              <a:srgbClr val="F6F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542032"/>
            <a:ext cx="214884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400" b="1">
                <a:solidFill>
                  <a:srgbClr val="FFA900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017520"/>
            <a:ext cx="2148840" cy="4114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600" b="1">
                <a:solidFill>
                  <a:srgbClr val="191919"/>
                </a:solidFill>
                <a:latin typeface="Aptos"/>
              </a:rPr>
              <a:t>モーターID設定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3611880"/>
            <a:ext cx="210312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900" b="0">
                <a:solidFill>
                  <a:srgbClr val="787873"/>
                </a:solidFill>
                <a:latin typeface="Aptos"/>
              </a:rPr>
              <a:t>1台ずつIDを割り当てる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044952" y="3429000"/>
            <a:ext cx="402336" cy="0"/>
          </a:xfrm>
          <a:prstGeom prst="line">
            <a:avLst/>
          </a:prstGeom>
          <a:ln w="25400">
            <a:solidFill>
              <a:srgbClr val="FFA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3538728" y="2377440"/>
            <a:ext cx="2331720" cy="2103120"/>
          </a:xfrm>
          <a:prstGeom prst="rect">
            <a:avLst/>
          </a:prstGeom>
          <a:solidFill>
            <a:srgbClr val="F6F6F2"/>
          </a:solidFill>
          <a:ln>
            <a:solidFill>
              <a:srgbClr val="F6F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30168" y="2542032"/>
            <a:ext cx="214884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400" b="1">
                <a:solidFill>
                  <a:srgbClr val="FFA900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0168" y="3017520"/>
            <a:ext cx="2148840" cy="4114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600" b="1">
                <a:solidFill>
                  <a:srgbClr val="191919"/>
                </a:solidFill>
                <a:latin typeface="Aptos"/>
              </a:rPr>
              <a:t>初期姿勢に合わせる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48456" y="3611880"/>
            <a:ext cx="210312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900" b="0">
                <a:solidFill>
                  <a:srgbClr val="787873"/>
                </a:solidFill>
                <a:latin typeface="Aptos"/>
              </a:rPr>
              <a:t>規定の姿勢にしてから開始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897880" y="3429000"/>
            <a:ext cx="402336" cy="0"/>
          </a:xfrm>
          <a:prstGeom prst="line">
            <a:avLst/>
          </a:prstGeom>
          <a:ln w="25400">
            <a:solidFill>
              <a:srgbClr val="FFA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6391656" y="2377440"/>
            <a:ext cx="2331720" cy="2103120"/>
          </a:xfrm>
          <a:prstGeom prst="rect">
            <a:avLst/>
          </a:prstGeom>
          <a:solidFill>
            <a:srgbClr val="F6F6F2"/>
          </a:solidFill>
          <a:ln>
            <a:solidFill>
              <a:srgbClr val="F6F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83096" y="2542032"/>
            <a:ext cx="214884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400" b="1">
                <a:solidFill>
                  <a:srgbClr val="FFA900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3096" y="3017520"/>
            <a:ext cx="2148840" cy="4114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600" b="1">
                <a:solidFill>
                  <a:srgbClr val="191919"/>
                </a:solidFill>
                <a:latin typeface="Aptos"/>
              </a:rPr>
              <a:t>可動域の記録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01384" y="3611880"/>
            <a:ext cx="210312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900" b="0">
                <a:solidFill>
                  <a:srgbClr val="787873"/>
                </a:solidFill>
                <a:latin typeface="Aptos"/>
              </a:rPr>
              <a:t>各関節のMIN・MAXを記録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750808" y="3429000"/>
            <a:ext cx="402336" cy="0"/>
          </a:xfrm>
          <a:prstGeom prst="line">
            <a:avLst/>
          </a:prstGeom>
          <a:ln w="25400">
            <a:solidFill>
              <a:srgbClr val="FFA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9244584" y="2377440"/>
            <a:ext cx="2331720" cy="2103120"/>
          </a:xfrm>
          <a:prstGeom prst="rect">
            <a:avLst/>
          </a:prstGeom>
          <a:solidFill>
            <a:srgbClr val="F6F6F2"/>
          </a:solidFill>
          <a:ln>
            <a:solidFill>
              <a:srgbClr val="F6F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336024" y="2542032"/>
            <a:ext cx="214884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400" b="1">
                <a:solidFill>
                  <a:srgbClr val="FFA900"/>
                </a:solidFill>
                <a:latin typeface="Apto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36024" y="3017520"/>
            <a:ext cx="2148840" cy="4114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600" b="1">
                <a:solidFill>
                  <a:srgbClr val="191919"/>
                </a:solidFill>
                <a:latin typeface="Aptos"/>
              </a:rPr>
              <a:t>動作確認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54311" y="3611880"/>
            <a:ext cx="210312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900" b="0">
                <a:solidFill>
                  <a:srgbClr val="787873"/>
                </a:solidFill>
                <a:latin typeface="Aptos"/>
              </a:rPr>
              <a:t>テレオペレーションで追従を確認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074920"/>
            <a:ext cx="1042416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0">
                <a:solidFill>
                  <a:srgbClr val="787873"/>
                </a:solidFill>
                <a:latin typeface="Aptos"/>
              </a:rPr>
              <a:t>つまずいた点：初期姿勢を取らずに実施して可動域がずれた／コマンドを誤りやり直しになった</a:t>
            </a:r>
          </a:p>
        </p:txBody>
      </p:sp>
      <p:sp>
        <p:nvSpPr>
          <p:cNvPr id="30" name="スライド番号プレースホルダー 29">
            <a:extLst>
              <a:ext uri="{FF2B5EF4-FFF2-40B4-BE49-F238E27FC236}">
                <a16:creationId xmlns:a16="http://schemas.microsoft.com/office/drawing/2014/main" id="{54982393-90BF-98B3-FEF3-2C117B8B8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paper_tex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47472" y="438912"/>
            <a:ext cx="11484864" cy="58978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573551"/>
            <a:ext cx="4572000" cy="20621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A900"/>
                </a:solidFill>
                <a:latin typeface="Aptos"/>
              </a:rPr>
              <a:t>08 / TROUBLESHOOTING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822960"/>
            <a:ext cx="1078992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500" b="1">
                <a:solidFill>
                  <a:srgbClr val="191919"/>
                </a:solidFill>
                <a:latin typeface="Aptos"/>
              </a:rPr>
              <a:t>3Dプリントのトラブル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424160" cy="274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00" b="0">
                <a:solidFill>
                  <a:srgbClr val="787873"/>
                </a:solidFill>
                <a:latin typeface="Aptos"/>
              </a:rPr>
              <a:t>印刷時に発生した問題と対応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874519"/>
            <a:ext cx="4800600" cy="3429000"/>
          </a:xfrm>
          <a:prstGeom prst="rect">
            <a:avLst/>
          </a:prstGeom>
          <a:solidFill>
            <a:srgbClr val="FAFAF7"/>
          </a:solidFill>
          <a:ln>
            <a:solidFill>
              <a:srgbClr val="DC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0392" y="3451860"/>
            <a:ext cx="4654296" cy="274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800" b="1">
                <a:solidFill>
                  <a:srgbClr val="787873"/>
                </a:solidFill>
                <a:latin typeface="Aptos"/>
              </a:rPr>
              <a:t>印刷の様子・失敗例の写真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89320" y="1920240"/>
            <a:ext cx="466344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900" b="1">
                <a:solidFill>
                  <a:srgbClr val="191919"/>
                </a:solidFill>
                <a:latin typeface="Aptos"/>
              </a:rPr>
              <a:t>モデルを公式推奨のものへ変更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16752" y="2560320"/>
            <a:ext cx="4663440" cy="19659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200" b="0">
                <a:solidFill>
                  <a:srgbClr val="787873"/>
                </a:solidFill>
                <a:latin typeface="Aptos"/>
              </a:rPr>
              <a:t>当初はBambuのライブラリにあるモデルで印刷していたが、スパゲッティ印刷エラーや印刷面の粗さが生じたため、公式推奨のモデルに変更した。
また、柱とオブジェクトが重なる不具合も発生し、再印刷となった。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89320" y="4892040"/>
            <a:ext cx="4297680" cy="457200"/>
          </a:xfrm>
          <a:prstGeom prst="rect">
            <a:avLst/>
          </a:prstGeom>
          <a:solidFill>
            <a:srgbClr val="FFA900"/>
          </a:solidFill>
          <a:ln>
            <a:solidFill>
              <a:srgbClr val="FFA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26480" y="4901184"/>
            <a:ext cx="4023360" cy="4114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>
                <a:solidFill>
                  <a:srgbClr val="191919"/>
                </a:solidFill>
                <a:latin typeface="Aptos"/>
              </a:rPr>
              <a:t>複数色の部品は一色ずつ印刷する</a:t>
            </a:r>
          </a:p>
        </p:txBody>
      </p:sp>
      <p:sp>
        <p:nvSpPr>
          <p:cNvPr id="16" name="スライド番号プレースホルダー 15">
            <a:extLst>
              <a:ext uri="{FF2B5EF4-FFF2-40B4-BE49-F238E27FC236}">
                <a16:creationId xmlns:a16="http://schemas.microsoft.com/office/drawing/2014/main" id="{0699461B-2AC7-E39E-7320-4A7246761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paper_tex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47472" y="438912"/>
            <a:ext cx="11484864" cy="58978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47472" y="438912"/>
            <a:ext cx="137160" cy="5897880"/>
          </a:xfrm>
          <a:prstGeom prst="rect">
            <a:avLst/>
          </a:prstGeom>
          <a:solidFill>
            <a:srgbClr val="FFA900"/>
          </a:solidFill>
          <a:ln>
            <a:solidFill>
              <a:srgbClr val="FFA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6400800" cy="8229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3400" b="1">
                <a:solidFill>
                  <a:srgbClr val="191919"/>
                </a:solidFill>
                <a:latin typeface="Aptos"/>
              </a:rPr>
              <a:t>Thank you.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3063240"/>
            <a:ext cx="6400800" cy="4114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600" b="0">
                <a:solidFill>
                  <a:srgbClr val="787873"/>
                </a:solidFill>
                <a:latin typeface="Aptos"/>
              </a:rPr>
              <a:t>ご清聴ありがとうございました。</a:t>
            </a:r>
          </a:p>
        </p:txBody>
      </p:sp>
      <p:sp>
        <p:nvSpPr>
          <p:cNvPr id="10" name="スライド番号プレースホルダー 9">
            <a:extLst>
              <a:ext uri="{FF2B5EF4-FFF2-40B4-BE49-F238E27FC236}">
                <a16:creationId xmlns:a16="http://schemas.microsoft.com/office/drawing/2014/main" id="{55070560-060F-5745-063B-82E2FDCF8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</TotalTime>
  <Words>1082</Words>
  <Application>Microsoft Macintosh PowerPoint</Application>
  <PresentationFormat>ワイド画面</PresentationFormat>
  <Paragraphs>199</Paragraphs>
  <Slides>12</Slides>
  <Notes>10</Notes>
  <HiddenSlides>6</HiddenSlides>
  <MMClips>1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12</vt:i4>
      </vt:variant>
    </vt:vector>
  </HeadingPairs>
  <TitlesOfParts>
    <vt:vector size="17" baseType="lpstr">
      <vt:lpstr>Yu Gothic</vt:lpstr>
      <vt:lpstr>Aptos</vt:lpstr>
      <vt:lpstr>Arial</vt:lpstr>
      <vt:lpstr>Calibri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Orange Corporate Presentation Template</dc:title>
  <dc:subject/>
  <dc:creator>OpenAI</dc:creator>
  <cp:keywords/>
  <dc:description>generated using python-pptx</dc:description>
  <cp:lastModifiedBy>嶺田　あんず</cp:lastModifiedBy>
  <cp:revision>38</cp:revision>
  <dcterms:created xsi:type="dcterms:W3CDTF">2013-01-27T09:14:16Z</dcterms:created>
  <dcterms:modified xsi:type="dcterms:W3CDTF">2026-10-13T07:53:04Z</dcterms:modified>
  <cp:category/>
</cp:coreProperties>
</file>